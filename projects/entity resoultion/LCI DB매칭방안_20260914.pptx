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57" r:id="rId5"/>
  </p:sldMasterIdLst>
  <p:notesMasterIdLst>
    <p:notesMasterId r:id="rId43"/>
  </p:notesMasterIdLst>
  <p:sldIdLst>
    <p:sldId id="4240" r:id="rId6"/>
    <p:sldId id="4210" r:id="rId7"/>
    <p:sldId id="4248" r:id="rId8"/>
    <p:sldId id="260" r:id="rId9"/>
    <p:sldId id="4269" r:id="rId10"/>
    <p:sldId id="4270" r:id="rId11"/>
    <p:sldId id="4272" r:id="rId12"/>
    <p:sldId id="4271" r:id="rId13"/>
    <p:sldId id="4273" r:id="rId14"/>
    <p:sldId id="4250" r:id="rId15"/>
    <p:sldId id="4247" r:id="rId16"/>
    <p:sldId id="4256" r:id="rId17"/>
    <p:sldId id="4253" r:id="rId18"/>
    <p:sldId id="4252" r:id="rId19"/>
    <p:sldId id="4255" r:id="rId20"/>
    <p:sldId id="4254" r:id="rId21"/>
    <p:sldId id="4257" r:id="rId22"/>
    <p:sldId id="256" r:id="rId23"/>
    <p:sldId id="257" r:id="rId24"/>
    <p:sldId id="258" r:id="rId25"/>
    <p:sldId id="259" r:id="rId26"/>
    <p:sldId id="4268" r:id="rId27"/>
    <p:sldId id="261" r:id="rId28"/>
    <p:sldId id="262" r:id="rId29"/>
    <p:sldId id="263" r:id="rId30"/>
    <p:sldId id="264" r:id="rId31"/>
    <p:sldId id="4259" r:id="rId32"/>
    <p:sldId id="4260" r:id="rId33"/>
    <p:sldId id="4261" r:id="rId34"/>
    <p:sldId id="4262" r:id="rId35"/>
    <p:sldId id="4263" r:id="rId36"/>
    <p:sldId id="4264" r:id="rId37"/>
    <p:sldId id="4265" r:id="rId38"/>
    <p:sldId id="4266" r:id="rId39"/>
    <p:sldId id="4267" r:id="rId40"/>
    <p:sldId id="265" r:id="rId41"/>
    <p:sldId id="266" r:id="rId42"/>
  </p:sldIdLst>
  <p:sldSz cx="12188825" cy="6858000"/>
  <p:notesSz cx="6858000" cy="9144000"/>
  <p:embeddedFontLst>
    <p:embeddedFont>
      <p:font typeface="Cascadia Mono SemiBold" panose="020B0609020000020004" pitchFamily="49" charset="0"/>
      <p:bold r:id="rId44"/>
      <p:boldItalic r:id="rId45"/>
    </p:embeddedFont>
    <p:embeddedFont>
      <p:font typeface="Inter" panose="02000503000000020004" pitchFamily="2" charset="0"/>
      <p:regular r:id="rId46"/>
      <p:bold r:id="rId47"/>
      <p:italic r:id="rId48"/>
      <p:boldItalic r:id="rId49"/>
    </p:embeddedFont>
    <p:embeddedFont>
      <p:font typeface="Inter Light" panose="02000503000000020004" pitchFamily="2" charset="0"/>
      <p:regular r:id="rId50"/>
      <p:italic r:id="rId51"/>
    </p:embeddedFont>
    <p:embeddedFont>
      <p:font typeface="KoPub돋움체 Bold" panose="02020603020101020101" pitchFamily="18" charset="-127"/>
      <p:regular r:id="rId52"/>
    </p:embeddedFont>
    <p:embeddedFont>
      <p:font typeface="KoPub돋움체 Medium" panose="02020603020101020101" pitchFamily="18" charset="-127"/>
      <p:regular r:id="rId53"/>
    </p:embeddedFont>
    <p:embeddedFont>
      <p:font typeface="맑은 고딕" panose="020B0503020000020004" pitchFamily="50" charset="-127"/>
      <p:regular r:id="rId54"/>
      <p:bold r:id="rId55"/>
    </p:embeddedFont>
    <p:embeddedFont>
      <p:font typeface="맑은 고딕" panose="020B0503020000020004" pitchFamily="50" charset="-127"/>
      <p:regular r:id="rId54"/>
      <p:bold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D560FBCC-745A-504C-B58C-2C6F77A0E888}">
          <p14:sldIdLst>
            <p14:sldId id="4240"/>
            <p14:sldId id="4210"/>
            <p14:sldId id="4248"/>
            <p14:sldId id="260"/>
            <p14:sldId id="4269"/>
            <p14:sldId id="4270"/>
            <p14:sldId id="4272"/>
            <p14:sldId id="4271"/>
            <p14:sldId id="4273"/>
            <p14:sldId id="4250"/>
            <p14:sldId id="4247"/>
            <p14:sldId id="4256"/>
            <p14:sldId id="4253"/>
            <p14:sldId id="4252"/>
            <p14:sldId id="4255"/>
            <p14:sldId id="4254"/>
            <p14:sldId id="4257"/>
            <p14:sldId id="256"/>
            <p14:sldId id="257"/>
            <p14:sldId id="258"/>
            <p14:sldId id="259"/>
            <p14:sldId id="4268"/>
            <p14:sldId id="261"/>
            <p14:sldId id="262"/>
            <p14:sldId id="263"/>
            <p14:sldId id="264"/>
            <p14:sldId id="4259"/>
            <p14:sldId id="4260"/>
            <p14:sldId id="4261"/>
            <p14:sldId id="4262"/>
            <p14:sldId id="4263"/>
            <p14:sldId id="4264"/>
            <p14:sldId id="4265"/>
            <p14:sldId id="4266"/>
            <p14:sldId id="4267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6" userDrawn="1">
          <p15:clr>
            <a:srgbClr val="000000"/>
          </p15:clr>
        </p15:guide>
        <p15:guide id="3" pos="3839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6" roundtripDataSignature="AMtx7mhXa4x5ZG5cYxKlg7iFFTtHkFXod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F8035C-CE7C-9C39-F596-076199374637}" name="이 충연" initials="충이" userId="S::cylee@surromind.ai::041614f1-4815-4856-84d0-a688c4d8b3c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써로마인드 마케팅" initials="" lastIdx="1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3EB"/>
    <a:srgbClr val="0088CF"/>
    <a:srgbClr val="FE5000"/>
    <a:srgbClr val="1A1A1A"/>
    <a:srgbClr val="F5D421"/>
    <a:srgbClr val="5454A6"/>
    <a:srgbClr val="22215A"/>
    <a:srgbClr val="4152EB"/>
    <a:srgbClr val="2E629B"/>
    <a:srgbClr val="265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1FDD0C3-F311-486D-AA3B-C831FA89247B}">
  <a:tblStyle styleId="{C1FDD0C3-F311-486D-AA3B-C831FA8924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 autoAdjust="0"/>
    <p:restoredTop sz="85823" autoAdjust="0"/>
  </p:normalViewPr>
  <p:slideViewPr>
    <p:cSldViewPr snapToGrid="0">
      <p:cViewPr>
        <p:scale>
          <a:sx n="100" d="100"/>
          <a:sy n="100" d="100"/>
        </p:scale>
        <p:origin x="1482" y="804"/>
      </p:cViewPr>
      <p:guideLst>
        <p:guide orient="horz" pos="2160"/>
        <p:guide pos="2886"/>
        <p:guide pos="3839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764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tableStyles" Target="tableStyle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customschemas.google.com/relationships/presentationmetadata" Target="metadata"/><Relationship Id="rId8" Type="http://schemas.openxmlformats.org/officeDocument/2006/relationships/slide" Target="slides/slide3.xml"/><Relationship Id="rId51" Type="http://schemas.openxmlformats.org/officeDocument/2006/relationships/font" Target="fonts/font8.fntdata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font" Target="fonts/font3.fntdata"/><Relationship Id="rId59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font" Target="fonts/font11.fntdata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font" Target="fonts/font6.fntdata"/><Relationship Id="rId57" Type="http://schemas.openxmlformats.org/officeDocument/2006/relationships/commentAuthors" Target="commentAuthor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5411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19C9A-907C-EE36-8AB0-BE5E6DA22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5C12D-6479-A5ED-EE63-9A7D9A3DF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D9CF7-0335-7E22-A88D-6DFFAD662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F5B6D-480B-40F4-9B66-062361D95A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72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CAS가 일치해도 form과 공정이 다르면 다른 엔트리다. CAS를 무조건 게이트로 쓰면 이 케이스가 조용히 통과한다.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FA5A-61E1-45D1-5685-FB9C7EAC7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1B3F0-2C21-07D4-2F32-29A85BFF4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61812-80EA-6DC7-7934-49ED2E513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B0351-C8C7-AABF-6033-E0CCE7396E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851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E4515-6A55-8540-7F56-F19C4F07E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53F10-D5EE-B987-F2D1-342C5BBC3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8F0AC-BBD7-BD01-751E-6520B6871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8CA97-C77D-6D7D-48E5-7634D82E10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0FC13-FF8C-29E4-677C-4BAEF3824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DE119-ECE1-B817-0CBE-935E7B828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B0BC5D-2649-57B6-9A3F-41414A19B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90C6-1C1A-95D0-E8BE-8ED33FB7B2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84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C2B5A-D91B-8B58-4C6F-8CEBB40CC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CEB9A-EB58-E276-458C-54C4CC805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56E51-66C9-7677-1A91-583B81DEA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C149D-4F8E-D3C8-E53A-ADD9713748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75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81A73-44CD-FF2A-15B6-0DD9FF0FE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DEE13-60E5-587F-00C2-BA78798DC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0D1B73-B126-A21E-3F1F-85BB2C217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6131B-01A3-5832-3FB5-36BBC16503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97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011C2-469C-4E69-C9FD-8A6E4212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E5F9E-190A-9AAA-6D4A-1A383016D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DEBA2-C53F-8FCD-0266-A08D94BEB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6BEFC-07A2-C094-549D-38E9E075C5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444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0E5A0-92BC-8F43-5964-AFFE58104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3F151-AA1C-C82C-99C1-0F15AD07C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00819-E395-C13E-11A9-A0F4FEC4B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9CFA9-F54E-5037-6CB8-3638A28444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121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3CEF3-2C3A-05D4-7060-C69B1AE3A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2455E-C7AE-6440-57A7-37D232223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BB2B7F-7221-F5F1-CE04-FBC5F3C34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8F2E4-1008-9248-0720-AF86D51F2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13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8F086-8385-4096-9F66-C8FD89488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707E6-4FBF-6B7D-8054-3CBFE911B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CD4BC-B714-D3DD-7A6A-B0C8B8D4C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34A43-6299-832C-C3A5-58CF473F64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21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2AA9F-960A-F0BD-AEF4-8E113BECF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46F1C-49E0-0A88-61F7-296025DC4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A38B2F-9133-1467-F587-B293E1FD6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D323C-F71F-16A1-AEA3-9F7C955450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297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EB3C3-C834-376C-1EE0-7068FAF9F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98406F-BEE6-AB64-188B-72910AB59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FDEF2-A5E1-FCEC-B1ED-5EB18DE02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9EEDC-172A-41C8-5D4F-E70052EB4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737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277F5-DDA9-6005-47FD-73F16363B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1CE03-7E66-7617-5847-E1574C63F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786A4-8D59-9020-502E-FC4A08B53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E8DB2-71D5-61A4-4E7B-21A300AC44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591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구조를 전면 교체할 필요는 없다. 관계를 파일 밖으로 꺼내는 것이 전환의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proposals/ 가 이 구조의 핵심이다. 파트별 생성물을 격리해 도메인 파일 충돌을 막는다.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전면 교체가 아니라 확장이다. legacy_id와 기존 API 응답을 일정 기간 유지한다.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EPDM → synthetic rubber 경로가 이 데이터셋의 기본 경로다. mat_synthetic_rubber에도 영문명이 있어야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재질은 도메인별 공유 자산이므로 파트 파일에 넣지 않는다. 넣으면 파트마다 상위개념이 달라진다.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라벨 충돌 검사가 실무에서 가장 값어치 있다. 파트별로 따로 생성하면 같은 약어를 서로 모르게 두 곳에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전환은 테이블 통째 교체가 안전하다. 진행 중인 매칭이 반쯤 갱신된 사전을 보는 일이 없어진다.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1~2단계가 부실하면 이후 생성물이 전부 오염된다. enum 확정에 시간을 먼저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회차에는 두 테이블이 비어 있다. 운영하며 누적되고 2회차부터 대부분 여기서 종료된다.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도메인은 LLM 추정값이라 틀릴 수 있다. 하드 필터로 걸면 그 재질이 통째로 사라진다.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golden 정답 세트 회귀 검사를 전환 직후 자동 실행하고, 실패 시 롤백하도록 배치에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457200" y="274646"/>
            <a:ext cx="8229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457200" y="1286451"/>
            <a:ext cx="8229600" cy="48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2000"/>
            </a:lvl1pPr>
            <a:lvl2pPr marL="914400" lvl="1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–"/>
              <a:defRPr sz="1600"/>
            </a:lvl2pPr>
            <a:lvl3pPr marL="1371600" lvl="2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1200"/>
            </a:lvl3pPr>
            <a:lvl4pPr marL="1828800" lvl="3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–"/>
              <a:defRPr sz="800"/>
            </a:lvl4pPr>
            <a:lvl5pPr marL="2286000" lvl="4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»"/>
              <a:defRPr sz="800"/>
            </a:lvl5pPr>
            <a:lvl6pPr marL="2743200" lvl="5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800"/>
            </a:lvl6pPr>
            <a:lvl7pPr marL="3200400" lvl="6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800"/>
            </a:lvl7pPr>
            <a:lvl8pPr marL="3657600" lvl="7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800"/>
            </a:lvl8pPr>
            <a:lvl9pPr marL="4114800" lvl="8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800"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7D58C2-A8A4-177A-2A07-C05AAF1351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t="24" r="1563" b="-24"/>
          <a:stretch>
            <a:fillRect/>
          </a:stretch>
        </p:blipFill>
        <p:spPr>
          <a:xfrm>
            <a:off x="-16909" y="13738"/>
            <a:ext cx="12188825" cy="68596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">
            <a:extLst>
              <a:ext uri="{FF2B5EF4-FFF2-40B4-BE49-F238E27FC236}">
                <a16:creationId xmlns:a16="http://schemas.microsoft.com/office/drawing/2014/main" id="{96341A87-8860-E80F-CFEB-46C9B81FD42D}"/>
              </a:ext>
            </a:extLst>
          </p:cNvPr>
          <p:cNvSpPr/>
          <p:nvPr userDrawn="1"/>
        </p:nvSpPr>
        <p:spPr>
          <a:xfrm>
            <a:off x="5134724" y="6530669"/>
            <a:ext cx="2156295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306E1B7-AD3E-4F41-A307-5F26E65F00CF}" type="slidenum">
              <a:rPr lang="en-US" altLang="ko-KR" sz="1000" smtClean="0">
                <a:solidFill>
                  <a:srgbClr val="BFBDBB">
                    <a:alpha val="100000"/>
                  </a:srgbClr>
                </a:solidFill>
                <a:latin typeface="+mj-ea"/>
                <a:ea typeface="+mj-ea"/>
                <a:cs typeface="Inter" panose="02000503000000020004" pitchFamily="2" charset="0"/>
              </a:rPr>
              <a:pPr marL="0" indent="0" algn="ctr">
                <a:buNone/>
              </a:pPr>
              <a:t>‹#›</a:t>
            </a:fld>
            <a:endParaRPr lang="en-US" sz="1050">
              <a:latin typeface="+mj-ea"/>
              <a:ea typeface="+mj-ea"/>
              <a:cs typeface="Inter" panose="02000503000000020004" pitchFamily="2" charset="0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65217EC0-6D0C-A33F-949F-942A0FC94F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94908" y="6530668"/>
            <a:ext cx="1019885" cy="110189"/>
          </a:xfrm>
          <a:prstGeom prst="rect">
            <a:avLst/>
          </a:prstGeom>
        </p:spPr>
      </p:pic>
      <p:pic>
        <p:nvPicPr>
          <p:cNvPr id="6" name="그림 5" descr="폰트, 로고, 그래픽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F63FE6-34D3-EE62-67C5-39C145BA18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667" t="4835" r="10917" b="21210"/>
          <a:stretch>
            <a:fillRect/>
          </a:stretch>
        </p:blipFill>
        <p:spPr>
          <a:xfrm>
            <a:off x="382377" y="6436172"/>
            <a:ext cx="937059" cy="277647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88757DD1-D2E7-7381-300F-D7AD2A65BEB1}"/>
              </a:ext>
            </a:extLst>
          </p:cNvPr>
          <p:cNvGrpSpPr/>
          <p:nvPr userDrawn="1"/>
        </p:nvGrpSpPr>
        <p:grpSpPr>
          <a:xfrm>
            <a:off x="0" y="619829"/>
            <a:ext cx="12188762" cy="50800"/>
            <a:chOff x="0" y="0"/>
            <a:chExt cx="12188762" cy="50800"/>
          </a:xfrm>
        </p:grpSpPr>
        <p:sp>
          <p:nvSpPr>
            <p:cNvPr id="11" name="Shape 1">
              <a:extLst>
                <a:ext uri="{FF2B5EF4-FFF2-40B4-BE49-F238E27FC236}">
                  <a16:creationId xmlns:a16="http://schemas.microsoft.com/office/drawing/2014/main" id="{EDDDE3B5-E215-E26D-CB99-0F5C3CCEEA67}"/>
                </a:ext>
              </a:extLst>
            </p:cNvPr>
            <p:cNvSpPr/>
            <p:nvPr userDrawn="1"/>
          </p:nvSpPr>
          <p:spPr>
            <a:xfrm>
              <a:off x="0" y="0"/>
              <a:ext cx="12188762" cy="50800"/>
            </a:xfrm>
            <a:prstGeom prst="rect">
              <a:avLst/>
            </a:prstGeom>
            <a:noFill/>
            <a:ln/>
          </p:spPr>
          <p:txBody>
            <a:bodyPr/>
            <a:lstStyle/>
            <a:p>
              <a:endParaRPr lang="ko-KR" altLang="en-US" sz="700"/>
            </a:p>
          </p:txBody>
        </p:sp>
        <p:sp>
          <p:nvSpPr>
            <p:cNvPr id="12" name="Shape 2">
              <a:extLst>
                <a:ext uri="{FF2B5EF4-FFF2-40B4-BE49-F238E27FC236}">
                  <a16:creationId xmlns:a16="http://schemas.microsoft.com/office/drawing/2014/main" id="{39B195B0-4D1C-7E0B-1E21-9A4ED5103703}"/>
                </a:ext>
              </a:extLst>
            </p:cNvPr>
            <p:cNvSpPr/>
            <p:nvPr userDrawn="1"/>
          </p:nvSpPr>
          <p:spPr>
            <a:xfrm>
              <a:off x="0" y="0"/>
              <a:ext cx="3808988" cy="50800"/>
            </a:xfrm>
            <a:prstGeom prst="rect">
              <a:avLst/>
            </a:prstGeom>
            <a:solidFill>
              <a:srgbClr val="FE5000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 sz="700"/>
            </a:p>
          </p:txBody>
        </p:sp>
        <p:sp>
          <p:nvSpPr>
            <p:cNvPr id="13" name="Shape 3">
              <a:extLst>
                <a:ext uri="{FF2B5EF4-FFF2-40B4-BE49-F238E27FC236}">
                  <a16:creationId xmlns:a16="http://schemas.microsoft.com/office/drawing/2014/main" id="{54512DA0-9EFA-627F-49E1-A0719A00D330}"/>
                </a:ext>
              </a:extLst>
            </p:cNvPr>
            <p:cNvSpPr/>
            <p:nvPr userDrawn="1"/>
          </p:nvSpPr>
          <p:spPr>
            <a:xfrm>
              <a:off x="3808988" y="0"/>
              <a:ext cx="8379774" cy="50800"/>
            </a:xfrm>
            <a:prstGeom prst="rect">
              <a:avLst/>
            </a:prstGeom>
            <a:solidFill>
              <a:srgbClr val="333942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 sz="700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ean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18439" y="6473952"/>
            <a:ext cx="799792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CA09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46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602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787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lvl1pPr algn="ctr" defTabSz="914126" rtl="0" eaLnBrk="1" latinLnBrk="0" hangingPunct="1"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7" indent="-342797" algn="l" defTabSz="914126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742727" indent="-285664" algn="l" defTabSz="914126" rtl="0" eaLnBrk="1" latinLnBrk="0" hangingPunct="1">
        <a:spcBef>
          <a:spcPct val="20000"/>
        </a:spcBef>
        <a:buFont typeface="Arial" pitchFamily="34" charset="0"/>
        <a:buChar char="–"/>
        <a:defRPr sz="27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spcBef>
          <a:spcPct val="20000"/>
        </a:spcBef>
        <a:buFont typeface="Arial" pitchFamily="34" charset="0"/>
        <a:buChar char="–"/>
        <a:defRPr sz="19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spcBef>
          <a:spcPct val="20000"/>
        </a:spcBef>
        <a:buFont typeface="Arial" pitchFamily="34" charset="0"/>
        <a:buChar char="»"/>
        <a:defRPr sz="19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디자인, 가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F1BE58-33F2-A166-9F47-C6AF5D18D6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8" b="768"/>
          <a:stretch>
            <a:fillRect/>
          </a:stretch>
        </p:blipFill>
        <p:spPr>
          <a:xfrm>
            <a:off x="-1" y="1"/>
            <a:ext cx="12188826" cy="6858000"/>
          </a:xfrm>
          <a:prstGeom prst="rect">
            <a:avLst/>
          </a:prstGeom>
        </p:spPr>
      </p:pic>
      <p:pic>
        <p:nvPicPr>
          <p:cNvPr id="24" name="그림 23" descr="블랙, 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CED1EB-CE5B-8F0B-E7B4-712C1695A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6780811" cy="6857999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7DBFEBFD-3AFD-5845-DEF7-DF421111AFB1}"/>
              </a:ext>
            </a:extLst>
          </p:cNvPr>
          <p:cNvSpPr/>
          <p:nvPr/>
        </p:nvSpPr>
        <p:spPr>
          <a:xfrm>
            <a:off x="7908966" y="0"/>
            <a:ext cx="4279860" cy="2695699"/>
          </a:xfrm>
          <a:prstGeom prst="rect">
            <a:avLst/>
          </a:prstGeom>
          <a:gradFill flip="none" rotWithShape="1">
            <a:gsLst>
              <a:gs pos="13000">
                <a:srgbClr val="F8F8FA"/>
              </a:gs>
              <a:gs pos="100000">
                <a:schemeClr val="bg1">
                  <a:lumMod val="0"/>
                  <a:lumOff val="100000"/>
                  <a:alpha val="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B999D03-C17D-48FE-C46A-A6F4BD3A30B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08615" y="309325"/>
            <a:ext cx="901145" cy="56772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BCBDCB4-8EFB-A8A1-CADF-E8B50382208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-3164" b="38029"/>
          <a:stretch>
            <a:fillRect/>
          </a:stretch>
        </p:blipFill>
        <p:spPr>
          <a:xfrm>
            <a:off x="8695463" y="496525"/>
            <a:ext cx="1154232" cy="193320"/>
          </a:xfrm>
          <a:prstGeom prst="rect">
            <a:avLst/>
          </a:prstGeom>
        </p:spPr>
      </p:pic>
      <p:pic>
        <p:nvPicPr>
          <p:cNvPr id="20" name="그림 19" descr="텍스트, 폰트, 로고, 원이(가) 표시된 사진&#10;&#10;자동 생성된 설명">
            <a:extLst>
              <a:ext uri="{FF2B5EF4-FFF2-40B4-BE49-F238E27FC236}">
                <a16:creationId xmlns:a16="http://schemas.microsoft.com/office/drawing/2014/main" id="{03881D7A-498B-F1DB-23BB-89F844A4C1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8680" y="306804"/>
            <a:ext cx="589215" cy="572762"/>
          </a:xfrm>
          <a:prstGeom prst="rect">
            <a:avLst/>
          </a:prstGeom>
        </p:spPr>
      </p:pic>
      <p:pic>
        <p:nvPicPr>
          <p:cNvPr id="22" name="그래픽 21">
            <a:extLst>
              <a:ext uri="{FF2B5EF4-FFF2-40B4-BE49-F238E27FC236}">
                <a16:creationId xmlns:a16="http://schemas.microsoft.com/office/drawing/2014/main" id="{3272872F-C8FA-78E9-6B75-6F26821168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2421" y="431810"/>
            <a:ext cx="1613997" cy="174377"/>
          </a:xfrm>
          <a:prstGeom prst="rect">
            <a:avLst/>
          </a:prstGeom>
        </p:spPr>
      </p:pic>
      <p:sp>
        <p:nvSpPr>
          <p:cNvPr id="2" name="Google Shape;86;p1">
            <a:extLst>
              <a:ext uri="{FF2B5EF4-FFF2-40B4-BE49-F238E27FC236}">
                <a16:creationId xmlns:a16="http://schemas.microsoft.com/office/drawing/2014/main" id="{1D19D41D-5221-D048-F229-B6E2F697FE76}"/>
              </a:ext>
            </a:extLst>
          </p:cNvPr>
          <p:cNvSpPr txBox="1">
            <a:spLocks/>
          </p:cNvSpPr>
          <p:nvPr/>
        </p:nvSpPr>
        <p:spPr>
          <a:xfrm>
            <a:off x="8189261" y="6236218"/>
            <a:ext cx="3468633" cy="31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r"/>
            <a:r>
              <a:rPr lang="en-US" sz="800" b="1" dirty="0">
                <a:solidFill>
                  <a:srgbClr val="666666"/>
                </a:solidFill>
                <a:latin typeface="+mj-ea"/>
                <a:ea typeface="+mj-ea"/>
                <a:cs typeface="Inter Light" panose="02000403000000020004" pitchFamily="2" charset="0"/>
              </a:rPr>
              <a:t>© 2026 SURROMIND Inc. All rights reserved.</a:t>
            </a:r>
            <a:endParaRPr lang="ko-KR" altLang="en-US" sz="800" b="1" dirty="0">
              <a:solidFill>
                <a:srgbClr val="666666"/>
              </a:solidFill>
              <a:latin typeface="+mj-ea"/>
              <a:ea typeface="+mj-ea"/>
              <a:cs typeface="Inter Light" panose="02000403000000020004" pitchFamily="2" charset="0"/>
            </a:endParaRPr>
          </a:p>
        </p:txBody>
      </p:sp>
      <p:sp>
        <p:nvSpPr>
          <p:cNvPr id="6" name="Google Shape;85;p1">
            <a:extLst>
              <a:ext uri="{FF2B5EF4-FFF2-40B4-BE49-F238E27FC236}">
                <a16:creationId xmlns:a16="http://schemas.microsoft.com/office/drawing/2014/main" id="{AC4A6E24-7472-6F17-DC68-68E5445295C7}"/>
              </a:ext>
            </a:extLst>
          </p:cNvPr>
          <p:cNvSpPr txBox="1">
            <a:spLocks/>
          </p:cNvSpPr>
          <p:nvPr/>
        </p:nvSpPr>
        <p:spPr>
          <a:xfrm>
            <a:off x="512421" y="2118571"/>
            <a:ext cx="7859851" cy="49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4400"/>
            </a:pPr>
            <a:r>
              <a:rPr lang="ko-KR" altLang="en-US" sz="4000" dirty="0">
                <a:solidFill>
                  <a:srgbClr val="FE5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탄소 관리 플랫폼 </a:t>
            </a:r>
            <a:r>
              <a:rPr lang="en-US" altLang="ko-KR" sz="4000" dirty="0">
                <a:solidFill>
                  <a:srgbClr val="FE5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AI Agent </a:t>
            </a:r>
            <a:r>
              <a:rPr lang="ko-KR" altLang="en-US" sz="4000" dirty="0">
                <a:solidFill>
                  <a:srgbClr val="FE5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개발</a:t>
            </a:r>
          </a:p>
        </p:txBody>
      </p:sp>
      <p:pic>
        <p:nvPicPr>
          <p:cNvPr id="11" name="그림 10" descr="폰트, 로고, 그래픽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C27F1B-03BF-B074-07DF-8CBE86206C6D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667" t="4835" r="10917" b="21210"/>
          <a:stretch>
            <a:fillRect/>
          </a:stretch>
        </p:blipFill>
        <p:spPr>
          <a:xfrm>
            <a:off x="530928" y="1478201"/>
            <a:ext cx="1664414" cy="4931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97AADF-62C4-3B3E-FC7F-951BB244B403}"/>
              </a:ext>
            </a:extLst>
          </p:cNvPr>
          <p:cNvSpPr txBox="1"/>
          <p:nvPr/>
        </p:nvSpPr>
        <p:spPr>
          <a:xfrm>
            <a:off x="530928" y="3600450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2026.09.</a:t>
            </a:r>
            <a:endParaRPr lang="ko-KR" altLang="en-US" sz="18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" name="Google Shape;85;p1">
            <a:extLst>
              <a:ext uri="{FF2B5EF4-FFF2-40B4-BE49-F238E27FC236}">
                <a16:creationId xmlns:a16="http://schemas.microsoft.com/office/drawing/2014/main" id="{EED4E9D3-BDE6-AE5C-C314-7D367FF91226}"/>
              </a:ext>
            </a:extLst>
          </p:cNvPr>
          <p:cNvSpPr txBox="1">
            <a:spLocks/>
          </p:cNvSpPr>
          <p:nvPr/>
        </p:nvSpPr>
        <p:spPr>
          <a:xfrm>
            <a:off x="530928" y="2772180"/>
            <a:ext cx="4822122" cy="362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4400"/>
            </a:pP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LCI DB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매칭 中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물질명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 우선순위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(Ranking)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 방안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B890D-9A69-3019-29A1-0ED802CFC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19">
            <a:extLst>
              <a:ext uri="{FF2B5EF4-FFF2-40B4-BE49-F238E27FC236}">
                <a16:creationId xmlns:a16="http://schemas.microsoft.com/office/drawing/2014/main" id="{DCED71EB-2773-FB67-FD21-16BD9DB10093}"/>
              </a:ext>
            </a:extLst>
          </p:cNvPr>
          <p:cNvSpPr/>
          <p:nvPr/>
        </p:nvSpPr>
        <p:spPr>
          <a:xfrm>
            <a:off x="825846" y="1717919"/>
            <a:ext cx="4531014" cy="228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4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Ⅰ. 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참고사항</a:t>
            </a:r>
            <a:endParaRPr lang="en-US" altLang="ko-KR" sz="24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ko-KR" altLang="en-US" sz="20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   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1. </a:t>
            </a:r>
            <a:r>
              <a:rPr lang="ko-KR" altLang="en-US" sz="2000" dirty="0" err="1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외에 참조가 가능한 항목</a:t>
            </a:r>
            <a:endParaRPr lang="en-US" altLang="ko-KR" sz="2000" dirty="0">
              <a:solidFill>
                <a:srgbClr val="1A1A1A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Inter Extra Bold" panose="02000503000000020004" pitchFamily="2" charset="0"/>
            </a:endParaRP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  2.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자동차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2000" dirty="0" err="1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auto_lamp_G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예시</a:t>
            </a: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  3.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항목간 관계</a:t>
            </a: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 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4.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할 수 있는 것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vs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할 수 없는 것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vs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고려할 수 있는 것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vs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향후 가능한 것</a:t>
            </a:r>
            <a:endParaRPr lang="en-US" altLang="ko-KR" sz="2000" dirty="0">
              <a:solidFill>
                <a:srgbClr val="1A1A1A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D493ABC-758F-F0FF-7472-255B25D16C6A}"/>
              </a:ext>
            </a:extLst>
          </p:cNvPr>
          <p:cNvSpPr txBox="1"/>
          <p:nvPr/>
        </p:nvSpPr>
        <p:spPr>
          <a:xfrm>
            <a:off x="428878" y="190311"/>
            <a:ext cx="2600214" cy="749179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  <a:tabLst/>
              <a:defRPr/>
            </a:pPr>
            <a:r>
              <a:rPr kumimoji="0" lang="en-US" altLang="ko-KR" sz="3600" u="none" strike="noStrike" kern="0" cap="none" spc="0" normalizeH="0" baseline="0" noProof="0" dirty="0">
                <a:ln>
                  <a:noFill/>
                </a:ln>
                <a:solidFill>
                  <a:srgbClr val="FE5000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  <a:sym typeface="Arial"/>
              </a:rPr>
              <a:t>CONTENTS</a:t>
            </a:r>
          </a:p>
        </p:txBody>
      </p:sp>
      <p:sp>
        <p:nvSpPr>
          <p:cNvPr id="12" name="Text 19">
            <a:extLst>
              <a:ext uri="{FF2B5EF4-FFF2-40B4-BE49-F238E27FC236}">
                <a16:creationId xmlns:a16="http://schemas.microsoft.com/office/drawing/2014/main" id="{C17B2682-F718-60E7-078C-29B57111731B}"/>
              </a:ext>
            </a:extLst>
          </p:cNvPr>
          <p:cNvSpPr/>
          <p:nvPr/>
        </p:nvSpPr>
        <p:spPr>
          <a:xfrm>
            <a:off x="6396066" y="1717918"/>
            <a:ext cx="4531014" cy="2211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4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Ⅱ. </a:t>
            </a:r>
            <a:r>
              <a:rPr lang="ko-KR" altLang="en-US" sz="24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sz="24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endParaRPr lang="en-US" altLang="ko-KR" sz="24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ko-KR" altLang="en-US" sz="20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   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1.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전제요건</a:t>
            </a:r>
            <a:endParaRPr lang="en-US" altLang="ko-KR" sz="2000" dirty="0">
              <a:solidFill>
                <a:srgbClr val="1A1A1A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Inter Extra Bold" panose="02000503000000020004" pitchFamily="2" charset="0"/>
            </a:endParaRP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  2. </a:t>
            </a:r>
            <a:r>
              <a:rPr lang="ko-KR" altLang="en-US" sz="2000" dirty="0" err="1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매칭 우선순위</a:t>
            </a:r>
            <a:endParaRPr lang="en-US" altLang="ko-KR" sz="2000" dirty="0">
              <a:solidFill>
                <a:srgbClr val="1A1A1A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Inter Extra Bold" panose="02000503000000020004" pitchFamily="2" charset="0"/>
            </a:endParaRP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  3. </a:t>
            </a:r>
            <a:r>
              <a:rPr lang="ko-KR" altLang="en-US" sz="2000" dirty="0" err="1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매칭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flow</a:t>
            </a: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  4. R&amp;R</a:t>
            </a: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endParaRPr lang="en-US" altLang="ko-KR" sz="12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682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62232-DDDE-33F6-538E-3DF69B5F4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5CC8416-0454-FA85-3AC5-DF0F8C8EB8B0}"/>
              </a:ext>
            </a:extLst>
          </p:cNvPr>
          <p:cNvSpPr txBox="1"/>
          <p:nvPr/>
        </p:nvSpPr>
        <p:spPr>
          <a:xfrm>
            <a:off x="438615" y="163552"/>
            <a:ext cx="3852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1. </a:t>
            </a:r>
            <a:r>
              <a:rPr lang="ko-KR" altLang="en-US" sz="18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외에 참조가 가능한 항목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(1/3)</a:t>
            </a:r>
            <a:endParaRPr lang="ko-KR" altLang="en-US" sz="180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978260B8-A99F-B561-D82D-7DA334477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2150"/>
              </p:ext>
            </p:extLst>
          </p:nvPr>
        </p:nvGraphicFramePr>
        <p:xfrm>
          <a:off x="502920" y="1177159"/>
          <a:ext cx="11201400" cy="3345245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3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항목</a:t>
                      </a:r>
                      <a:endParaRPr lang="en-US" sz="1300" b="0" i="0" u="none" strike="noStrike" cap="none" dirty="0"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Inter Extra Bold" panose="02000503000000020004" pitchFamily="2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분류 대상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부여 주체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G Lamp 값(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예시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)</a:t>
                      </a:r>
                      <a:endParaRPr lang="en-US" sz="1300" b="0" i="0" u="none" strike="noStrike" cap="none" dirty="0"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Inter Extra Bold" panose="02000503000000020004" pitchFamily="2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매칭 역할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적용 추천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8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도메인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용어 사전 조회 스코프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내부 정의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plastics · metals · surface_treatment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electronics · sealing_adhesive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중의성 해소 (높음)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LLM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생성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=&gt;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고객확정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제품유형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완성품 카테고리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내부 정의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automotive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정책 상속 (낮음)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권장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파트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물리적 부품 단위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고객사 / 내부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auto_lamp_G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프로파일 · 확정매핑 키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필수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공정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제조 활동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고객사 BOM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사출 · 다이캐스팅 · 진공증착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활동유형 · 기술 선택 (최상)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필수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표준산업분류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사업체의 생산활동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통계청 · UN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자동차 부품 제조업 계열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프록시 폴백 · 보고 메타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선택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표준화학분류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물질의 화학적 정체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ISO · 규격기관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ISO 1043 · JIS · ASTM · EN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도메인 유추 · 동치 근거 (높음)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권장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(Wiki </a:t>
                      </a: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사전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 </a:t>
                      </a: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부여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)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CAS 번호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개별 화학물질 1:1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CAS (ACS)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순물질 · 일부 폴리머만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게이트 (조건부 최상)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조건부 — pure만 신뢰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2">
            <a:extLst>
              <a:ext uri="{FF2B5EF4-FFF2-40B4-BE49-F238E27FC236}">
                <a16:creationId xmlns:a16="http://schemas.microsoft.com/office/drawing/2014/main" id="{EE0C8C51-806A-8384-0B3B-86EC962DA0B4}"/>
              </a:ext>
            </a:extLst>
          </p:cNvPr>
          <p:cNvSpPr/>
          <p:nvPr/>
        </p:nvSpPr>
        <p:spPr>
          <a:xfrm>
            <a:off x="502920" y="5029200"/>
            <a:ext cx="11201400" cy="932688"/>
          </a:xfrm>
          <a:prstGeom prst="roundRect">
            <a:avLst>
              <a:gd name="adj" fmla="val 4902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고객사에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요청하는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항목은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파트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·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공정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·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재질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(+CAS)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셋뿐이며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도메인과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화학분류는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필수이되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내부에서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파생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·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부여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50F684-F73E-3F07-78AB-7AC1826E540F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</p:spTree>
    <p:extLst>
      <p:ext uri="{BB962C8B-B14F-4D97-AF65-F5344CB8AC3E}">
        <p14:creationId xmlns:p14="http://schemas.microsoft.com/office/powerpoint/2010/main" val="3867782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908644"/>
              </p:ext>
            </p:extLst>
          </p:nvPr>
        </p:nvGraphicFramePr>
        <p:xfrm>
          <a:off x="556129" y="1079604"/>
          <a:ext cx="11198482" cy="3629508"/>
        </p:xfrm>
        <a:graphic>
          <a:graphicData uri="http://schemas.openxmlformats.org/drawingml/2006/table">
            <a:tbl>
              <a:tblPr/>
              <a:tblGrid>
                <a:gridCol w="1480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68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2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671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39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구성요소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재질 표기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도메인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공정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표준화학분류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CAS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매칭 시 유의점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아우터렌즈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PC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plastics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사출성형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ISO 1043 PC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25037-45-0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CAS·표기 교차검증 후 확정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하우징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PP-T20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plastics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사출성형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ISO 1043 PP + 충전재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9003-07-0 (기재)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CAS 게이트 금지 — 탤크 20% 누락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리플렉터 기재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PC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plastics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사출성형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ISO 1043 PC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25037-45-0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벌크 질량 — 정상 경로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리플렉터 반사층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알루미늄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surface_treatment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진공증착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원소 Al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7429-90-5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CAS 일치해도 벌크 금지 · form=coating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히트싱크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ADC12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metals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다이캐스팅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JIS H 5302 / A383 / EN AC-46000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없음 (합금)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규격코드가 실질 키 · close_match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베젤 도금층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CR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surface_treatment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도금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원소 Cr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7440-47-3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중의어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개스킷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CR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sealing_adhesive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압출 · 성형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ISO 1629 CR (고무)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9010-98-4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중의어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PCB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FR4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electronics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실장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복합재 (단일 분류 없음)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없음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면적 기준 — 기능단위 검증 필수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789" y="5211616"/>
            <a:ext cx="11198483" cy="886737"/>
          </a:xfrm>
          <a:prstGeom prst="roundRect">
            <a:avLst>
              <a:gd name="adj" fmla="val 5155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동일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표기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"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알루미늄"이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두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곳에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등장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—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CAS는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같고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도메인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·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공정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·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형태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·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질량이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전부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다르다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 </a:t>
            </a:r>
          </a:p>
          <a:p>
            <a:pPr algn="ctr"/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반사층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0.4g(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증착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vs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히트싱크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120g(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다이캐스팅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으로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두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자릿수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차이가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발생한다</a:t>
            </a:r>
            <a:endParaRPr lang="ko-KR" altLang="en-US" sz="1300" dirty="0">
              <a:solidFill>
                <a:srgbClr val="1E2A26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" name="Shape 4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1ED816-54A4-B1D1-B4A3-187459A47882}"/>
              </a:ext>
            </a:extLst>
          </p:cNvPr>
          <p:cNvSpPr txBox="1"/>
          <p:nvPr/>
        </p:nvSpPr>
        <p:spPr>
          <a:xfrm>
            <a:off x="438615" y="163552"/>
            <a:ext cx="2945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2.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자동차 </a:t>
            </a:r>
            <a:r>
              <a:rPr lang="en-US" altLang="ko-KR" sz="18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auto_lamp_G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예시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21E6C4-74B7-4DB5-F41F-6463D7D90B41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449026" y="1872310"/>
            <a:ext cx="0" cy="791175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449026" y="3346774"/>
            <a:ext cx="0" cy="899063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29691" y="3005130"/>
            <a:ext cx="471830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82187" y="1872310"/>
            <a:ext cx="0" cy="791175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62851" y="1620572"/>
            <a:ext cx="514724" cy="1015942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62851" y="3005130"/>
            <a:ext cx="514724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101010" y="3346774"/>
            <a:ext cx="900767" cy="899063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" name="Shape 9"/>
          <p:cNvSpPr/>
          <p:nvPr/>
        </p:nvSpPr>
        <p:spPr>
          <a:xfrm flipV="1">
            <a:off x="4262851" y="3373746"/>
            <a:ext cx="798135" cy="1195754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15603" y="1872310"/>
            <a:ext cx="0" cy="584391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" name="Shape 11"/>
          <p:cNvSpPr/>
          <p:nvPr/>
        </p:nvSpPr>
        <p:spPr>
          <a:xfrm flipV="1">
            <a:off x="6853631" y="1593600"/>
            <a:ext cx="694877" cy="1006952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4" name="Shape 12"/>
          <p:cNvSpPr/>
          <p:nvPr/>
        </p:nvSpPr>
        <p:spPr>
          <a:xfrm flipV="1">
            <a:off x="6853630" y="2706564"/>
            <a:ext cx="766280" cy="280584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815603" y="3427690"/>
            <a:ext cx="0" cy="1717211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53630" y="3032102"/>
            <a:ext cx="2779510" cy="584391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576802" y="3940156"/>
            <a:ext cx="0" cy="1204745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53630" y="5468563"/>
            <a:ext cx="2779510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8361" y="1224984"/>
            <a:ext cx="1561330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제품유형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automotive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8361" y="2663485"/>
            <a:ext cx="1561330" cy="6832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파트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auto_lamp_G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8361" y="4245837"/>
            <a:ext cx="1561330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표준산업분류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KSIC · ISIC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01521" y="1224984"/>
            <a:ext cx="1561330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표준화학분류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ISO 1043 · JIS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701521" y="2663485"/>
            <a:ext cx="1561330" cy="6832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도메인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metals · plastics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01521" y="4245837"/>
            <a:ext cx="1561330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구성요소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리플렉터 · 히트싱크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77575" y="1224984"/>
            <a:ext cx="2076054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CAS 번호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7429-90-5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77575" y="2456701"/>
            <a:ext cx="2076054" cy="97098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물질개념 (concept)
</a:t>
            </a:r>
            <a:r>
              <a:rPr lang="en-US" sz="1050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concept_id · identity_type</a:t>
            </a:r>
            <a:endParaRPr lang="en-US" sz="1600" dirty="0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domain · cas · spec_codes</a:t>
            </a:r>
            <a:endParaRPr lang="en-US" sz="1800" dirty="0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77575" y="5144901"/>
            <a:ext cx="2076054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BOM 행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물질 · 공정 · 질량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548507" y="1162049"/>
            <a:ext cx="1561330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표현 · 라벨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약어 · 관용어 · 번역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48507" y="2169001"/>
            <a:ext cx="1561330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공정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다이캐스팅 · 증착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33141" y="3292830"/>
            <a:ext cx="1887322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참조제품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reference product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633141" y="5144901"/>
            <a:ext cx="1887322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LCI 엔트리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ref_id · 활동 · 지역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320345" y="1944234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33" name="Text 31"/>
          <p:cNvSpPr/>
          <p:nvPr/>
        </p:nvSpPr>
        <p:spPr>
          <a:xfrm>
            <a:off x="1320345" y="2384776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34" name="Text 32"/>
          <p:cNvSpPr/>
          <p:nvPr/>
        </p:nvSpPr>
        <p:spPr>
          <a:xfrm>
            <a:off x="1320345" y="3418699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320345" y="3967128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36" name="Text 34"/>
          <p:cNvSpPr/>
          <p:nvPr/>
        </p:nvSpPr>
        <p:spPr>
          <a:xfrm>
            <a:off x="2255427" y="2834308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</a:t>
            </a:r>
          </a:p>
        </p:txBody>
      </p:sp>
      <p:sp>
        <p:nvSpPr>
          <p:cNvPr id="37" name="Text 35"/>
          <p:cNvSpPr/>
          <p:nvPr/>
        </p:nvSpPr>
        <p:spPr>
          <a:xfrm>
            <a:off x="2418423" y="3032101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353505" y="1944234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353505" y="2384776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40" name="Text 38"/>
          <p:cNvSpPr/>
          <p:nvPr/>
        </p:nvSpPr>
        <p:spPr>
          <a:xfrm>
            <a:off x="4305745" y="1548647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41" name="Text 39"/>
          <p:cNvSpPr/>
          <p:nvPr/>
        </p:nvSpPr>
        <p:spPr>
          <a:xfrm>
            <a:off x="4485898" y="2240926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42" name="Text 40"/>
          <p:cNvSpPr/>
          <p:nvPr/>
        </p:nvSpPr>
        <p:spPr>
          <a:xfrm>
            <a:off x="4134170" y="2798345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43" name="Text 41"/>
          <p:cNvSpPr/>
          <p:nvPr/>
        </p:nvSpPr>
        <p:spPr>
          <a:xfrm>
            <a:off x="4583592" y="2780364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44" name="Text 42"/>
          <p:cNvSpPr/>
          <p:nvPr/>
        </p:nvSpPr>
        <p:spPr>
          <a:xfrm>
            <a:off x="2203954" y="3472643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45" name="Text 43"/>
          <p:cNvSpPr/>
          <p:nvPr/>
        </p:nvSpPr>
        <p:spPr>
          <a:xfrm>
            <a:off x="3027827" y="4003090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46" name="Text 44"/>
          <p:cNvSpPr/>
          <p:nvPr/>
        </p:nvSpPr>
        <p:spPr>
          <a:xfrm>
            <a:off x="4189775" y="4416658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</a:t>
            </a:r>
          </a:p>
        </p:txBody>
      </p:sp>
      <p:sp>
        <p:nvSpPr>
          <p:cNvPr id="47" name="Text 45"/>
          <p:cNvSpPr/>
          <p:nvPr/>
        </p:nvSpPr>
        <p:spPr>
          <a:xfrm>
            <a:off x="4737108" y="3292830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48" name="Text 46"/>
          <p:cNvSpPr/>
          <p:nvPr/>
        </p:nvSpPr>
        <p:spPr>
          <a:xfrm>
            <a:off x="5686922" y="1944234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686922" y="2177991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789290" y="2276888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51" name="Text 49"/>
          <p:cNvSpPr/>
          <p:nvPr/>
        </p:nvSpPr>
        <p:spPr>
          <a:xfrm>
            <a:off x="7205359" y="1699612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853630" y="2744401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</a:t>
            </a:r>
          </a:p>
        </p:txBody>
      </p:sp>
      <p:sp>
        <p:nvSpPr>
          <p:cNvPr id="53" name="Text 51"/>
          <p:cNvSpPr/>
          <p:nvPr/>
        </p:nvSpPr>
        <p:spPr>
          <a:xfrm>
            <a:off x="7368354" y="2483673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686922" y="3562549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686922" y="4866190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56" name="Text 54"/>
          <p:cNvSpPr/>
          <p:nvPr/>
        </p:nvSpPr>
        <p:spPr>
          <a:xfrm>
            <a:off x="6853629" y="3072595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9281412" y="3517596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58" name="Text 56"/>
          <p:cNvSpPr/>
          <p:nvPr/>
        </p:nvSpPr>
        <p:spPr>
          <a:xfrm>
            <a:off x="10448120" y="4101987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0448120" y="4866190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60" name="Text 58"/>
          <p:cNvSpPr/>
          <p:nvPr/>
        </p:nvSpPr>
        <p:spPr>
          <a:xfrm>
            <a:off x="7900235" y="5369666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61" name="Text 59"/>
          <p:cNvSpPr/>
          <p:nvPr/>
        </p:nvSpPr>
        <p:spPr>
          <a:xfrm>
            <a:off x="9281412" y="5369666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62" name="Text 60"/>
          <p:cNvSpPr/>
          <p:nvPr/>
        </p:nvSpPr>
        <p:spPr>
          <a:xfrm>
            <a:off x="728412" y="6076540"/>
            <a:ext cx="240204" cy="179812"/>
          </a:xfrm>
          <a:prstGeom prst="roundRect">
            <a:avLst/>
          </a:prstGeom>
          <a:noFill/>
          <a:ln w="6985">
            <a:noFill/>
          </a:ln>
        </p:spPr>
        <p:txBody>
          <a:bodyPr wrap="square" lIns="64" tIns="64" rIns="64" bIns="64" rtlCol="0" anchor="ctr">
            <a:no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1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028668" y="6094521"/>
            <a:ext cx="386043" cy="14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1건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1543392" y="6076540"/>
            <a:ext cx="240204" cy="179812"/>
          </a:xfrm>
          <a:prstGeom prst="roundRect">
            <a:avLst/>
          </a:prstGeom>
          <a:noFill/>
          <a:ln w="6985">
            <a:noFill/>
          </a:ln>
        </p:spPr>
        <p:txBody>
          <a:bodyPr wrap="square" lIns="64" tIns="64" rIns="64" bIns="64" rtlCol="0" anchor="ctr">
            <a:no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n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1843648" y="6094521"/>
            <a:ext cx="600511" cy="14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여러 건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2615735" y="6076540"/>
            <a:ext cx="240204" cy="179812"/>
          </a:xfrm>
          <a:prstGeom prst="roundRect">
            <a:avLst/>
          </a:prstGeom>
          <a:noFill/>
          <a:ln w="6985">
            <a:noFill/>
          </a:ln>
        </p:spPr>
        <p:txBody>
          <a:bodyPr wrap="square" lIns="64" tIns="64" rIns="64" bIns="64" rtlCol="0" anchor="ctr">
            <a:no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m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2915990" y="6094521"/>
            <a:ext cx="1098078" cy="14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m:n의 다른 다수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6133016" y="6085530"/>
            <a:ext cx="5104348" cy="1977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※ m과 n은 모두 “여러 개”이며, 서로 다른 다수 집합을 구분하기 위한 기호입니다.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2E10506-0B14-01EC-A218-6F89C81105D4}"/>
              </a:ext>
            </a:extLst>
          </p:cNvPr>
          <p:cNvSpPr txBox="1"/>
          <p:nvPr/>
        </p:nvSpPr>
        <p:spPr>
          <a:xfrm>
            <a:off x="438615" y="163552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3.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항목간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관계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49AB168-8070-1595-F66A-ED8CA55B63FC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1B957-57DE-775A-9232-BBA50680A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D20C5BF9-D030-6E84-A61E-13AF4D8C0451}"/>
              </a:ext>
            </a:extLst>
          </p:cNvPr>
          <p:cNvSpPr/>
          <p:nvPr/>
        </p:nvSpPr>
        <p:spPr>
          <a:xfrm>
            <a:off x="1449026" y="1872310"/>
            <a:ext cx="0" cy="791175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E8C310D-7D16-77C4-A3A8-5BD4D3B91749}"/>
              </a:ext>
            </a:extLst>
          </p:cNvPr>
          <p:cNvSpPr/>
          <p:nvPr/>
        </p:nvSpPr>
        <p:spPr>
          <a:xfrm>
            <a:off x="1449026" y="3346774"/>
            <a:ext cx="0" cy="899063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C040A2A-0AE4-0077-AC3E-678A5422291D}"/>
              </a:ext>
            </a:extLst>
          </p:cNvPr>
          <p:cNvSpPr/>
          <p:nvPr/>
        </p:nvSpPr>
        <p:spPr>
          <a:xfrm>
            <a:off x="2229691" y="3005130"/>
            <a:ext cx="471830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773AF22-67FA-48A0-7FBC-3810DF9A3A48}"/>
              </a:ext>
            </a:extLst>
          </p:cNvPr>
          <p:cNvSpPr/>
          <p:nvPr/>
        </p:nvSpPr>
        <p:spPr>
          <a:xfrm>
            <a:off x="3482187" y="1872310"/>
            <a:ext cx="0" cy="791175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09951EB-C8ED-B1C9-E5EA-FA88E134862C}"/>
              </a:ext>
            </a:extLst>
          </p:cNvPr>
          <p:cNvSpPr/>
          <p:nvPr/>
        </p:nvSpPr>
        <p:spPr>
          <a:xfrm>
            <a:off x="4262851" y="1620572"/>
            <a:ext cx="514724" cy="1015942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B36E0FB-5E6D-45FE-E815-0CB9BED99240}"/>
              </a:ext>
            </a:extLst>
          </p:cNvPr>
          <p:cNvSpPr/>
          <p:nvPr/>
        </p:nvSpPr>
        <p:spPr>
          <a:xfrm>
            <a:off x="4262851" y="3005130"/>
            <a:ext cx="514724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4ECFFB3-BFED-690B-FCB9-6B05B3CABA2F}"/>
              </a:ext>
            </a:extLst>
          </p:cNvPr>
          <p:cNvSpPr/>
          <p:nvPr/>
        </p:nvSpPr>
        <p:spPr>
          <a:xfrm>
            <a:off x="2101010" y="3346774"/>
            <a:ext cx="900767" cy="899063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AC0B1B6-FCA5-4ED8-6618-A328BC6CCBD6}"/>
              </a:ext>
            </a:extLst>
          </p:cNvPr>
          <p:cNvSpPr/>
          <p:nvPr/>
        </p:nvSpPr>
        <p:spPr>
          <a:xfrm flipV="1">
            <a:off x="4262851" y="3373746"/>
            <a:ext cx="798135" cy="1195754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125C558-2391-5F4E-AD8B-4D023B49AB73}"/>
              </a:ext>
            </a:extLst>
          </p:cNvPr>
          <p:cNvSpPr/>
          <p:nvPr/>
        </p:nvSpPr>
        <p:spPr>
          <a:xfrm>
            <a:off x="5815603" y="1872310"/>
            <a:ext cx="0" cy="584391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BDC7297-4BF8-CEDE-8D66-F24011155D82}"/>
              </a:ext>
            </a:extLst>
          </p:cNvPr>
          <p:cNvSpPr/>
          <p:nvPr/>
        </p:nvSpPr>
        <p:spPr>
          <a:xfrm flipV="1">
            <a:off x="6853631" y="1593600"/>
            <a:ext cx="694877" cy="1006952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E227B59-16A8-4467-17E0-3F6C1BFFB300}"/>
              </a:ext>
            </a:extLst>
          </p:cNvPr>
          <p:cNvSpPr/>
          <p:nvPr/>
        </p:nvSpPr>
        <p:spPr>
          <a:xfrm flipV="1">
            <a:off x="6853630" y="2706564"/>
            <a:ext cx="766280" cy="280584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A89974B-E21C-2F1A-E5F8-C2888D56D0C8}"/>
              </a:ext>
            </a:extLst>
          </p:cNvPr>
          <p:cNvSpPr/>
          <p:nvPr/>
        </p:nvSpPr>
        <p:spPr>
          <a:xfrm>
            <a:off x="5815603" y="3427690"/>
            <a:ext cx="0" cy="1717211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D0BE4BB-B9BA-40FC-AC09-3E461CB21711}"/>
              </a:ext>
            </a:extLst>
          </p:cNvPr>
          <p:cNvSpPr/>
          <p:nvPr/>
        </p:nvSpPr>
        <p:spPr>
          <a:xfrm>
            <a:off x="6853630" y="3032102"/>
            <a:ext cx="2779510" cy="584391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A70B756-9F8D-49BB-5826-BCA09156CB31}"/>
              </a:ext>
            </a:extLst>
          </p:cNvPr>
          <p:cNvSpPr/>
          <p:nvPr/>
        </p:nvSpPr>
        <p:spPr>
          <a:xfrm>
            <a:off x="10576802" y="3940156"/>
            <a:ext cx="0" cy="1204745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DF1CA04-95AF-CECF-D302-5D6008DCE8CC}"/>
              </a:ext>
            </a:extLst>
          </p:cNvPr>
          <p:cNvSpPr/>
          <p:nvPr/>
        </p:nvSpPr>
        <p:spPr>
          <a:xfrm>
            <a:off x="6853630" y="5468563"/>
            <a:ext cx="2779510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5BEAE9C-A5E3-6879-9932-0CDC8FA58931}"/>
              </a:ext>
            </a:extLst>
          </p:cNvPr>
          <p:cNvSpPr/>
          <p:nvPr/>
        </p:nvSpPr>
        <p:spPr>
          <a:xfrm>
            <a:off x="668361" y="1224984"/>
            <a:ext cx="1561330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제품유형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automotive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A5CC69A-F23D-61D4-6AE1-4C4265ED590C}"/>
              </a:ext>
            </a:extLst>
          </p:cNvPr>
          <p:cNvSpPr/>
          <p:nvPr/>
        </p:nvSpPr>
        <p:spPr>
          <a:xfrm>
            <a:off x="668361" y="2663485"/>
            <a:ext cx="1561330" cy="6832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파트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auto_lamp_G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5C24E6E-768A-04E9-EA45-6C6D78DED662}"/>
              </a:ext>
            </a:extLst>
          </p:cNvPr>
          <p:cNvSpPr/>
          <p:nvPr/>
        </p:nvSpPr>
        <p:spPr>
          <a:xfrm>
            <a:off x="668361" y="4245837"/>
            <a:ext cx="1561330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표준산업분류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KSIC · ISIC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15421A0-8B01-DF43-884F-4A713DA33268}"/>
              </a:ext>
            </a:extLst>
          </p:cNvPr>
          <p:cNvSpPr/>
          <p:nvPr/>
        </p:nvSpPr>
        <p:spPr>
          <a:xfrm>
            <a:off x="2701521" y="1224984"/>
            <a:ext cx="1561330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표준화학분류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ISO 1043 · JIS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43A2F78-8CF1-1AB2-5D05-53C8F462FA5F}"/>
              </a:ext>
            </a:extLst>
          </p:cNvPr>
          <p:cNvSpPr/>
          <p:nvPr/>
        </p:nvSpPr>
        <p:spPr>
          <a:xfrm>
            <a:off x="2701521" y="2663485"/>
            <a:ext cx="1561330" cy="6832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도메인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metals · plastics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D6C4F8B-0AEC-1E84-CB4B-71896B79930D}"/>
              </a:ext>
            </a:extLst>
          </p:cNvPr>
          <p:cNvSpPr/>
          <p:nvPr/>
        </p:nvSpPr>
        <p:spPr>
          <a:xfrm>
            <a:off x="2701521" y="4245837"/>
            <a:ext cx="1561330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구성요소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리플렉터 · 히트싱크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F525757-7E40-8D8C-9D30-1F218A4B9C3F}"/>
              </a:ext>
            </a:extLst>
          </p:cNvPr>
          <p:cNvSpPr/>
          <p:nvPr/>
        </p:nvSpPr>
        <p:spPr>
          <a:xfrm>
            <a:off x="4777575" y="1224984"/>
            <a:ext cx="2076054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CAS 번호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7429-90-5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BEC5296-25B3-258A-3927-364D800C72E0}"/>
              </a:ext>
            </a:extLst>
          </p:cNvPr>
          <p:cNvSpPr/>
          <p:nvPr/>
        </p:nvSpPr>
        <p:spPr>
          <a:xfrm>
            <a:off x="4777575" y="2456701"/>
            <a:ext cx="2076054" cy="97098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물질개념 (concept)
</a:t>
            </a:r>
            <a:r>
              <a:rPr lang="en-US" sz="1050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concept_id · identity_type</a:t>
            </a:r>
            <a:endParaRPr lang="en-US" sz="1600" dirty="0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domain · cas · spec_codes</a:t>
            </a:r>
            <a:endParaRPr lang="en-US" sz="1800" dirty="0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B4A7041-3A07-CFAB-E8BB-CD6C45CB4DFD}"/>
              </a:ext>
            </a:extLst>
          </p:cNvPr>
          <p:cNvSpPr/>
          <p:nvPr/>
        </p:nvSpPr>
        <p:spPr>
          <a:xfrm>
            <a:off x="4777575" y="5144901"/>
            <a:ext cx="2076054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BOM 행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물질 · 공정 · 질량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56AF2F8-1B60-27B8-71AF-99AACF5E031B}"/>
              </a:ext>
            </a:extLst>
          </p:cNvPr>
          <p:cNvSpPr/>
          <p:nvPr/>
        </p:nvSpPr>
        <p:spPr>
          <a:xfrm>
            <a:off x="7548507" y="1162049"/>
            <a:ext cx="1561330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표현 · 라벨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약어 · 관용어 · 번역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FB8131A-FC8E-8B26-5339-74B9EE412A94}"/>
              </a:ext>
            </a:extLst>
          </p:cNvPr>
          <p:cNvSpPr/>
          <p:nvPr/>
        </p:nvSpPr>
        <p:spPr>
          <a:xfrm>
            <a:off x="7548507" y="2169001"/>
            <a:ext cx="1561330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공정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다이캐스팅 · 증착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D5C2F76-FC64-3D70-D1C0-E255D20E7E0C}"/>
              </a:ext>
            </a:extLst>
          </p:cNvPr>
          <p:cNvSpPr/>
          <p:nvPr/>
        </p:nvSpPr>
        <p:spPr>
          <a:xfrm>
            <a:off x="9633141" y="3292830"/>
            <a:ext cx="1887322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참조제품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reference product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5D36B24-9E94-F2BC-9FA4-9E7A8CAB6078}"/>
              </a:ext>
            </a:extLst>
          </p:cNvPr>
          <p:cNvSpPr/>
          <p:nvPr/>
        </p:nvSpPr>
        <p:spPr>
          <a:xfrm>
            <a:off x="9633141" y="5144901"/>
            <a:ext cx="1887322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LCI 엔트리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ref_id · 활동 · 지역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B738453-5DB3-A2AA-20EF-4B4176FE4B6B}"/>
              </a:ext>
            </a:extLst>
          </p:cNvPr>
          <p:cNvSpPr/>
          <p:nvPr/>
        </p:nvSpPr>
        <p:spPr>
          <a:xfrm>
            <a:off x="1320345" y="1944234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E8D8542-8784-AEBA-D6C2-B51DF97951FD}"/>
              </a:ext>
            </a:extLst>
          </p:cNvPr>
          <p:cNvSpPr/>
          <p:nvPr/>
        </p:nvSpPr>
        <p:spPr>
          <a:xfrm>
            <a:off x="1320345" y="2384776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3E95B20-AA4A-036B-57EE-E5F5924D8786}"/>
              </a:ext>
            </a:extLst>
          </p:cNvPr>
          <p:cNvSpPr/>
          <p:nvPr/>
        </p:nvSpPr>
        <p:spPr>
          <a:xfrm>
            <a:off x="1320345" y="3418699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1BA3B868-90BA-4E79-ED6B-598AB7D3DCC8}"/>
              </a:ext>
            </a:extLst>
          </p:cNvPr>
          <p:cNvSpPr/>
          <p:nvPr/>
        </p:nvSpPr>
        <p:spPr>
          <a:xfrm>
            <a:off x="1320345" y="3967128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1374222-D64E-ADCA-E640-6E1C0D4FA462}"/>
              </a:ext>
            </a:extLst>
          </p:cNvPr>
          <p:cNvSpPr/>
          <p:nvPr/>
        </p:nvSpPr>
        <p:spPr>
          <a:xfrm>
            <a:off x="2255427" y="2834308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</a:t>
            </a: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A5F3970-3F6F-DE57-D4DF-1F1D4C16F71D}"/>
              </a:ext>
            </a:extLst>
          </p:cNvPr>
          <p:cNvSpPr/>
          <p:nvPr/>
        </p:nvSpPr>
        <p:spPr>
          <a:xfrm>
            <a:off x="2418423" y="3032101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F9415FC-5780-E4B7-1FF8-01796C084520}"/>
              </a:ext>
            </a:extLst>
          </p:cNvPr>
          <p:cNvSpPr/>
          <p:nvPr/>
        </p:nvSpPr>
        <p:spPr>
          <a:xfrm>
            <a:off x="3353505" y="1944234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A562A3D9-0156-740F-570C-1847BB020677}"/>
              </a:ext>
            </a:extLst>
          </p:cNvPr>
          <p:cNvSpPr/>
          <p:nvPr/>
        </p:nvSpPr>
        <p:spPr>
          <a:xfrm>
            <a:off x="3353505" y="2384776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C757085A-B1CF-4F2C-38DC-227AD522EE95}"/>
              </a:ext>
            </a:extLst>
          </p:cNvPr>
          <p:cNvSpPr/>
          <p:nvPr/>
        </p:nvSpPr>
        <p:spPr>
          <a:xfrm>
            <a:off x="4305745" y="1548647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BADD46B3-7D78-E8C2-3948-EB1A7F6A5DCB}"/>
              </a:ext>
            </a:extLst>
          </p:cNvPr>
          <p:cNvSpPr/>
          <p:nvPr/>
        </p:nvSpPr>
        <p:spPr>
          <a:xfrm>
            <a:off x="4485898" y="2240926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5B3ED39-79E2-D615-94D1-204C8B864AD4}"/>
              </a:ext>
            </a:extLst>
          </p:cNvPr>
          <p:cNvSpPr/>
          <p:nvPr/>
        </p:nvSpPr>
        <p:spPr>
          <a:xfrm>
            <a:off x="4134170" y="2798345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DAFFB329-907F-0E9B-EEF0-3667BA38E248}"/>
              </a:ext>
            </a:extLst>
          </p:cNvPr>
          <p:cNvSpPr/>
          <p:nvPr/>
        </p:nvSpPr>
        <p:spPr>
          <a:xfrm>
            <a:off x="4583592" y="2780364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F4CA32D2-BB67-16DC-532D-DC5FE6B3F9F3}"/>
              </a:ext>
            </a:extLst>
          </p:cNvPr>
          <p:cNvSpPr/>
          <p:nvPr/>
        </p:nvSpPr>
        <p:spPr>
          <a:xfrm>
            <a:off x="2203954" y="3472643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5FCF38A-2E1E-A284-578D-CDA0515B52BA}"/>
              </a:ext>
            </a:extLst>
          </p:cNvPr>
          <p:cNvSpPr/>
          <p:nvPr/>
        </p:nvSpPr>
        <p:spPr>
          <a:xfrm>
            <a:off x="3027827" y="4003090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476A99A9-4C8F-047C-4607-CA4E74C7A810}"/>
              </a:ext>
            </a:extLst>
          </p:cNvPr>
          <p:cNvSpPr/>
          <p:nvPr/>
        </p:nvSpPr>
        <p:spPr>
          <a:xfrm>
            <a:off x="4189775" y="4416658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</a:t>
            </a: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E3D79409-56B9-2D9B-79FC-1AB3E4B981DF}"/>
              </a:ext>
            </a:extLst>
          </p:cNvPr>
          <p:cNvSpPr/>
          <p:nvPr/>
        </p:nvSpPr>
        <p:spPr>
          <a:xfrm>
            <a:off x="4737108" y="3292830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43EB5D0E-E157-F0F3-E639-4155B2FBAF4F}"/>
              </a:ext>
            </a:extLst>
          </p:cNvPr>
          <p:cNvSpPr/>
          <p:nvPr/>
        </p:nvSpPr>
        <p:spPr>
          <a:xfrm>
            <a:off x="5686922" y="1944234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0421CBEA-3FCF-1B6B-4BEC-6EC6B8ADFA1B}"/>
              </a:ext>
            </a:extLst>
          </p:cNvPr>
          <p:cNvSpPr/>
          <p:nvPr/>
        </p:nvSpPr>
        <p:spPr>
          <a:xfrm>
            <a:off x="5686922" y="2177991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7F6414E2-5214-5C80-DD73-C50FD9158698}"/>
              </a:ext>
            </a:extLst>
          </p:cNvPr>
          <p:cNvSpPr/>
          <p:nvPr/>
        </p:nvSpPr>
        <p:spPr>
          <a:xfrm>
            <a:off x="6789290" y="2276888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D8461764-07FB-AFDC-B5AB-F7E01E3292E4}"/>
              </a:ext>
            </a:extLst>
          </p:cNvPr>
          <p:cNvSpPr/>
          <p:nvPr/>
        </p:nvSpPr>
        <p:spPr>
          <a:xfrm>
            <a:off x="7205359" y="1699612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F380FFAE-6847-EF76-272A-9240C5461945}"/>
              </a:ext>
            </a:extLst>
          </p:cNvPr>
          <p:cNvSpPr/>
          <p:nvPr/>
        </p:nvSpPr>
        <p:spPr>
          <a:xfrm>
            <a:off x="6853630" y="2744401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</a:t>
            </a: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144A58B6-21B9-F2ED-2CBA-449D794D255A}"/>
              </a:ext>
            </a:extLst>
          </p:cNvPr>
          <p:cNvSpPr/>
          <p:nvPr/>
        </p:nvSpPr>
        <p:spPr>
          <a:xfrm>
            <a:off x="7368354" y="2483673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DEAF43CF-1B29-74B3-FB3E-CA9608F7D004}"/>
              </a:ext>
            </a:extLst>
          </p:cNvPr>
          <p:cNvSpPr/>
          <p:nvPr/>
        </p:nvSpPr>
        <p:spPr>
          <a:xfrm>
            <a:off x="5686922" y="3562549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EE39635E-71A8-ED81-A262-3DE8484FF2A4}"/>
              </a:ext>
            </a:extLst>
          </p:cNvPr>
          <p:cNvSpPr/>
          <p:nvPr/>
        </p:nvSpPr>
        <p:spPr>
          <a:xfrm>
            <a:off x="5686922" y="4866190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3A8E1A2E-D349-2ED8-FB57-D55A28B31A6F}"/>
              </a:ext>
            </a:extLst>
          </p:cNvPr>
          <p:cNvSpPr/>
          <p:nvPr/>
        </p:nvSpPr>
        <p:spPr>
          <a:xfrm>
            <a:off x="6853629" y="3072595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D0D0BF48-1293-10E8-A76B-E18D70500F66}"/>
              </a:ext>
            </a:extLst>
          </p:cNvPr>
          <p:cNvSpPr/>
          <p:nvPr/>
        </p:nvSpPr>
        <p:spPr>
          <a:xfrm>
            <a:off x="9281412" y="3517596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08A942CC-5008-2405-014D-389B8B6E411E}"/>
              </a:ext>
            </a:extLst>
          </p:cNvPr>
          <p:cNvSpPr/>
          <p:nvPr/>
        </p:nvSpPr>
        <p:spPr>
          <a:xfrm>
            <a:off x="10448120" y="4101987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B6913B2D-7126-1B89-68C9-B3582A87D47B}"/>
              </a:ext>
            </a:extLst>
          </p:cNvPr>
          <p:cNvSpPr/>
          <p:nvPr/>
        </p:nvSpPr>
        <p:spPr>
          <a:xfrm>
            <a:off x="10448120" y="4866190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4B036DD2-25C0-1E65-C198-310658246CAA}"/>
              </a:ext>
            </a:extLst>
          </p:cNvPr>
          <p:cNvSpPr/>
          <p:nvPr/>
        </p:nvSpPr>
        <p:spPr>
          <a:xfrm>
            <a:off x="7900235" y="5369666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683214C2-0DFA-F99D-9948-E7641EA934B8}"/>
              </a:ext>
            </a:extLst>
          </p:cNvPr>
          <p:cNvSpPr/>
          <p:nvPr/>
        </p:nvSpPr>
        <p:spPr>
          <a:xfrm>
            <a:off x="9281412" y="5369666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8C337B62-483E-5BB7-1521-FC26AECD3345}"/>
              </a:ext>
            </a:extLst>
          </p:cNvPr>
          <p:cNvSpPr/>
          <p:nvPr/>
        </p:nvSpPr>
        <p:spPr>
          <a:xfrm>
            <a:off x="728412" y="6076540"/>
            <a:ext cx="240204" cy="179812"/>
          </a:xfrm>
          <a:prstGeom prst="roundRect">
            <a:avLst/>
          </a:prstGeom>
          <a:noFill/>
          <a:ln w="6985">
            <a:noFill/>
          </a:ln>
        </p:spPr>
        <p:txBody>
          <a:bodyPr wrap="square" lIns="64" tIns="64" rIns="64" bIns="64" rtlCol="0" anchor="ctr">
            <a:no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1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43B587AE-BAB7-76C5-730E-02CEB2FB3291}"/>
              </a:ext>
            </a:extLst>
          </p:cNvPr>
          <p:cNvSpPr/>
          <p:nvPr/>
        </p:nvSpPr>
        <p:spPr>
          <a:xfrm>
            <a:off x="1028668" y="6094521"/>
            <a:ext cx="386043" cy="14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1건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50158D0A-364B-2694-458A-9DE3ED70D070}"/>
              </a:ext>
            </a:extLst>
          </p:cNvPr>
          <p:cNvSpPr/>
          <p:nvPr/>
        </p:nvSpPr>
        <p:spPr>
          <a:xfrm>
            <a:off x="1543392" y="6076540"/>
            <a:ext cx="240204" cy="179812"/>
          </a:xfrm>
          <a:prstGeom prst="roundRect">
            <a:avLst/>
          </a:prstGeom>
          <a:noFill/>
          <a:ln w="6985">
            <a:noFill/>
          </a:ln>
        </p:spPr>
        <p:txBody>
          <a:bodyPr wrap="square" lIns="64" tIns="64" rIns="64" bIns="64" rtlCol="0" anchor="ctr">
            <a:no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n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E8F31B4E-5F41-C90E-E5EC-7D8518AD64AC}"/>
              </a:ext>
            </a:extLst>
          </p:cNvPr>
          <p:cNvSpPr/>
          <p:nvPr/>
        </p:nvSpPr>
        <p:spPr>
          <a:xfrm>
            <a:off x="1843648" y="6094521"/>
            <a:ext cx="600511" cy="14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여러 건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DE402535-EC1C-2590-41DE-BCB8F71C0BA9}"/>
              </a:ext>
            </a:extLst>
          </p:cNvPr>
          <p:cNvSpPr/>
          <p:nvPr/>
        </p:nvSpPr>
        <p:spPr>
          <a:xfrm>
            <a:off x="2615735" y="6076540"/>
            <a:ext cx="240204" cy="179812"/>
          </a:xfrm>
          <a:prstGeom prst="roundRect">
            <a:avLst/>
          </a:prstGeom>
          <a:noFill/>
          <a:ln w="6985">
            <a:noFill/>
          </a:ln>
        </p:spPr>
        <p:txBody>
          <a:bodyPr wrap="square" lIns="64" tIns="64" rIns="64" bIns="64" rtlCol="0" anchor="ctr">
            <a:no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m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630DD2B6-B5EC-4777-14D4-055D99595918}"/>
              </a:ext>
            </a:extLst>
          </p:cNvPr>
          <p:cNvSpPr/>
          <p:nvPr/>
        </p:nvSpPr>
        <p:spPr>
          <a:xfrm>
            <a:off x="2915990" y="6094521"/>
            <a:ext cx="1098078" cy="14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m:n의 다른 다수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A3D3CD89-5811-761C-87D7-59E598273722}"/>
              </a:ext>
            </a:extLst>
          </p:cNvPr>
          <p:cNvSpPr/>
          <p:nvPr/>
        </p:nvSpPr>
        <p:spPr>
          <a:xfrm>
            <a:off x="6133016" y="6085530"/>
            <a:ext cx="5104348" cy="1977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※ m과 n은 모두 “여러 개”이며, 서로 다른 다수 집합을 구분하기 위한 기호입니다.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030F0D4-B716-CC2D-670D-1D9025BF6630}"/>
              </a:ext>
            </a:extLst>
          </p:cNvPr>
          <p:cNvSpPr txBox="1"/>
          <p:nvPr/>
        </p:nvSpPr>
        <p:spPr>
          <a:xfrm>
            <a:off x="438615" y="163552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3.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항목간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관계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85E30B-4C87-2F3C-BB53-85D6B550B817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</p:spTree>
    <p:extLst>
      <p:ext uri="{BB962C8B-B14F-4D97-AF65-F5344CB8AC3E}">
        <p14:creationId xmlns:p14="http://schemas.microsoft.com/office/powerpoint/2010/main" val="3865191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8C21E-8BA9-1DAF-E281-E54ABCF8F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>
            <a:extLst>
              <a:ext uri="{FF2B5EF4-FFF2-40B4-BE49-F238E27FC236}">
                <a16:creationId xmlns:a16="http://schemas.microsoft.com/office/drawing/2014/main" id="{D57147DF-2FDD-BEDE-CB17-D8BD3A111821}"/>
              </a:ext>
            </a:extLst>
          </p:cNvPr>
          <p:cNvSpPr txBox="1"/>
          <p:nvPr/>
        </p:nvSpPr>
        <p:spPr>
          <a:xfrm>
            <a:off x="438615" y="163552"/>
            <a:ext cx="2999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3.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항목간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관계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–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노드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</a:t>
            </a:r>
            <a:r>
              <a:rPr lang="ko-KR" altLang="en-US" sz="18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엔터티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)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C400065-4A3B-0887-52B0-E1AE65037391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83AF497-9437-3F39-DE84-A906506C9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647315"/>
              </p:ext>
            </p:extLst>
          </p:nvPr>
        </p:nvGraphicFramePr>
        <p:xfrm>
          <a:off x="552449" y="876300"/>
          <a:ext cx="11068048" cy="5029312"/>
        </p:xfrm>
        <a:graphic>
          <a:graphicData uri="http://schemas.openxmlformats.org/drawingml/2006/table">
            <a:tbl>
              <a:tblPr>
                <a:tableStyleId>{C1FDD0C3-F311-486D-AA3B-C831FA89247B}</a:tableStyleId>
              </a:tblPr>
              <a:tblGrid>
                <a:gridCol w="664083">
                  <a:extLst>
                    <a:ext uri="{9D8B030D-6E8A-4147-A177-3AD203B41FA5}">
                      <a16:colId xmlns:a16="http://schemas.microsoft.com/office/drawing/2014/main" val="814560590"/>
                    </a:ext>
                  </a:extLst>
                </a:gridCol>
                <a:gridCol w="1033017">
                  <a:extLst>
                    <a:ext uri="{9D8B030D-6E8A-4147-A177-3AD203B41FA5}">
                      <a16:colId xmlns:a16="http://schemas.microsoft.com/office/drawing/2014/main" val="3724770880"/>
                    </a:ext>
                  </a:extLst>
                </a:gridCol>
                <a:gridCol w="1328166">
                  <a:extLst>
                    <a:ext uri="{9D8B030D-6E8A-4147-A177-3AD203B41FA5}">
                      <a16:colId xmlns:a16="http://schemas.microsoft.com/office/drawing/2014/main" val="291433106"/>
                    </a:ext>
                  </a:extLst>
                </a:gridCol>
                <a:gridCol w="811657">
                  <a:extLst>
                    <a:ext uri="{9D8B030D-6E8A-4147-A177-3AD203B41FA5}">
                      <a16:colId xmlns:a16="http://schemas.microsoft.com/office/drawing/2014/main" val="1320215062"/>
                    </a:ext>
                  </a:extLst>
                </a:gridCol>
                <a:gridCol w="3394203">
                  <a:extLst>
                    <a:ext uri="{9D8B030D-6E8A-4147-A177-3AD203B41FA5}">
                      <a16:colId xmlns:a16="http://schemas.microsoft.com/office/drawing/2014/main" val="951041186"/>
                    </a:ext>
                  </a:extLst>
                </a:gridCol>
                <a:gridCol w="3836922">
                  <a:extLst>
                    <a:ext uri="{9D8B030D-6E8A-4147-A177-3AD203B41FA5}">
                      <a16:colId xmlns:a16="http://schemas.microsoft.com/office/drawing/2014/main" val="3461551804"/>
                    </a:ext>
                  </a:extLst>
                </a:gridCol>
              </a:tblGrid>
              <a:tr h="2299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노드ID</a:t>
                      </a:r>
                      <a:endParaRPr 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엔터티</a:t>
                      </a:r>
                      <a:endParaRPr lang="ko-KR" sz="11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물리명</a:t>
                      </a:r>
                      <a:endParaRPr 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계층</a:t>
                      </a:r>
                      <a:endParaRPr lang="ko-KR" sz="11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역할</a:t>
                      </a:r>
                      <a:endParaRPr lang="ko-KR" sz="11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주요 속성</a:t>
                      </a:r>
                      <a:endParaRPr 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873761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N01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제품유형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product_type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컨텍스트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 적용 범위의 최상위 단위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product_type_id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name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6004562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N02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파트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part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컨텍스트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LCA 산정 대상 부품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part_id, name, product_type_id, industry_code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396689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N03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표준산업분류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industry_class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컨텍스트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파트의 산업 스코프 (KSIC · ISIC)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code, system, name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6939794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N04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구성요소</a:t>
                      </a:r>
                      <a:endParaRPr lang="ko-KR" sz="1100" b="1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component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컨텍스트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파트를 이루는 부품 단위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component_id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part_id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name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040640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N05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BOM 행</a:t>
                      </a:r>
                      <a:endParaRPr lang="ko-KR" sz="1100" b="1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bom_row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컨텍스트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정규화 전 원시 1행. 원문 표기를 그대로 보존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bom_row_id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raw_name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mass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unit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process_id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concept_id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479838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N06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물질개념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허브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모든 표기 · 식별자 · 한정자가 수렴하는 정규화 단위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pref_name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domain_id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93595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N07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식별자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identifier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정체성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이름이 아닌 키. 일치하면 최우선 매칭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id_type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(CAS · EC ·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InChIKey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· KE),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value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is_primary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455994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N08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라벨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label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정체성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같은 물질의 다른 이름 — 언어적 관계 축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label_type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text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lang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source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872908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N09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표기변형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surface_form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정체성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같은 라벨의 문자열 변형 — 언어 관계와 분리된 축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variant_type, text, normalized_key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6306542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N10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한정자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qualifier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정체성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이름이 같아도 LCI 값이 갈리는 조건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qual_type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value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467275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N11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설명문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description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정체성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임베딩 · 리랭킹 · 매칭 근거용 자유텍스트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text, lang, source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894920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N12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도메인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domain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정체성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1차 검색 스코프 (metals · plastics …)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domain_id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name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329919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N13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규격코드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spec_code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산업실무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공인 규격 코드. 국가별 상호대응 포함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system(KS · JIS · ASTM · EN · ISO 1043), code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41431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N14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실무품명</a:t>
                      </a:r>
                      <a:endParaRPr lang="ko-KR" sz="1100" b="1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vendor_item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산업실무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BOM에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실제로 적히는 상품명 · 사내코드 · 공급사 품명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term_type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text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vendor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396734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N15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조성관계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composition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관계실체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혼합물 · 합금과 성분의 부분–전체 (자기참조)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parent_id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child_id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ratio_min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ratio_max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028384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N16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혼동쌍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disambiguation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관계실체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혼동하기 쉬운 개념쌍. 검색 네거티브로 사용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concept_a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concept_b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reason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714142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N17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매핑</a:t>
                      </a:r>
                      <a:endParaRPr lang="ko-KR" sz="1100" b="1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mapping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관계실체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개념 → LCI 연결 실체. 정확 · 유사 · 프록시를 구분해 기록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match_type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confidence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rationale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is_selected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047058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N18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공정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process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정체성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물질이 투입되는 공정. 공정이 다르면 LCI도 달라짐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process_id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name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109346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N19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엔트리</a:t>
                      </a:r>
                      <a:endParaRPr lang="ko-KR" sz="1100" b="1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lci_entry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DB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ecoinvent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데이터셋 1건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ref_id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activity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geo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system_model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unit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523166"/>
                  </a:ext>
                </a:extLst>
              </a:tr>
            </a:tbl>
          </a:graphicData>
        </a:graphic>
      </p:graphicFrame>
      <p:sp>
        <p:nvSpPr>
          <p:cNvPr id="5" name="사각형: 둥근 대각선 방향 모서리 4">
            <a:extLst>
              <a:ext uri="{FF2B5EF4-FFF2-40B4-BE49-F238E27FC236}">
                <a16:creationId xmlns:a16="http://schemas.microsoft.com/office/drawing/2014/main" id="{32B5643A-BAC6-4478-9DCD-DC0320AD5EAF}"/>
              </a:ext>
            </a:extLst>
          </p:cNvPr>
          <p:cNvSpPr/>
          <p:nvPr/>
        </p:nvSpPr>
        <p:spPr>
          <a:xfrm>
            <a:off x="514350" y="6134100"/>
            <a:ext cx="390525" cy="209550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F4C4A9-B8E5-A313-2A80-773046CEEC33}"/>
              </a:ext>
            </a:extLst>
          </p:cNvPr>
          <p:cNvSpPr txBox="1"/>
          <p:nvPr/>
        </p:nvSpPr>
        <p:spPr>
          <a:xfrm>
            <a:off x="904875" y="6095139"/>
            <a:ext cx="49167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미리 구성되어 있지 않고</a:t>
            </a:r>
            <a:r>
              <a:rPr lang="en-US" altLang="ko-KR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LCI DB </a:t>
            </a:r>
            <a:r>
              <a:rPr lang="ko-KR" altLang="en-US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매칭 요청이 오거나 처리되는 과정에서 생성처리됨</a:t>
            </a:r>
          </a:p>
        </p:txBody>
      </p:sp>
    </p:spTree>
    <p:extLst>
      <p:ext uri="{BB962C8B-B14F-4D97-AF65-F5344CB8AC3E}">
        <p14:creationId xmlns:p14="http://schemas.microsoft.com/office/powerpoint/2010/main" val="530521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06A89-99BC-362F-E415-CE51A0F34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>
            <a:extLst>
              <a:ext uri="{FF2B5EF4-FFF2-40B4-BE49-F238E27FC236}">
                <a16:creationId xmlns:a16="http://schemas.microsoft.com/office/drawing/2014/main" id="{40F02DC7-32C5-57DB-3C94-361F44A9F982}"/>
              </a:ext>
            </a:extLst>
          </p:cNvPr>
          <p:cNvSpPr txBox="1"/>
          <p:nvPr/>
        </p:nvSpPr>
        <p:spPr>
          <a:xfrm>
            <a:off x="438615" y="163552"/>
            <a:ext cx="2797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3.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항목간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관계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– </a:t>
            </a:r>
            <a:r>
              <a:rPr lang="ko-KR" altLang="en-US" sz="18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엣지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관계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)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FF482FA-6A2F-997A-BE54-412AAB92EDC6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1E64452E-E264-7872-D012-D28894219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424718"/>
              </p:ext>
            </p:extLst>
          </p:nvPr>
        </p:nvGraphicFramePr>
        <p:xfrm>
          <a:off x="559427" y="889797"/>
          <a:ext cx="11068050" cy="5082380"/>
        </p:xfrm>
        <a:graphic>
          <a:graphicData uri="http://schemas.openxmlformats.org/drawingml/2006/table">
            <a:tbl>
              <a:tblPr>
                <a:tableStyleId>{C1FDD0C3-F311-486D-AA3B-C831FA89247B}</a:tableStyleId>
              </a:tblPr>
              <a:tblGrid>
                <a:gridCol w="837079">
                  <a:extLst>
                    <a:ext uri="{9D8B030D-6E8A-4147-A177-3AD203B41FA5}">
                      <a16:colId xmlns:a16="http://schemas.microsoft.com/office/drawing/2014/main" val="2607404618"/>
                    </a:ext>
                  </a:extLst>
                </a:gridCol>
                <a:gridCol w="1395132">
                  <a:extLst>
                    <a:ext uri="{9D8B030D-6E8A-4147-A177-3AD203B41FA5}">
                      <a16:colId xmlns:a16="http://schemas.microsoft.com/office/drawing/2014/main" val="1593649216"/>
                    </a:ext>
                  </a:extLst>
                </a:gridCol>
                <a:gridCol w="651063">
                  <a:extLst>
                    <a:ext uri="{9D8B030D-6E8A-4147-A177-3AD203B41FA5}">
                      <a16:colId xmlns:a16="http://schemas.microsoft.com/office/drawing/2014/main" val="3133422888"/>
                    </a:ext>
                  </a:extLst>
                </a:gridCol>
                <a:gridCol w="1395132">
                  <a:extLst>
                    <a:ext uri="{9D8B030D-6E8A-4147-A177-3AD203B41FA5}">
                      <a16:colId xmlns:a16="http://schemas.microsoft.com/office/drawing/2014/main" val="3367773850"/>
                    </a:ext>
                  </a:extLst>
                </a:gridCol>
                <a:gridCol w="651063">
                  <a:extLst>
                    <a:ext uri="{9D8B030D-6E8A-4147-A177-3AD203B41FA5}">
                      <a16:colId xmlns:a16="http://schemas.microsoft.com/office/drawing/2014/main" val="667989544"/>
                    </a:ext>
                  </a:extLst>
                </a:gridCol>
                <a:gridCol w="744069">
                  <a:extLst>
                    <a:ext uri="{9D8B030D-6E8A-4147-A177-3AD203B41FA5}">
                      <a16:colId xmlns:a16="http://schemas.microsoft.com/office/drawing/2014/main" val="3549810383"/>
                    </a:ext>
                  </a:extLst>
                </a:gridCol>
                <a:gridCol w="5394512">
                  <a:extLst>
                    <a:ext uri="{9D8B030D-6E8A-4147-A177-3AD203B41FA5}">
                      <a16:colId xmlns:a16="http://schemas.microsoft.com/office/drawing/2014/main" val="89533216"/>
                    </a:ext>
                  </a:extLst>
                </a:gridCol>
              </a:tblGrid>
              <a:tr h="2303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 err="1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엣지</a:t>
                      </a:r>
                      <a:r>
                        <a:rPr lang="en-US" altLang="ko-KR" sz="1100" b="0" i="0" u="none" strike="noStrike" cap="none" dirty="0" err="1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ID</a:t>
                      </a:r>
                      <a:endParaRPr lang="ko-KR" altLang="en-US" sz="1100" b="0" i="0" u="none" strike="noStrike" cap="non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시작 노드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시작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종료 노드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종료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유형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관계 설명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831492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E01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제품유형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파트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제품유형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건에 파트 여러 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8187484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E02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파트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표준산업분류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n:1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여러 파트가 같은 산업분류 코드를 공유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2459836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E03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파트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구성요소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파트를 구성요소로 전개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195591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E04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파트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도메인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한 파트가 금속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플라스틱 등 복수 도메인에 걸침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175067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E05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구성요소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구성요소는 여러 물질로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한 물질은 여러 구성요소에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2541780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E06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도메인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검색 후보군을 좁히는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차 필터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6013611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E07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식별자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CAS · EC · InChIKey.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일치 시 최우선 채택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806605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E08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라벨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약어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상위어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하위어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관용어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대체어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번역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8383531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E09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라벨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표기변형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하이픈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대소문자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접두어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오타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라벨과 별개 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4064358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E10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한정자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농도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등급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수화물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물리형태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963785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설명문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국문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영문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출처별 설명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임베딩 검색의 본문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977536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E12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규격코드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국가별 상호대응 규격은 같은 개념으로 수렴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33699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E13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실무품명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n:1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상품명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사내코드를 개념으로 정규화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769973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E14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조성관계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상위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(parent)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방향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—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혼합물 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898691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E15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조성관계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n:1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성분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(child)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방향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—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자기참조 두 번째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FK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377609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E16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혼동쌍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A</a:t>
                      </a: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측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830097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E17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혼동쌍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n:1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B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측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—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자기참조 두 번째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FK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84115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E18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공정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같은 물질도 공정이 다르면 다른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LCI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로 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7557412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E19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매핑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지역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경로별 후보가 여러 건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그중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건 채택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37071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E20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매핑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LCI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엔트리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n:1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프록시 대체일 때도 근거를 여기에 기록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710772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E21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BOM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행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n:1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원시 표기를 개념으로 </a:t>
                      </a: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정규화한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결과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205597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E22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BOM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행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공정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n:1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BOM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행이 명시한 공정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181207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E23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BOM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행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실무품명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n:1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원문 품명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자재코드 보존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900627"/>
                  </a:ext>
                </a:extLst>
              </a:tr>
              <a:tr h="202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E24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BOM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행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LCI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엔트리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n:1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검증 확정 후 채워지는 파생 링크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nullable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)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850587"/>
                  </a:ext>
                </a:extLst>
              </a:tr>
            </a:tbl>
          </a:graphicData>
        </a:graphic>
      </p:graphicFrame>
      <p:sp>
        <p:nvSpPr>
          <p:cNvPr id="76" name="사각형: 둥근 대각선 방향 모서리 75">
            <a:extLst>
              <a:ext uri="{FF2B5EF4-FFF2-40B4-BE49-F238E27FC236}">
                <a16:creationId xmlns:a16="http://schemas.microsoft.com/office/drawing/2014/main" id="{860D1692-9566-7821-73DC-70404B31E948}"/>
              </a:ext>
            </a:extLst>
          </p:cNvPr>
          <p:cNvSpPr/>
          <p:nvPr/>
        </p:nvSpPr>
        <p:spPr>
          <a:xfrm>
            <a:off x="514350" y="6134100"/>
            <a:ext cx="390525" cy="209550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99E47E9-7484-803F-4AE9-61F72E1F6F23}"/>
              </a:ext>
            </a:extLst>
          </p:cNvPr>
          <p:cNvSpPr txBox="1"/>
          <p:nvPr/>
        </p:nvSpPr>
        <p:spPr>
          <a:xfrm>
            <a:off x="904875" y="6095139"/>
            <a:ext cx="49167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미리 구성되어 있지 않고</a:t>
            </a:r>
            <a:r>
              <a:rPr lang="en-US" altLang="ko-KR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LCI DB </a:t>
            </a:r>
            <a:r>
              <a:rPr lang="ko-KR" altLang="en-US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매칭 요청이 오거나 처리되는 과정에서 생성처리됨</a:t>
            </a:r>
          </a:p>
        </p:txBody>
      </p:sp>
    </p:spTree>
    <p:extLst>
      <p:ext uri="{BB962C8B-B14F-4D97-AF65-F5344CB8AC3E}">
        <p14:creationId xmlns:p14="http://schemas.microsoft.com/office/powerpoint/2010/main" val="3392774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5E0F7-4D60-6070-233F-03DEB8C45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>
            <a:extLst>
              <a:ext uri="{FF2B5EF4-FFF2-40B4-BE49-F238E27FC236}">
                <a16:creationId xmlns:a16="http://schemas.microsoft.com/office/drawing/2014/main" id="{3ABC0109-DDB0-5683-C1B9-F4FF035D359F}"/>
              </a:ext>
            </a:extLst>
          </p:cNvPr>
          <p:cNvSpPr txBox="1"/>
          <p:nvPr/>
        </p:nvSpPr>
        <p:spPr>
          <a:xfrm>
            <a:off x="438615" y="163552"/>
            <a:ext cx="2182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3.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항목간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관계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–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코드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14714B9-A204-DCC7-1073-5BF022F14D84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B21E32-87F1-B1B1-11B0-14561FA84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633929"/>
              </p:ext>
            </p:extLst>
          </p:nvPr>
        </p:nvGraphicFramePr>
        <p:xfrm>
          <a:off x="560387" y="952500"/>
          <a:ext cx="11068050" cy="5000629"/>
        </p:xfrm>
        <a:graphic>
          <a:graphicData uri="http://schemas.openxmlformats.org/drawingml/2006/table">
            <a:tbl>
              <a:tblPr>
                <a:tableStyleId>{C1FDD0C3-F311-486D-AA3B-C831FA89247B}</a:tableStyleId>
              </a:tblPr>
              <a:tblGrid>
                <a:gridCol w="2289941">
                  <a:extLst>
                    <a:ext uri="{9D8B030D-6E8A-4147-A177-3AD203B41FA5}">
                      <a16:colId xmlns:a16="http://schemas.microsoft.com/office/drawing/2014/main" val="4001905545"/>
                    </a:ext>
                  </a:extLst>
                </a:gridCol>
                <a:gridCol w="2480770">
                  <a:extLst>
                    <a:ext uri="{9D8B030D-6E8A-4147-A177-3AD203B41FA5}">
                      <a16:colId xmlns:a16="http://schemas.microsoft.com/office/drawing/2014/main" val="2419252526"/>
                    </a:ext>
                  </a:extLst>
                </a:gridCol>
                <a:gridCol w="6297339">
                  <a:extLst>
                    <a:ext uri="{9D8B030D-6E8A-4147-A177-3AD203B41FA5}">
                      <a16:colId xmlns:a16="http://schemas.microsoft.com/office/drawing/2014/main" val="1398142053"/>
                    </a:ext>
                  </a:extLst>
                </a:gridCol>
              </a:tblGrid>
              <a:tr h="2105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구분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값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의미 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예시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582492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라벨유형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(N08)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약어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PP =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폴리프로필렌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466320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라벨유형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(N08)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상위어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하위어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열가소성수지 ↔ 폴리아미드 ↔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PA66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5958098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라벨유형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(N08)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관용어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가성소다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=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수산화나트륨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1416738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라벨유형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(N08)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대체어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같은 물질의 다른 이름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정체성은 동일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030719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라벨유형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(N08)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상품명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Teflon = PTFE (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등록상표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063882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라벨유형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(N08)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번역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Acetone /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아세톤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/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アセトン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8656927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표기변형 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(N09)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대소문자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공백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하이픈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sodium chloride / Sodium-Chloride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425651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표기변형 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(N09)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구조 접두어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- · 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iso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- · 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tert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- · 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o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/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/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p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- · α → 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alpha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386312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표기변형 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(N09)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첨자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특수문자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H₂SO₄ / H2SO4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3923403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표기변형 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(N09)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오타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OCR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오류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폴리프로파일렌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, ALDC12,1 —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편집거리 </a:t>
                      </a: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후보용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9674308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한정자 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(N10)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농도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순도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NaOH 50%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용액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vs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고체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606016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한정자 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(N10)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등급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industrial / technical / electronic grade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2961017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한정자 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(N10)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염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수화물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무수물 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vs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5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수염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나트륨염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vs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유리산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112854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한정자 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(N10)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물리형태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분말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펠릿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용액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기체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8406039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한정자 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(N10)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이성질체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중합도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LDPE / HDPE, PA6 / PA66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9641097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규격체계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(N13)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KS · JIS · ASTM · EN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ALDC12.1 = ADC12 = A383 = AC-46000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984225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규격체계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(N13)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ISO 1043 · IMDS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플라스틱 약호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자동차 재질분류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460356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실무품명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유형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(N14)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상품명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사내코드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공급사 품명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BOM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에 실제로 적히는 문자열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382542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혼동쌍 사유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(N16)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약어 충돌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PE ↔ PET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4144693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혼동쌍 사유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(N16)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이름 유사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소다회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Na₂CO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₃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) ↔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가성소다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NaOH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)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340278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매칭유형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(N17)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정확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식별자 또는 규격코드가 일치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1960471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매칭유형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(N17)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유사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개념은 일치하나 한정자 일부가 불일치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82674"/>
                  </a:ext>
                </a:extLst>
              </a:tr>
              <a:tr h="253865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매칭유형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(N17)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프록시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해당 물질 데이터셋이 없어 유사 물질로 대체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선정 근거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보수성 방향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불확실성 코멘트 필수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951563"/>
                  </a:ext>
                </a:extLst>
              </a:tr>
            </a:tbl>
          </a:graphicData>
        </a:graphic>
      </p:graphicFrame>
      <p:sp>
        <p:nvSpPr>
          <p:cNvPr id="6" name="사각형: 둥근 대각선 방향 모서리 5">
            <a:extLst>
              <a:ext uri="{FF2B5EF4-FFF2-40B4-BE49-F238E27FC236}">
                <a16:creationId xmlns:a16="http://schemas.microsoft.com/office/drawing/2014/main" id="{0AF7308D-54C6-A0B6-62CC-FD5F422074A4}"/>
              </a:ext>
            </a:extLst>
          </p:cNvPr>
          <p:cNvSpPr/>
          <p:nvPr/>
        </p:nvSpPr>
        <p:spPr>
          <a:xfrm>
            <a:off x="514350" y="6134100"/>
            <a:ext cx="390525" cy="209550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A257DF-2D30-9DAD-D2D5-E8B2C7A5F358}"/>
              </a:ext>
            </a:extLst>
          </p:cNvPr>
          <p:cNvSpPr txBox="1"/>
          <p:nvPr/>
        </p:nvSpPr>
        <p:spPr>
          <a:xfrm>
            <a:off x="904875" y="6095139"/>
            <a:ext cx="49167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미리 구성되어 있지 않고</a:t>
            </a:r>
            <a:r>
              <a:rPr lang="en-US" altLang="ko-KR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LCI DB </a:t>
            </a:r>
            <a:r>
              <a:rPr lang="ko-KR" altLang="en-US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매칭 요청이 오거나 처리되는 과정에서 생성처리됨</a:t>
            </a:r>
          </a:p>
        </p:txBody>
      </p:sp>
    </p:spTree>
    <p:extLst>
      <p:ext uri="{BB962C8B-B14F-4D97-AF65-F5344CB8AC3E}">
        <p14:creationId xmlns:p14="http://schemas.microsoft.com/office/powerpoint/2010/main" val="727989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010A6-9AA6-52BB-7A1D-66D4AC6ED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CDA480F-F474-3927-EE64-E1486447F8E8}"/>
              </a:ext>
            </a:extLst>
          </p:cNvPr>
          <p:cNvSpPr txBox="1"/>
          <p:nvPr/>
        </p:nvSpPr>
        <p:spPr>
          <a:xfrm>
            <a:off x="438615" y="163552"/>
            <a:ext cx="7010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4.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할 수 있는 것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vs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할 수 없는 것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vs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고려할 수 있는 것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vs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향후 가능한 것</a:t>
            </a: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CE2C68DB-4A5F-32C3-EEC7-FA6516A54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517160"/>
              </p:ext>
            </p:extLst>
          </p:nvPr>
        </p:nvGraphicFramePr>
        <p:xfrm>
          <a:off x="9000490" y="1158240"/>
          <a:ext cx="2644140" cy="1848743"/>
        </p:xfrm>
        <a:graphic>
          <a:graphicData uri="http://schemas.openxmlformats.org/drawingml/2006/table">
            <a:tbl>
              <a:tblPr/>
              <a:tblGrid>
                <a:gridCol w="26441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3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향후 가능한 것</a:t>
                      </a:r>
                      <a:endParaRPr lang="en-US" sz="1300" b="0" i="0" u="none" strike="noStrike" cap="none" dirty="0"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Inter Extra Bold" panose="02000503000000020004" pitchFamily="2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007">
                <a:tc>
                  <a:txBody>
                    <a:bodyPr/>
                    <a:lstStyle/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BOM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물질명과 </a:t>
                      </a:r>
                      <a:r>
                        <a:rPr lang="ko-KR" alt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확정매핑된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LCI DB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명 이력 정보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(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향후 매핑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1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순위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)</a:t>
                      </a:r>
                    </a:p>
                    <a:p>
                      <a:pPr marL="180975" indent="-180975">
                        <a:buFontTx/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확정매핑된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 것이 진짜 정답이라서 </a:t>
                      </a:r>
                      <a:r>
                        <a:rPr lang="ko-KR" alt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그런경우도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 있지만 그나마 유사한 것이라서 </a:t>
                      </a:r>
                      <a:r>
                        <a:rPr lang="ko-KR" alt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확정매핑된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 경우도 있을 수 있음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  <a:p>
                      <a:pPr marL="182563" indent="-182563">
                        <a:buFontTx/>
                        <a:buChar char="-"/>
                      </a:pP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2886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774E1DC-5B52-458A-44CD-798570758A91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3AB385D-0F50-C056-7D0A-F104A1FAF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987878"/>
              </p:ext>
            </p:extLst>
          </p:nvPr>
        </p:nvGraphicFramePr>
        <p:xfrm>
          <a:off x="670560" y="1158240"/>
          <a:ext cx="2644140" cy="1143000"/>
        </p:xfrm>
        <a:graphic>
          <a:graphicData uri="http://schemas.openxmlformats.org/drawingml/2006/table">
            <a:tbl>
              <a:tblPr/>
              <a:tblGrid>
                <a:gridCol w="2644140">
                  <a:extLst>
                    <a:ext uri="{9D8B030D-6E8A-4147-A177-3AD203B41FA5}">
                      <a16:colId xmlns:a16="http://schemas.microsoft.com/office/drawing/2014/main" val="4065799814"/>
                    </a:ext>
                  </a:extLst>
                </a:gridCol>
              </a:tblGrid>
              <a:tr h="3603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할 수 있는 것 </a:t>
                      </a:r>
                      <a:endParaRPr lang="en-US" sz="1300" b="0" i="0" u="none" strike="noStrike" cap="none" dirty="0"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Inter Extra Bold" panose="02000503000000020004" pitchFamily="2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213455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표준 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BOM 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양식 데이터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661714"/>
                  </a:ext>
                </a:extLst>
              </a:tr>
              <a:tr h="401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공정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(description), 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파트정보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939098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5372820-6CE8-3C43-ACC3-905715853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041110"/>
              </p:ext>
            </p:extLst>
          </p:nvPr>
        </p:nvGraphicFramePr>
        <p:xfrm>
          <a:off x="3426143" y="1158240"/>
          <a:ext cx="2644140" cy="2549783"/>
        </p:xfrm>
        <a:graphic>
          <a:graphicData uri="http://schemas.openxmlformats.org/drawingml/2006/table">
            <a:tbl>
              <a:tblPr/>
              <a:tblGrid>
                <a:gridCol w="2644140">
                  <a:extLst>
                    <a:ext uri="{9D8B030D-6E8A-4147-A177-3AD203B41FA5}">
                      <a16:colId xmlns:a16="http://schemas.microsoft.com/office/drawing/2014/main" val="734756946"/>
                    </a:ext>
                  </a:extLst>
                </a:gridCol>
              </a:tblGrid>
              <a:tr h="3603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할 수 없는 것 </a:t>
                      </a:r>
                      <a:endParaRPr lang="en-US" sz="1300" b="0" i="0" u="none" strike="noStrike" cap="none" dirty="0"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Inter Extra Bold" panose="02000503000000020004" pitchFamily="2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723607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미입력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 항목을 </a:t>
                      </a:r>
                      <a:r>
                        <a:rPr lang="en-US" altLang="ko-KR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Cleasing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해서 넣도록 </a:t>
                      </a:r>
                      <a:r>
                        <a:rPr lang="ko-KR" altLang="en-US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하는것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744592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물질명을 표준명으로 반드시 넣도록 </a:t>
                      </a:r>
                      <a:r>
                        <a:rPr lang="ko-KR" altLang="en-US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하는것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(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약어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, 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관용어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, 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유사어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, 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번역어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, </a:t>
                      </a:r>
                      <a:r>
                        <a:rPr lang="ko-KR" altLang="en-US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공장관례용어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 등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272200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매핑전용어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 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&lt;-&gt; LCI DB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명 매핑을 미리 하는 것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419736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공정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/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도메인 등에 따른 </a:t>
                      </a:r>
                      <a:r>
                        <a:rPr lang="ko-KR" altLang="en-US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매핑정보를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 예상해서 미리 만들어 놓는 것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3237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F73CD87-A2A7-A9D6-0E79-12E447F09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313012"/>
              </p:ext>
            </p:extLst>
          </p:nvPr>
        </p:nvGraphicFramePr>
        <p:xfrm>
          <a:off x="6206807" y="1158240"/>
          <a:ext cx="2644140" cy="4927223"/>
        </p:xfrm>
        <a:graphic>
          <a:graphicData uri="http://schemas.openxmlformats.org/drawingml/2006/table">
            <a:tbl>
              <a:tblPr/>
              <a:tblGrid>
                <a:gridCol w="2644140">
                  <a:extLst>
                    <a:ext uri="{9D8B030D-6E8A-4147-A177-3AD203B41FA5}">
                      <a16:colId xmlns:a16="http://schemas.microsoft.com/office/drawing/2014/main" val="948950188"/>
                    </a:ext>
                  </a:extLst>
                </a:gridCol>
              </a:tblGrid>
              <a:tr h="3603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고려할 수 있는 것 </a:t>
                      </a:r>
                      <a:endParaRPr lang="en-US" sz="1300" b="0" i="0" u="none" strike="noStrike" cap="none" dirty="0"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Inter Extra Bold" panose="02000503000000020004" pitchFamily="2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33023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</a:pP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이미지 등 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BOM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데이터를 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VLM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으로 텍스트 인식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(Hugging Face Qwen3.8 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활용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) </a:t>
                      </a:r>
                    </a:p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</a:pP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테스트 필요</a:t>
                      </a: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, API/UI 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개발필요</a:t>
                      </a:r>
                      <a:endParaRPr lang="en-US" sz="1300" b="0" i="0" u="none" strike="noStrike" cap="none" dirty="0">
                        <a:solidFill>
                          <a:srgbClr val="C00000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402909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  <a:tabLst>
                          <a:tab pos="92075" algn="l"/>
                        </a:tabLst>
                      </a:pP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비표준 형식으로 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BOM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데이터가 온 경우 표준항목에 맞게 </a:t>
                      </a:r>
                      <a:r>
                        <a:rPr lang="ko-KR" altLang="en-US" sz="1300" b="0" i="0" u="none" strike="noStrike" cap="none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매핑시키고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, </a:t>
                      </a:r>
                      <a:r>
                        <a:rPr lang="ko-KR" altLang="en-US" sz="1300" b="0" i="0" u="none" strike="noStrike" cap="none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오탈자나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 이상하게 입력된 항목 등을 찾아내는 것 </a:t>
                      </a:r>
                      <a:endParaRPr lang="en-US" altLang="ko-KR" sz="1300" b="0" i="0" u="none" strike="noStrike" cap="none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  <a:tabLst>
                          <a:tab pos="92075" algn="l"/>
                        </a:tabLst>
                      </a:pP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LLM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으로 테스트 필요</a:t>
                      </a: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.  API/UI 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개발필요</a:t>
                      </a:r>
                      <a:endParaRPr lang="en-US" sz="1300" b="0" i="0" u="none" strike="noStrike" cap="none" dirty="0">
                        <a:solidFill>
                          <a:srgbClr val="C00000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180288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182563" indent="-182563">
                        <a:buFontTx/>
                        <a:buChar char="-"/>
                      </a:pP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공장관례에 따른 입력방식 등을 다시 해석해서 변환하고 사용자에게 최종 </a:t>
                      </a:r>
                      <a:r>
                        <a:rPr lang="en-US" altLang="ko-KR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confir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받는 방식 </a:t>
                      </a:r>
                      <a:endParaRPr lang="en-US" altLang="ko-KR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  <a:tabLst>
                          <a:tab pos="92075" algn="l"/>
                        </a:tabLst>
                      </a:pP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LLM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으로 테스트 필요</a:t>
                      </a: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.  API/UI 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개발필요</a:t>
                      </a:r>
                      <a:endParaRPr lang="en-US" sz="1300" b="0" i="0" u="none" strike="noStrike" cap="none" dirty="0">
                        <a:solidFill>
                          <a:srgbClr val="C00000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038987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LLM Wiki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에서 사용자가 파트를 추가하도록 하고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, 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검증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/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수정하도록 하는 것</a:t>
                      </a:r>
                      <a:endParaRPr lang="en-US" altLang="ko-KR" sz="1300" b="0" i="0" u="none" strike="noStrike" cap="none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  <a:p>
                      <a:pPr marL="182563" indent="-182563">
                        <a:buFontTx/>
                        <a:buChar char="-"/>
                      </a:pP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UI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화면 별도개발 및 제공가능</a:t>
                      </a: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. 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단</a:t>
                      </a: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, 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용어집 구축을 위해서 고객사 </a:t>
                      </a: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Claude/Codex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사용 검토 필요</a:t>
                      </a:r>
                      <a:endParaRPr lang="en-US" sz="1300" b="0" i="0" u="none" strike="noStrike" cap="none" dirty="0">
                        <a:solidFill>
                          <a:srgbClr val="C00000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09186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373ADB9-1659-27E7-FDDE-CC145114640E}"/>
              </a:ext>
            </a:extLst>
          </p:cNvPr>
          <p:cNvSpPr txBox="1"/>
          <p:nvPr/>
        </p:nvSpPr>
        <p:spPr>
          <a:xfrm>
            <a:off x="658971" y="5303241"/>
            <a:ext cx="5311458" cy="793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10000"/>
              </a:lnSpc>
            </a:pP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 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본사업에서는 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LCI DB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의 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Coverage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가 낮은 특성상 물질명의 경우 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Recall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을 높이고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사용자의 자유도를 높여서 선택하도록 함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단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무조건 많이 나오게 하는 것이 아니라 합리적 근거 및 우선순위 제공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)</a:t>
            </a:r>
            <a:endParaRPr lang="ko-KR" alt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5992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9BE4F-BC18-EA89-C09F-336E1B3A0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09311AB-A4C9-1BB8-717F-E92C8077FB2C}"/>
              </a:ext>
            </a:extLst>
          </p:cNvPr>
          <p:cNvSpPr txBox="1"/>
          <p:nvPr/>
        </p:nvSpPr>
        <p:spPr>
          <a:xfrm>
            <a:off x="438615" y="163552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1.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전제요건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(1/2)</a:t>
            </a:r>
            <a:endParaRPr lang="ko-KR" altLang="en-US" sz="18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646F84-66D3-93A2-583F-A7E8828B98FF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DDCD713F-DFCF-6C50-5B55-C57D42A5C3F8}"/>
              </a:ext>
            </a:extLst>
          </p:cNvPr>
          <p:cNvSpPr txBox="1"/>
          <p:nvPr/>
        </p:nvSpPr>
        <p:spPr>
          <a:xfrm>
            <a:off x="521208" y="9144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세 가지 입력 자산을 전제로 매칭 </a:t>
            </a:r>
            <a:r>
              <a:rPr lang="en-US" sz="1300" dirty="0" err="1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파이프라인을</a:t>
            </a:r>
            <a:r>
              <a:rPr lang="en-US" sz="130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구성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917A9E0F-B05F-B75A-2E5A-67668F81DE58}"/>
              </a:ext>
            </a:extLst>
          </p:cNvPr>
          <p:cNvSpPr/>
          <p:nvPr/>
        </p:nvSpPr>
        <p:spPr>
          <a:xfrm>
            <a:off x="502920" y="1344168"/>
            <a:ext cx="3566160" cy="3913632"/>
          </a:xfrm>
          <a:prstGeom prst="roundRect">
            <a:avLst>
              <a:gd name="adj" fmla="val 1282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A8204D62-958E-7DF6-3781-57FAC9A74E8C}"/>
              </a:ext>
            </a:extLst>
          </p:cNvPr>
          <p:cNvSpPr/>
          <p:nvPr/>
        </p:nvSpPr>
        <p:spPr>
          <a:xfrm>
            <a:off x="758952" y="1486662"/>
            <a:ext cx="402336" cy="402336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</a:t>
            </a:r>
            <a:endParaRPr lang="ko-KR" altLang="en-US" sz="160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B3F8B7A0-5056-3633-8D5F-230629385D33}"/>
              </a:ext>
            </a:extLst>
          </p:cNvPr>
          <p:cNvSpPr txBox="1"/>
          <p:nvPr/>
        </p:nvSpPr>
        <p:spPr>
          <a:xfrm>
            <a:off x="758952" y="203530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Malgun Gothic" pitchFamily="34" charset="-120"/>
              </a:rPr>
              <a:t>Local LCI DB</a:t>
            </a:r>
            <a:endParaRPr lang="en-US" sz="18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4340FCB3-6F78-DD3C-1808-86EBE962E8A9}"/>
              </a:ext>
            </a:extLst>
          </p:cNvPr>
          <p:cNvSpPr txBox="1"/>
          <p:nvPr/>
        </p:nvSpPr>
        <p:spPr>
          <a:xfrm>
            <a:off x="758952" y="258394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ecoinvent 기반 · key = ref_id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FA0C5F7E-898D-CF5C-58D5-E411C2BEF3E1}"/>
              </a:ext>
            </a:extLst>
          </p:cNvPr>
          <p:cNvSpPr/>
          <p:nvPr/>
        </p:nvSpPr>
        <p:spPr>
          <a:xfrm>
            <a:off x="758952" y="3169158"/>
            <a:ext cx="100584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97E62F14-46B9-FE76-C641-694E3138A5A5}"/>
              </a:ext>
            </a:extLst>
          </p:cNvPr>
          <p:cNvSpPr txBox="1"/>
          <p:nvPr/>
        </p:nvSpPr>
        <p:spPr>
          <a:xfrm>
            <a:off x="758952" y="3315462"/>
            <a:ext cx="3108960" cy="158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2075" indent="-92075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메타정보 보유하나 coverage 부족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92075" indent="-92075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정확 엔트리 부재 시 </a:t>
            </a:r>
            <a:r>
              <a:rPr lang="en-US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유사</a:t>
            </a: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 대체 필요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92075" indent="-92075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ref_id 단위로 최종 </a:t>
            </a:r>
            <a:r>
              <a:rPr lang="en-US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결과</a:t>
            </a: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 </a:t>
            </a:r>
            <a:r>
              <a:rPr lang="en-US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확정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35F83EF6-24E5-39D7-E648-2ED8E4045C87}"/>
              </a:ext>
            </a:extLst>
          </p:cNvPr>
          <p:cNvSpPr/>
          <p:nvPr/>
        </p:nvSpPr>
        <p:spPr>
          <a:xfrm>
            <a:off x="4306824" y="1344168"/>
            <a:ext cx="3566160" cy="3913632"/>
          </a:xfrm>
          <a:prstGeom prst="roundRect">
            <a:avLst>
              <a:gd name="adj" fmla="val 1282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92846671-34B8-3012-EE73-7AE118B8006D}"/>
              </a:ext>
            </a:extLst>
          </p:cNvPr>
          <p:cNvSpPr/>
          <p:nvPr/>
        </p:nvSpPr>
        <p:spPr>
          <a:xfrm>
            <a:off x="4562856" y="1486662"/>
            <a:ext cx="402336" cy="402336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</a:t>
            </a:r>
            <a:endParaRPr lang="ko-KR" altLang="en-US" sz="160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A8189F5E-1416-6CB6-5BC7-B482B365464E}"/>
              </a:ext>
            </a:extLst>
          </p:cNvPr>
          <p:cNvSpPr txBox="1"/>
          <p:nvPr/>
        </p:nvSpPr>
        <p:spPr>
          <a:xfrm>
            <a:off x="4562856" y="203530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LLM Wiki (도메인 / </a:t>
            </a:r>
            <a:r>
              <a:rPr lang="en-US" sz="1550" dirty="0" err="1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파트별</a:t>
            </a:r>
            <a:r>
              <a:rPr lang="en-US" sz="1550" dirty="0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42032A04-26B8-FE7B-9069-B70D2954AF44}"/>
              </a:ext>
            </a:extLst>
          </p:cNvPr>
          <p:cNvSpPr txBox="1"/>
          <p:nvPr/>
        </p:nvSpPr>
        <p:spPr>
          <a:xfrm>
            <a:off x="4562856" y="258394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약어 · 유사어 · 관용어 · 상하위어 · 번역어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3E7487FB-1FF7-6A53-2E88-F67B17ADC0ED}"/>
              </a:ext>
            </a:extLst>
          </p:cNvPr>
          <p:cNvSpPr/>
          <p:nvPr/>
        </p:nvSpPr>
        <p:spPr>
          <a:xfrm>
            <a:off x="4562856" y="3169158"/>
            <a:ext cx="100584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03F61308-E8B3-B750-4BDB-DC9A3B4647AD}"/>
              </a:ext>
            </a:extLst>
          </p:cNvPr>
          <p:cNvSpPr txBox="1"/>
          <p:nvPr/>
        </p:nvSpPr>
        <p:spPr>
          <a:xfrm>
            <a:off x="4562856" y="3315462"/>
            <a:ext cx="3108960" cy="133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563" indent="-182563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도메인 · 파트 단위로 사전 구성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82563" indent="-182563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LCI DB와 사전 매핑(브리지) 가능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82563" indent="-182563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필요 항목 추출 후 임베딩 사전 생성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82563" indent="-182563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GitHub 브랜치 · 커밋 </a:t>
            </a:r>
            <a:r>
              <a:rPr lang="en-US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기반</a:t>
            </a: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 </a:t>
            </a:r>
            <a:r>
              <a:rPr lang="en-US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관리</a:t>
            </a: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(UI</a:t>
            </a:r>
            <a:r>
              <a:rPr lang="ko-KR" alt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제공</a:t>
            </a:r>
            <a:r>
              <a:rPr lang="en-US" altLang="ko-KR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)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0D1D6B2B-D648-CBC8-F5D4-EC8973CAB0B2}"/>
              </a:ext>
            </a:extLst>
          </p:cNvPr>
          <p:cNvSpPr/>
          <p:nvPr/>
        </p:nvSpPr>
        <p:spPr>
          <a:xfrm>
            <a:off x="8110728" y="1344168"/>
            <a:ext cx="3566160" cy="3913632"/>
          </a:xfrm>
          <a:prstGeom prst="roundRect">
            <a:avLst>
              <a:gd name="adj" fmla="val 1282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433C7DAC-88A4-B8F2-F47E-9BA8BB3B76B3}"/>
              </a:ext>
            </a:extLst>
          </p:cNvPr>
          <p:cNvSpPr/>
          <p:nvPr/>
        </p:nvSpPr>
        <p:spPr>
          <a:xfrm>
            <a:off x="8366760" y="1486662"/>
            <a:ext cx="402336" cy="402336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</a:t>
            </a:r>
            <a:endParaRPr lang="ko-KR" altLang="en-US" sz="160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B13F5A10-5CFE-55D2-AA17-084F07F511D4}"/>
              </a:ext>
            </a:extLst>
          </p:cNvPr>
          <p:cNvSpPr txBox="1"/>
          <p:nvPr/>
        </p:nvSpPr>
        <p:spPr>
          <a:xfrm>
            <a:off x="8366760" y="203530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50" dirty="0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BOM </a:t>
            </a:r>
            <a:r>
              <a:rPr lang="en-US" sz="1550" dirty="0" err="1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입력</a:t>
            </a:r>
            <a:endParaRPr lang="en-US" sz="1550" dirty="0">
              <a:solidFill>
                <a:srgbClr val="1E2A26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04C00753-FCD0-F610-6ADF-2E7750B5D084}"/>
              </a:ext>
            </a:extLst>
          </p:cNvPr>
          <p:cNvSpPr txBox="1"/>
          <p:nvPr/>
        </p:nvSpPr>
        <p:spPr>
          <a:xfrm>
            <a:off x="8366760" y="2583942"/>
            <a:ext cx="3081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물질 · CAS · 공정 · 도메인 · </a:t>
            </a:r>
            <a:r>
              <a:rPr lang="en-US" dirty="0" err="1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파트</a:t>
            </a:r>
            <a:endParaRPr lang="en-US" dirty="0">
              <a:solidFill>
                <a:srgbClr val="6B7C76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F4C2DF7A-65D1-91F2-0CD2-4F1818C174AF}"/>
              </a:ext>
            </a:extLst>
          </p:cNvPr>
          <p:cNvSpPr/>
          <p:nvPr/>
        </p:nvSpPr>
        <p:spPr>
          <a:xfrm>
            <a:off x="8366760" y="3169158"/>
            <a:ext cx="100584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A7C1E5E4-CD40-31C6-1374-9E183757EF4A}"/>
              </a:ext>
            </a:extLst>
          </p:cNvPr>
          <p:cNvSpPr txBox="1"/>
          <p:nvPr/>
        </p:nvSpPr>
        <p:spPr>
          <a:xfrm>
            <a:off x="8366760" y="3315462"/>
            <a:ext cx="3108960" cy="987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82563" indent="-182563">
              <a:lnSpc>
                <a:spcPts val="1600"/>
              </a:lnSpc>
              <a:spcAft>
                <a:spcPts val="500"/>
              </a:spcAft>
              <a:buSzPct val="100000"/>
              <a:buChar char="•"/>
              <a:defRPr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defRPr>
            </a:lvl1pPr>
          </a:lstStyle>
          <a:p>
            <a:r>
              <a:rPr lang="en-US" dirty="0"/>
              <a:t>우선순위 높은 </a:t>
            </a:r>
            <a:r>
              <a:rPr lang="en-US" dirty="0" err="1"/>
              <a:t>경로부터</a:t>
            </a:r>
            <a:r>
              <a:rPr lang="en-US" dirty="0"/>
              <a:t> </a:t>
            </a:r>
            <a:r>
              <a:rPr lang="en-US" dirty="0" err="1"/>
              <a:t>조회</a:t>
            </a:r>
            <a:endParaRPr lang="en-US" dirty="0"/>
          </a:p>
          <a:p>
            <a:r>
              <a:rPr lang="en-US" dirty="0"/>
              <a:t>미발견 시 용어 확장 후 </a:t>
            </a:r>
            <a:r>
              <a:rPr lang="en-US" dirty="0" err="1"/>
              <a:t>재조회</a:t>
            </a:r>
            <a:endParaRPr lang="en-US" dirty="0"/>
          </a:p>
          <a:p>
            <a:r>
              <a:rPr lang="en-US" dirty="0" err="1"/>
              <a:t>도메인은</a:t>
            </a:r>
            <a:r>
              <a:rPr lang="en-US" dirty="0"/>
              <a:t> 파트 </a:t>
            </a:r>
            <a:r>
              <a:rPr lang="en-US" dirty="0" err="1"/>
              <a:t>프로파일에서</a:t>
            </a:r>
            <a:r>
              <a:rPr lang="en-US" dirty="0"/>
              <a:t> </a:t>
            </a:r>
            <a:r>
              <a:rPr lang="en-US" dirty="0" err="1"/>
              <a:t>파생</a:t>
            </a:r>
            <a:endParaRPr lang="en-US" dirty="0"/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3BA37197-08E7-1899-6198-2F1C40E41CEA}"/>
              </a:ext>
            </a:extLst>
          </p:cNvPr>
          <p:cNvSpPr/>
          <p:nvPr/>
        </p:nvSpPr>
        <p:spPr>
          <a:xfrm>
            <a:off x="502920" y="5586687"/>
            <a:ext cx="11201400" cy="667809"/>
          </a:xfrm>
          <a:prstGeom prst="roundRect">
            <a:avLst>
              <a:gd name="adj" fmla="val 8065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도메인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정보는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고객사가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제공하지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않음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—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파트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프로파일에서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파생하거나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공정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정보로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유추</a:t>
            </a:r>
            <a:endParaRPr lang="en-US" altLang="ko-KR" sz="1300" dirty="0">
              <a:solidFill>
                <a:srgbClr val="1E2A26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필터조건이 아닌 전부 보면서 순서를 매기는 방식을 취할 예정</a:t>
            </a:r>
            <a:endParaRPr lang="en-US" altLang="ko-KR" sz="1300" dirty="0">
              <a:solidFill>
                <a:srgbClr val="1E2A26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현재 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LLM Wiki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통해서 물질명을 찾아내는데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Wiki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없이도 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LLM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 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skill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에 의하여 찾아낼 수도 있는 것으로 보임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오히려 </a:t>
            </a:r>
            <a:r>
              <a:rPr lang="ko-KR" altLang="en-US" sz="1300" dirty="0" err="1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오탈자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등도 알아서 인지하고 찾아냄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lang="ko-KR" altLang="en-US" sz="1300" dirty="0">
              <a:solidFill>
                <a:srgbClr val="C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6" name="Shape 25">
            <a:extLst>
              <a:ext uri="{FF2B5EF4-FFF2-40B4-BE49-F238E27FC236}">
                <a16:creationId xmlns:a16="http://schemas.microsoft.com/office/drawing/2014/main" id="{14BFE209-E108-DCE0-7E30-B2B370F808CD}"/>
              </a:ext>
            </a:extLst>
          </p:cNvPr>
          <p:cNvSpPr/>
          <p:nvPr/>
        </p:nvSpPr>
        <p:spPr>
          <a:xfrm>
            <a:off x="11356848" y="6428232"/>
            <a:ext cx="91440" cy="91440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861A33-A487-5B4D-A2F1-1E32B46CF96B}"/>
              </a:ext>
            </a:extLst>
          </p:cNvPr>
          <p:cNvSpPr txBox="1"/>
          <p:nvPr/>
        </p:nvSpPr>
        <p:spPr>
          <a:xfrm>
            <a:off x="9245591" y="4795542"/>
            <a:ext cx="1553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투입물질명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비표준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E7E5740-3CA7-345C-EA12-F365B0708441}"/>
              </a:ext>
            </a:extLst>
          </p:cNvPr>
          <p:cNvSpPr txBox="1"/>
          <p:nvPr/>
        </p:nvSpPr>
        <p:spPr>
          <a:xfrm>
            <a:off x="5576162" y="4827305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물질명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표준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13B131-8F96-D546-D527-A4C6724D47A3}"/>
              </a:ext>
            </a:extLst>
          </p:cNvPr>
          <p:cNvSpPr txBox="1"/>
          <p:nvPr/>
        </p:nvSpPr>
        <p:spPr>
          <a:xfrm>
            <a:off x="1359642" y="4849143"/>
            <a:ext cx="1649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LCI DB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명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섞여있음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5" name="Text 6">
            <a:extLst>
              <a:ext uri="{FF2B5EF4-FFF2-40B4-BE49-F238E27FC236}">
                <a16:creationId xmlns:a16="http://schemas.microsoft.com/office/drawing/2014/main" id="{0D3372FB-9628-8EC5-E30B-1E927CFB6EFB}"/>
              </a:ext>
            </a:extLst>
          </p:cNvPr>
          <p:cNvSpPr txBox="1"/>
          <p:nvPr/>
        </p:nvSpPr>
        <p:spPr>
          <a:xfrm>
            <a:off x="557784" y="4493512"/>
            <a:ext cx="1005840" cy="25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output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6" name="Text 6">
            <a:extLst>
              <a:ext uri="{FF2B5EF4-FFF2-40B4-BE49-F238E27FC236}">
                <a16:creationId xmlns:a16="http://schemas.microsoft.com/office/drawing/2014/main" id="{4952C99C-6F7D-59C4-D0DF-CB34C0C188A6}"/>
              </a:ext>
            </a:extLst>
          </p:cNvPr>
          <p:cNvSpPr txBox="1"/>
          <p:nvPr/>
        </p:nvSpPr>
        <p:spPr>
          <a:xfrm>
            <a:off x="4387633" y="4543562"/>
            <a:ext cx="1005840" cy="25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output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8" name="Text 6">
            <a:extLst>
              <a:ext uri="{FF2B5EF4-FFF2-40B4-BE49-F238E27FC236}">
                <a16:creationId xmlns:a16="http://schemas.microsoft.com/office/drawing/2014/main" id="{827158C5-FD74-43DC-861A-F4E9A478A09D}"/>
              </a:ext>
            </a:extLst>
          </p:cNvPr>
          <p:cNvSpPr txBox="1"/>
          <p:nvPr/>
        </p:nvSpPr>
        <p:spPr>
          <a:xfrm>
            <a:off x="8239751" y="4493512"/>
            <a:ext cx="1005840" cy="25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output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582BD8EB-ADFB-C56E-3431-4AD02105C5E6}"/>
              </a:ext>
            </a:extLst>
          </p:cNvPr>
          <p:cNvCxnSpPr>
            <a:cxnSpLocks/>
          </p:cNvCxnSpPr>
          <p:nvPr/>
        </p:nvCxnSpPr>
        <p:spPr>
          <a:xfrm flipH="1">
            <a:off x="6762750" y="4949430"/>
            <a:ext cx="2400300" cy="3214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ABF5BBCF-3610-FE17-60DE-C6B5C60C3DD6}"/>
              </a:ext>
            </a:extLst>
          </p:cNvPr>
          <p:cNvCxnSpPr>
            <a:cxnSpLocks/>
          </p:cNvCxnSpPr>
          <p:nvPr/>
        </p:nvCxnSpPr>
        <p:spPr>
          <a:xfrm flipH="1">
            <a:off x="3009453" y="5010006"/>
            <a:ext cx="2400300" cy="3214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569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EFFDC-1704-F5DF-2985-EE4FCD638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5706786-26AB-2940-A5BB-97CADE2E4703}"/>
              </a:ext>
            </a:extLst>
          </p:cNvPr>
          <p:cNvSpPr txBox="1"/>
          <p:nvPr/>
        </p:nvSpPr>
        <p:spPr>
          <a:xfrm>
            <a:off x="438615" y="163552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1.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전제요건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(2/2)</a:t>
            </a:r>
            <a:endParaRPr lang="ko-KR" altLang="en-US" sz="18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149BC-725B-D0C1-BB59-9D1FEC8169DA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AB843D3-ED03-5549-B60E-1F68205317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808"/>
          <a:stretch>
            <a:fillRect/>
          </a:stretch>
        </p:blipFill>
        <p:spPr>
          <a:xfrm>
            <a:off x="3926925" y="1416000"/>
            <a:ext cx="7026825" cy="18766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0F2DF3-E054-741E-567E-E49C3428C5F7}"/>
              </a:ext>
            </a:extLst>
          </p:cNvPr>
          <p:cNvSpPr txBox="1"/>
          <p:nvPr/>
        </p:nvSpPr>
        <p:spPr>
          <a:xfrm>
            <a:off x="958850" y="1416000"/>
            <a:ext cx="24128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ref_id</a:t>
            </a:r>
            <a:r>
              <a:rPr lang="en-US" altLang="ko-KR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: </a:t>
            </a:r>
            <a:r>
              <a:rPr lang="en-US" altLang="ko-KR" sz="1600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lci_db</a:t>
            </a:r>
            <a:r>
              <a:rPr lang="ko-KR" altLang="en-US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명 </a:t>
            </a:r>
            <a:r>
              <a:rPr lang="en-US" altLang="ko-KR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= 1:1</a:t>
            </a:r>
          </a:p>
          <a:p>
            <a:r>
              <a:rPr lang="en-US" altLang="ko-KR" sz="1600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ref_id</a:t>
            </a:r>
            <a:r>
              <a:rPr lang="en-US" altLang="ko-KR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지역</a:t>
            </a:r>
            <a:r>
              <a:rPr lang="en-US" altLang="ko-KR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년도 등 </a:t>
            </a:r>
            <a:r>
              <a:rPr lang="en-US" altLang="ko-KR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= 1:n</a:t>
            </a:r>
          </a:p>
        </p:txBody>
      </p:sp>
    </p:spTree>
    <p:extLst>
      <p:ext uri="{BB962C8B-B14F-4D97-AF65-F5344CB8AC3E}">
        <p14:creationId xmlns:p14="http://schemas.microsoft.com/office/powerpoint/2010/main" val="702206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74161-A9D8-61CC-8FB7-763B5947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AD33506-8D3B-3A13-6D43-27647FC07B6A}"/>
              </a:ext>
            </a:extLst>
          </p:cNvPr>
          <p:cNvSpPr txBox="1"/>
          <p:nvPr/>
        </p:nvSpPr>
        <p:spPr>
          <a:xfrm>
            <a:off x="438615" y="163552"/>
            <a:ext cx="297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2. </a:t>
            </a:r>
            <a:r>
              <a:rPr lang="ko-KR" altLang="en-US" sz="18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매칭 우선순위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(1/2)</a:t>
            </a:r>
            <a:endParaRPr lang="ko-KR" altLang="en-US" sz="18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8C870-1D8A-4B03-E927-7E20A2BFC2C4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  <p:sp>
        <p:nvSpPr>
          <p:cNvPr id="170" name="Shape 23">
            <a:extLst>
              <a:ext uri="{FF2B5EF4-FFF2-40B4-BE49-F238E27FC236}">
                <a16:creationId xmlns:a16="http://schemas.microsoft.com/office/drawing/2014/main" id="{74B49D3B-8021-9FFC-4F8C-F302F282E56E}"/>
              </a:ext>
            </a:extLst>
          </p:cNvPr>
          <p:cNvSpPr/>
          <p:nvPr/>
        </p:nvSpPr>
        <p:spPr>
          <a:xfrm>
            <a:off x="451484" y="857250"/>
            <a:ext cx="11254741" cy="542925"/>
          </a:xfrm>
          <a:prstGeom prst="roundRect">
            <a:avLst>
              <a:gd name="adj" fmla="val 19100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우선 순위가 높은 순으로 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top k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 식별되면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후순위는 진행하지 않음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</a:p>
          <a:p>
            <a:pPr algn="ctr"/>
            <a:r>
              <a:rPr lang="ko-KR" altLang="en-US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사전에 </a:t>
            </a:r>
            <a:r>
              <a:rPr lang="en-US" altLang="ko-KR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(1)LLM Wiki (2)</a:t>
            </a:r>
            <a:r>
              <a:rPr lang="ko-KR" altLang="en-US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300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물질명</a:t>
            </a:r>
            <a:r>
              <a:rPr lang="en-US" altLang="ko-KR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-&gt;LCI DB</a:t>
            </a:r>
            <a:r>
              <a:rPr lang="ko-KR" altLang="en-US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명 매핑</a:t>
            </a:r>
            <a:r>
              <a:rPr lang="en-US" altLang="ko-KR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(Bridge), (3) </a:t>
            </a:r>
            <a:r>
              <a:rPr lang="ko-KR" altLang="en-US" sz="1300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임베딩</a:t>
            </a:r>
            <a:r>
              <a:rPr lang="ko-KR" altLang="en-US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작업 필요</a:t>
            </a:r>
          </a:p>
        </p:txBody>
      </p:sp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0A76735D-9EE0-B337-15D9-A550D8174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511506"/>
              </p:ext>
            </p:extLst>
          </p:nvPr>
        </p:nvGraphicFramePr>
        <p:xfrm>
          <a:off x="451485" y="1641872"/>
          <a:ext cx="11254739" cy="4508180"/>
        </p:xfrm>
        <a:graphic>
          <a:graphicData uri="http://schemas.openxmlformats.org/drawingml/2006/table">
            <a:tbl>
              <a:tblPr>
                <a:tableStyleId>{C1FDD0C3-F311-486D-AA3B-C831FA89247B}</a:tableStyleId>
              </a:tblPr>
              <a:tblGrid>
                <a:gridCol w="353551">
                  <a:extLst>
                    <a:ext uri="{9D8B030D-6E8A-4147-A177-3AD203B41FA5}">
                      <a16:colId xmlns:a16="http://schemas.microsoft.com/office/drawing/2014/main" val="1980148355"/>
                    </a:ext>
                  </a:extLst>
                </a:gridCol>
                <a:gridCol w="1178506">
                  <a:extLst>
                    <a:ext uri="{9D8B030D-6E8A-4147-A177-3AD203B41FA5}">
                      <a16:colId xmlns:a16="http://schemas.microsoft.com/office/drawing/2014/main" val="2097613689"/>
                    </a:ext>
                  </a:extLst>
                </a:gridCol>
                <a:gridCol w="942806">
                  <a:extLst>
                    <a:ext uri="{9D8B030D-6E8A-4147-A177-3AD203B41FA5}">
                      <a16:colId xmlns:a16="http://schemas.microsoft.com/office/drawing/2014/main" val="4014856189"/>
                    </a:ext>
                  </a:extLst>
                </a:gridCol>
                <a:gridCol w="2357014">
                  <a:extLst>
                    <a:ext uri="{9D8B030D-6E8A-4147-A177-3AD203B41FA5}">
                      <a16:colId xmlns:a16="http://schemas.microsoft.com/office/drawing/2014/main" val="3917862594"/>
                    </a:ext>
                  </a:extLst>
                </a:gridCol>
                <a:gridCol w="1060655">
                  <a:extLst>
                    <a:ext uri="{9D8B030D-6E8A-4147-A177-3AD203B41FA5}">
                      <a16:colId xmlns:a16="http://schemas.microsoft.com/office/drawing/2014/main" val="1777661029"/>
                    </a:ext>
                  </a:extLst>
                </a:gridCol>
                <a:gridCol w="530328">
                  <a:extLst>
                    <a:ext uri="{9D8B030D-6E8A-4147-A177-3AD203B41FA5}">
                      <a16:colId xmlns:a16="http://schemas.microsoft.com/office/drawing/2014/main" val="2057394217"/>
                    </a:ext>
                  </a:extLst>
                </a:gridCol>
                <a:gridCol w="530328">
                  <a:extLst>
                    <a:ext uri="{9D8B030D-6E8A-4147-A177-3AD203B41FA5}">
                      <a16:colId xmlns:a16="http://schemas.microsoft.com/office/drawing/2014/main" val="3629391646"/>
                    </a:ext>
                  </a:extLst>
                </a:gridCol>
                <a:gridCol w="766030">
                  <a:extLst>
                    <a:ext uri="{9D8B030D-6E8A-4147-A177-3AD203B41FA5}">
                      <a16:colId xmlns:a16="http://schemas.microsoft.com/office/drawing/2014/main" val="1227364360"/>
                    </a:ext>
                  </a:extLst>
                </a:gridCol>
                <a:gridCol w="3535521">
                  <a:extLst>
                    <a:ext uri="{9D8B030D-6E8A-4147-A177-3AD203B41FA5}">
                      <a16:colId xmlns:a16="http://schemas.microsoft.com/office/drawing/2014/main" val="2931331032"/>
                    </a:ext>
                  </a:extLst>
                </a:gridCol>
              </a:tblGrid>
              <a:tr h="2714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순위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제목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비교 대상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내용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산출물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브리지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임베딩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신뢰 등급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기타 검토사항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132701"/>
                  </a:ext>
                </a:extLst>
              </a:tr>
              <a:tr h="6608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확정 매핑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축적 이력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정규화 표기 완전일치 → 저장된 결과 반환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DB명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확정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첫 회차에는 비어 있고 운영하며 누적된다. 2회차부터 대부분 여기서 종료.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ecoinvent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버전이 바뀌면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재검증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대상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1084649"/>
                  </a:ext>
                </a:extLst>
              </a:tr>
              <a:tr h="46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확정 매핑 (별칭 경유)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축적 이력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별칭·약어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전개 →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확정 → 이력 조회. 결정론적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DB명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확정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표기 편차(EDPM/EPDM, ALDC 12.1/ALDC12.1)를 여기서 흡수. 5순위와 전개 로직 동일, 조회 대상만 다름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62326"/>
                  </a:ext>
                </a:extLst>
              </a:tr>
              <a:tr h="6608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CAS 완전일치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identity_type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=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pure일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때만 게이트.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합금·컴파운드는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경고 후 4순위 병행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필요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높음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CAS→concept가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1:n이라 단독 확정 불가.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체크디지트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검증 필수.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합금·컴파운드는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기재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CAS만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붙는 경우가 있어 CAS_COMPOSITE 경고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3370982"/>
                  </a:ext>
                </a:extLst>
              </a:tr>
              <a:tr h="46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정규화 표기 완전일치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표준용어 변환 후 </a:t>
                      </a:r>
                      <a:r>
                        <a:rPr lang="ko-KR" sz="1200" u="none" strike="noStrike" dirty="0" err="1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pref_label</a:t>
                      </a: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일치. 결과 항상 1건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높음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대표어는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concept당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유일. 정규화 규칙이 색인 시점과 질의 시점에 동일해야 함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091462"/>
                  </a:ext>
                </a:extLst>
              </a:tr>
              <a:tr h="6608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 별칭 조회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약어 · 관용어 · </a:t>
                      </a:r>
                      <a:r>
                        <a:rPr lang="ko-KR" sz="1200" u="none" strike="noStrike" dirty="0" err="1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이표기</a:t>
                      </a: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· 번역어 · 규격코드 · 사내코드 → </a:t>
                      </a:r>
                      <a:r>
                        <a:rPr lang="ko-KR" sz="1200" u="none" strike="noStrike" dirty="0" err="1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u="none" strike="noStrike" dirty="0" err="1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역조회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높음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임베딩 아님 — 등록된 라벨의 완전일치. 결과 n건 가능(중의어) → 스코프 적용 후 judge. 사내코드(M1252 등)는 고객사 문의로만 채워짐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7386"/>
                  </a:ext>
                </a:extLst>
              </a:tr>
              <a:tr h="6608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6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이력 유사도 매칭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축적 이력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사람이 검증한 좁은 집합 대상 벡터 +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리랭커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DB명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유추 · 확인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규격코드는 유사도 대상에서 제외(ADC12↔A380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오매칭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). 자동 확정 금지.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resolution_status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=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inherited_similar로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분리 기록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901351"/>
                  </a:ext>
                </a:extLst>
              </a:tr>
              <a:tr h="6608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런타임 용어 확장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 · LCI 인덱스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오타 교정 ·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컴파운드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분해 · 영문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정식명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확장 후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재조회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또는 LCI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물질명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조건부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중간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재조회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경로는 브리지 필요, LCI 인덱스 직접 조회 경로는 불필요.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시그니처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단위 호출. 확정 3회 이상이면 5순위 사전으로 승격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3235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319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80E80-9F1D-520A-4721-93173946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D9D29DD-6E36-83E4-8105-1A0D4778023B}"/>
              </a:ext>
            </a:extLst>
          </p:cNvPr>
          <p:cNvSpPr txBox="1"/>
          <p:nvPr/>
        </p:nvSpPr>
        <p:spPr>
          <a:xfrm>
            <a:off x="438615" y="163552"/>
            <a:ext cx="297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2. </a:t>
            </a:r>
            <a:r>
              <a:rPr lang="ko-KR" altLang="en-US" sz="18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매칭 우선순위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(2/2)</a:t>
            </a:r>
            <a:endParaRPr lang="ko-KR" altLang="en-US" sz="18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C6FC1-39DB-E04E-68F4-C9D132144D60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769C5770-0D9B-88B7-2844-09FF92B0D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327105"/>
              </p:ext>
            </p:extLst>
          </p:nvPr>
        </p:nvGraphicFramePr>
        <p:xfrm>
          <a:off x="467042" y="908447"/>
          <a:ext cx="11254739" cy="1620129"/>
        </p:xfrm>
        <a:graphic>
          <a:graphicData uri="http://schemas.openxmlformats.org/drawingml/2006/table">
            <a:tbl>
              <a:tblPr>
                <a:tableStyleId>{C1FDD0C3-F311-486D-AA3B-C831FA89247B}</a:tableStyleId>
              </a:tblPr>
              <a:tblGrid>
                <a:gridCol w="353551">
                  <a:extLst>
                    <a:ext uri="{9D8B030D-6E8A-4147-A177-3AD203B41FA5}">
                      <a16:colId xmlns:a16="http://schemas.microsoft.com/office/drawing/2014/main" val="1980148355"/>
                    </a:ext>
                  </a:extLst>
                </a:gridCol>
                <a:gridCol w="1178506">
                  <a:extLst>
                    <a:ext uri="{9D8B030D-6E8A-4147-A177-3AD203B41FA5}">
                      <a16:colId xmlns:a16="http://schemas.microsoft.com/office/drawing/2014/main" val="2097613689"/>
                    </a:ext>
                  </a:extLst>
                </a:gridCol>
                <a:gridCol w="942806">
                  <a:extLst>
                    <a:ext uri="{9D8B030D-6E8A-4147-A177-3AD203B41FA5}">
                      <a16:colId xmlns:a16="http://schemas.microsoft.com/office/drawing/2014/main" val="4014856189"/>
                    </a:ext>
                  </a:extLst>
                </a:gridCol>
                <a:gridCol w="2357014">
                  <a:extLst>
                    <a:ext uri="{9D8B030D-6E8A-4147-A177-3AD203B41FA5}">
                      <a16:colId xmlns:a16="http://schemas.microsoft.com/office/drawing/2014/main" val="3917862594"/>
                    </a:ext>
                  </a:extLst>
                </a:gridCol>
                <a:gridCol w="1060655">
                  <a:extLst>
                    <a:ext uri="{9D8B030D-6E8A-4147-A177-3AD203B41FA5}">
                      <a16:colId xmlns:a16="http://schemas.microsoft.com/office/drawing/2014/main" val="1777661029"/>
                    </a:ext>
                  </a:extLst>
                </a:gridCol>
                <a:gridCol w="530328">
                  <a:extLst>
                    <a:ext uri="{9D8B030D-6E8A-4147-A177-3AD203B41FA5}">
                      <a16:colId xmlns:a16="http://schemas.microsoft.com/office/drawing/2014/main" val="2057394217"/>
                    </a:ext>
                  </a:extLst>
                </a:gridCol>
                <a:gridCol w="530328">
                  <a:extLst>
                    <a:ext uri="{9D8B030D-6E8A-4147-A177-3AD203B41FA5}">
                      <a16:colId xmlns:a16="http://schemas.microsoft.com/office/drawing/2014/main" val="3629391646"/>
                    </a:ext>
                  </a:extLst>
                </a:gridCol>
                <a:gridCol w="766030">
                  <a:extLst>
                    <a:ext uri="{9D8B030D-6E8A-4147-A177-3AD203B41FA5}">
                      <a16:colId xmlns:a16="http://schemas.microsoft.com/office/drawing/2014/main" val="1227364360"/>
                    </a:ext>
                  </a:extLst>
                </a:gridCol>
                <a:gridCol w="3535521">
                  <a:extLst>
                    <a:ext uri="{9D8B030D-6E8A-4147-A177-3AD203B41FA5}">
                      <a16:colId xmlns:a16="http://schemas.microsoft.com/office/drawing/2014/main" val="2931331032"/>
                    </a:ext>
                  </a:extLst>
                </a:gridCol>
              </a:tblGrid>
              <a:tr h="3144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순위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제목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비교 대상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내용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산출물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브리지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임베딩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신뢰 등급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기타 검토사항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132701"/>
                  </a:ext>
                </a:extLst>
              </a:tr>
              <a:tr h="7656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상위어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폴백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DB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Wiki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broader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재귀 → 상위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재질군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영문명으로 LCI 직접 조회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물질명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낮음 · 프록시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 데이터셋에서는 예외가 아니라 기본 경로(EPDM →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synthetic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rubber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상위어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체인의 각 단계에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chem_name_en이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없으면 여기서 끊김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7675336"/>
                  </a:ext>
                </a:extLst>
              </a:tr>
              <a:tr h="5400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9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전수 유사도 + 분포 판정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DB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벡터 +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trigram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spread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평탄 시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not_found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물질명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필요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근거 없음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spread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&lt; 0.08이면 순위 목록 대신 카테고리 브라우저 제시. 자동 확정 금지. 실패 시 프록시 결정 요청 큐로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298396"/>
                  </a:ext>
                </a:extLst>
              </a:tr>
            </a:tbl>
          </a:graphicData>
        </a:graphic>
      </p:graphicFrame>
      <p:sp>
        <p:nvSpPr>
          <p:cNvPr id="172" name="TextBox 171">
            <a:extLst>
              <a:ext uri="{FF2B5EF4-FFF2-40B4-BE49-F238E27FC236}">
                <a16:creationId xmlns:a16="http://schemas.microsoft.com/office/drawing/2014/main" id="{D5A269BF-E0D9-AA14-A48F-3E8ACDC53462}"/>
              </a:ext>
            </a:extLst>
          </p:cNvPr>
          <p:cNvSpPr txBox="1"/>
          <p:nvPr/>
        </p:nvSpPr>
        <p:spPr>
          <a:xfrm>
            <a:off x="438615" y="2528576"/>
            <a:ext cx="40366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</a:t>
            </a:r>
            <a:r>
              <a:rPr lang="ko-KR" altLang="en-US" sz="1200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임베딩</a:t>
            </a:r>
            <a:r>
              <a:rPr lang="ko-KR" altLang="en-US" sz="1200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불필요인 경우 검토 필요</a:t>
            </a:r>
            <a:r>
              <a:rPr lang="en-US" altLang="ko-KR" sz="1200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LLM</a:t>
            </a:r>
            <a:r>
              <a:rPr lang="ko-KR" altLang="en-US" sz="1200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도 활용시점 식별 필요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A83BB51-B81F-D525-9EF7-E79D0AE82C72}"/>
              </a:ext>
            </a:extLst>
          </p:cNvPr>
          <p:cNvSpPr txBox="1"/>
          <p:nvPr/>
        </p:nvSpPr>
        <p:spPr>
          <a:xfrm>
            <a:off x="352742" y="3005146"/>
            <a:ext cx="6234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브리지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 </a:t>
            </a:r>
            <a:r>
              <a:rPr lang="ko-KR" altLang="en-US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물질명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 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LCI </a:t>
            </a:r>
            <a:r>
              <a:rPr lang="ko-KR" altLang="en-US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DB명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선택</a:t>
            </a:r>
          </a:p>
        </p:txBody>
      </p: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74402EE0-CC1C-25BA-4AF2-6259AA676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251220"/>
              </p:ext>
            </p:extLst>
          </p:nvPr>
        </p:nvGraphicFramePr>
        <p:xfrm>
          <a:off x="467043" y="3312923"/>
          <a:ext cx="11254741" cy="2752300"/>
        </p:xfrm>
        <a:graphic>
          <a:graphicData uri="http://schemas.openxmlformats.org/drawingml/2006/table">
            <a:tbl>
              <a:tblPr>
                <a:tableStyleId>{C1FDD0C3-F311-486D-AA3B-C831FA89247B}</a:tableStyleId>
              </a:tblPr>
              <a:tblGrid>
                <a:gridCol w="529635">
                  <a:extLst>
                    <a:ext uri="{9D8B030D-6E8A-4147-A177-3AD203B41FA5}">
                      <a16:colId xmlns:a16="http://schemas.microsoft.com/office/drawing/2014/main" val="307563239"/>
                    </a:ext>
                  </a:extLst>
                </a:gridCol>
                <a:gridCol w="1324087">
                  <a:extLst>
                    <a:ext uri="{9D8B030D-6E8A-4147-A177-3AD203B41FA5}">
                      <a16:colId xmlns:a16="http://schemas.microsoft.com/office/drawing/2014/main" val="2020293701"/>
                    </a:ext>
                  </a:extLst>
                </a:gridCol>
                <a:gridCol w="2780583">
                  <a:extLst>
                    <a:ext uri="{9D8B030D-6E8A-4147-A177-3AD203B41FA5}">
                      <a16:colId xmlns:a16="http://schemas.microsoft.com/office/drawing/2014/main" val="4134039707"/>
                    </a:ext>
                  </a:extLst>
                </a:gridCol>
                <a:gridCol w="2250948">
                  <a:extLst>
                    <a:ext uri="{9D8B030D-6E8A-4147-A177-3AD203B41FA5}">
                      <a16:colId xmlns:a16="http://schemas.microsoft.com/office/drawing/2014/main" val="1129950461"/>
                    </a:ext>
                  </a:extLst>
                </a:gridCol>
                <a:gridCol w="4369488">
                  <a:extLst>
                    <a:ext uri="{9D8B030D-6E8A-4147-A177-3AD203B41FA5}">
                      <a16:colId xmlns:a16="http://schemas.microsoft.com/office/drawing/2014/main" val="198761285"/>
                    </a:ext>
                  </a:extLst>
                </a:gridCol>
              </a:tblGrid>
              <a:tr h="4769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순위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활동유형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판별 조건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처리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87845"/>
                  </a:ext>
                </a:extLst>
              </a:tr>
              <a:tr h="389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2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접두어 없음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market for · production · treatment of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어느 것도 없음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있으면 무조건 채택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순수 </a:t>
                      </a:r>
                      <a:r>
                        <a:rPr lang="ko-KR" altLang="en-US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물질명</a:t>
                      </a: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</a:t>
                      </a:r>
                      <a:r>
                        <a:rPr lang="en-US" altLang="ko-KR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ecoinvent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에서는 </a:t>
                      </a:r>
                      <a:r>
                        <a:rPr lang="ko-KR" altLang="en-US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드물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수 있으므로 실제 건수 확인 필요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160909"/>
                  </a:ext>
                </a:extLst>
              </a:tr>
              <a:tr h="389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2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production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문자열에 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production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포함 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위치 무관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)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채택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공장 출하 기준</a:t>
                      </a: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운송 </a:t>
                      </a: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유통 미포함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1561491"/>
                  </a:ext>
                </a:extLst>
              </a:tr>
              <a:tr h="389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3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market for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market for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로 시작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채택 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+ MARKET_TRANSPORT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경고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운송 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무역 믹스 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손실 포함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BOM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에서 운송을 별도 계산하면 이중계산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325147"/>
                  </a:ext>
                </a:extLst>
              </a:tr>
              <a:tr h="389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4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market group for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market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group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for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로 시작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채택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지역 집계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국가 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지역 데이터가 없을 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380507"/>
                  </a:ext>
                </a:extLst>
              </a:tr>
              <a:tr h="5803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제외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treatment of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treatment of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로 시작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하드 차단 </a:t>
                      </a: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(WHERE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절에서 제거</a:t>
                      </a: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)</a:t>
                      </a:r>
                      <a:endParaRPr lang="ko-KR" altLang="en-US" sz="12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참조흐름이 폐기물 입력이라 자재 투입에 쓰면 부호가 뒤집힌다</a:t>
                      </a: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ORDER BY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최하위로 두면 다른 후보가 없을 때 뽑히므로 반드시 </a:t>
                      </a:r>
                      <a:r>
                        <a:rPr lang="en-US" altLang="ko-KR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WHERE</a:t>
                      </a:r>
                      <a:r>
                        <a:rPr lang="ko-KR" altLang="en-US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에서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제거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829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103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D92C7-3F18-5418-EFA7-16580112D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139E472-1AF7-70B2-C8F3-0224E334774B}"/>
              </a:ext>
            </a:extLst>
          </p:cNvPr>
          <p:cNvSpPr txBox="1"/>
          <p:nvPr/>
        </p:nvSpPr>
        <p:spPr>
          <a:xfrm>
            <a:off x="438615" y="163552"/>
            <a:ext cx="2201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3. </a:t>
            </a:r>
            <a:r>
              <a:rPr lang="ko-KR" altLang="en-US" sz="18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매칭 플로우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CAE2D0-A318-E7CA-3AD4-5E1679E86FD2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59AAE0-D9F4-FC86-5BDA-75A6FE45A1B1}"/>
              </a:ext>
            </a:extLst>
          </p:cNvPr>
          <p:cNvSpPr txBox="1"/>
          <p:nvPr/>
        </p:nvSpPr>
        <p:spPr>
          <a:xfrm>
            <a:off x="709612" y="1297197"/>
            <a:ext cx="542328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파트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구성요성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이미 제공</a:t>
            </a:r>
            <a:endParaRPr lang="en-US" altLang="ko-KR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도메인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BOM 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데이터를 가지고 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LLM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으로 </a:t>
            </a:r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만들어냄</a:t>
            </a:r>
            <a:endParaRPr lang="en-US" altLang="ko-KR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공정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description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으로는 안될 수 있음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 BOM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데이터를 가지고 </a:t>
            </a:r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가지고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추정</a:t>
            </a:r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B24D38A2-A2AB-30AD-E444-2743DAD02565}"/>
              </a:ext>
            </a:extLst>
          </p:cNvPr>
          <p:cNvSpPr/>
          <p:nvPr/>
        </p:nvSpPr>
        <p:spPr>
          <a:xfrm>
            <a:off x="1390650" y="1989694"/>
            <a:ext cx="1600200" cy="492443"/>
          </a:xfrm>
          <a:custGeom>
            <a:avLst/>
            <a:gdLst>
              <a:gd name="csX0" fmla="*/ 0 w 1600200"/>
              <a:gd name="csY0" fmla="*/ 0 h 847725"/>
              <a:gd name="csX1" fmla="*/ 0 w 1600200"/>
              <a:gd name="csY1" fmla="*/ 847725 h 847725"/>
              <a:gd name="csX2" fmla="*/ 1600200 w 1600200"/>
              <a:gd name="csY2" fmla="*/ 847725 h 847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00200" h="847725">
                <a:moveTo>
                  <a:pt x="0" y="0"/>
                </a:moveTo>
                <a:lnTo>
                  <a:pt x="0" y="847725"/>
                </a:lnTo>
                <a:lnTo>
                  <a:pt x="1600200" y="847725"/>
                </a:ln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EB3ED-428B-FAC8-8824-D8BF8D824B9D}"/>
              </a:ext>
            </a:extLst>
          </p:cNvPr>
          <p:cNvSpPr txBox="1"/>
          <p:nvPr/>
        </p:nvSpPr>
        <p:spPr>
          <a:xfrm>
            <a:off x="2933700" y="2629111"/>
            <a:ext cx="495039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5725" indent="-85725">
              <a:buFont typeface="Arial" panose="020B0604020202020204" pitchFamily="34" charset="0"/>
              <a:buChar char="•"/>
              <a:defRPr sz="13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통상 파트가 한정되어 있으므로 실제 검색대상은 많지 않을 것으로 예상</a:t>
            </a:r>
            <a:r>
              <a:rPr lang="en-US" altLang="ko-KR" dirty="0"/>
              <a:t>)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Where </a:t>
            </a:r>
            <a:r>
              <a:rPr lang="ko-KR" altLang="en-US" dirty="0">
                <a:sym typeface="Wingdings" panose="05000000000000000000" pitchFamily="2" charset="2"/>
              </a:rPr>
              <a:t>조건 검색 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 err="1">
                <a:sym typeface="Wingdings" panose="05000000000000000000" pitchFamily="2" charset="2"/>
              </a:rPr>
              <a:t>임베딩</a:t>
            </a:r>
            <a:r>
              <a:rPr lang="ko-KR" altLang="en-US" dirty="0">
                <a:sym typeface="Wingdings" panose="05000000000000000000" pitchFamily="2" charset="2"/>
              </a:rPr>
              <a:t> 검색</a:t>
            </a:r>
            <a:endParaRPr lang="ko-KR" altLang="en-US" dirty="0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A232FA40-53A6-4D1B-C25B-13AAABD23E2B}"/>
              </a:ext>
            </a:extLst>
          </p:cNvPr>
          <p:cNvSpPr/>
          <p:nvPr/>
        </p:nvSpPr>
        <p:spPr>
          <a:xfrm>
            <a:off x="3656912" y="3121554"/>
            <a:ext cx="1600200" cy="455661"/>
          </a:xfrm>
          <a:custGeom>
            <a:avLst/>
            <a:gdLst>
              <a:gd name="csX0" fmla="*/ 0 w 1600200"/>
              <a:gd name="csY0" fmla="*/ 0 h 847725"/>
              <a:gd name="csX1" fmla="*/ 0 w 1600200"/>
              <a:gd name="csY1" fmla="*/ 847725 h 847725"/>
              <a:gd name="csX2" fmla="*/ 1600200 w 1600200"/>
              <a:gd name="csY2" fmla="*/ 847725 h 847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00200" h="847725">
                <a:moveTo>
                  <a:pt x="0" y="0"/>
                </a:moveTo>
                <a:lnTo>
                  <a:pt x="0" y="847725"/>
                </a:lnTo>
                <a:lnTo>
                  <a:pt x="1600200" y="847725"/>
                </a:ln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C6BE39-3E00-B5E7-2371-9838DF04E87E}"/>
              </a:ext>
            </a:extLst>
          </p:cNvPr>
          <p:cNvSpPr txBox="1"/>
          <p:nvPr/>
        </p:nvSpPr>
        <p:spPr>
          <a:xfrm>
            <a:off x="4457012" y="3798604"/>
            <a:ext cx="575510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Font typeface="Arial" panose="020B0604020202020204" pitchFamily="34" charset="0"/>
              <a:buNone/>
              <a:defRPr sz="13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en-US" altLang="ko-KR" dirty="0" err="1"/>
              <a:t>ref_id</a:t>
            </a:r>
            <a:r>
              <a:rPr lang="ko-KR" altLang="en-US" dirty="0"/>
              <a:t>기준 물질명은 </a:t>
            </a:r>
            <a:r>
              <a:rPr lang="en-US" altLang="ko-KR" dirty="0"/>
              <a:t>11,854</a:t>
            </a:r>
            <a:r>
              <a:rPr lang="ko-KR" altLang="en-US" dirty="0"/>
              <a:t>건이고</a:t>
            </a:r>
            <a:r>
              <a:rPr lang="en-US" altLang="ko-KR" dirty="0"/>
              <a:t>, treatment</a:t>
            </a:r>
            <a:r>
              <a:rPr lang="ko-KR" altLang="en-US" dirty="0"/>
              <a:t>를 제외하면 많지 않을 것으로 보임</a:t>
            </a:r>
            <a:r>
              <a:rPr lang="en-US" altLang="ko-KR" dirty="0"/>
              <a:t>)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dirty="0"/>
              <a:t>물질명에서 </a:t>
            </a:r>
            <a:r>
              <a:rPr lang="en-US" altLang="ko-KR" dirty="0" err="1"/>
              <a:t>ref_id</a:t>
            </a:r>
            <a:r>
              <a:rPr lang="en-US" altLang="ko-KR" dirty="0"/>
              <a:t>(LCI DB</a:t>
            </a:r>
            <a:r>
              <a:rPr lang="ko-KR" altLang="en-US" dirty="0"/>
              <a:t>명</a:t>
            </a:r>
            <a:r>
              <a:rPr lang="en-US" altLang="ko-KR" dirty="0"/>
              <a:t>) </a:t>
            </a:r>
            <a:r>
              <a:rPr lang="ko-KR" altLang="en-US" dirty="0"/>
              <a:t>반환</a:t>
            </a:r>
            <a:endParaRPr lang="en-US" altLang="ko-KR" dirty="0"/>
          </a:p>
          <a:p>
            <a:r>
              <a:rPr lang="en-US" altLang="ko-KR" dirty="0">
                <a:sym typeface="Wingdings" panose="05000000000000000000" pitchFamily="2" charset="2"/>
              </a:rPr>
              <a:t> Where </a:t>
            </a:r>
            <a:r>
              <a:rPr lang="ko-KR" altLang="en-US" dirty="0">
                <a:sym typeface="Wingdings" panose="05000000000000000000" pitchFamily="2" charset="2"/>
              </a:rPr>
              <a:t>조건 검색 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 err="1">
                <a:sym typeface="Wingdings" panose="05000000000000000000" pitchFamily="2" charset="2"/>
              </a:rPr>
              <a:t>임베딩</a:t>
            </a:r>
            <a:r>
              <a:rPr lang="ko-KR" altLang="en-US" dirty="0">
                <a:sym typeface="Wingdings" panose="05000000000000000000" pitchFamily="2" charset="2"/>
              </a:rPr>
              <a:t> 검색 등</a:t>
            </a:r>
            <a:endParaRPr lang="ko-KR" altLang="en-US" dirty="0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504AC9F8-4D01-3687-3C26-FC8AC62DB86E}"/>
              </a:ext>
            </a:extLst>
          </p:cNvPr>
          <p:cNvSpPr/>
          <p:nvPr/>
        </p:nvSpPr>
        <p:spPr>
          <a:xfrm>
            <a:off x="5072474" y="4501273"/>
            <a:ext cx="1936623" cy="692497"/>
          </a:xfrm>
          <a:custGeom>
            <a:avLst/>
            <a:gdLst>
              <a:gd name="csX0" fmla="*/ 0 w 1600200"/>
              <a:gd name="csY0" fmla="*/ 0 h 847725"/>
              <a:gd name="csX1" fmla="*/ 0 w 1600200"/>
              <a:gd name="csY1" fmla="*/ 847725 h 847725"/>
              <a:gd name="csX2" fmla="*/ 1600200 w 1600200"/>
              <a:gd name="csY2" fmla="*/ 847725 h 847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00200" h="847725">
                <a:moveTo>
                  <a:pt x="0" y="0"/>
                </a:moveTo>
                <a:lnTo>
                  <a:pt x="0" y="847725"/>
                </a:lnTo>
                <a:lnTo>
                  <a:pt x="1600200" y="847725"/>
                </a:ln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4A4B38-8115-47A8-1C03-2A8BC77EF7B4}"/>
              </a:ext>
            </a:extLst>
          </p:cNvPr>
          <p:cNvSpPr txBox="1"/>
          <p:nvPr/>
        </p:nvSpPr>
        <p:spPr>
          <a:xfrm>
            <a:off x="6601049" y="5389181"/>
            <a:ext cx="513375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en-US" altLang="ko-KR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treatmen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 제외한 </a:t>
            </a:r>
            <a:r>
              <a:rPr lang="en-US" altLang="ko-KR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ref_id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기준 </a:t>
            </a:r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물질명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대상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</a:p>
          <a:p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투입물명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확장용어명으로 </a:t>
            </a:r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임베딩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검색을 한 후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rank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 </a:t>
            </a:r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높은것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개 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return</a:t>
            </a:r>
            <a:endParaRPr lang="ko-KR" alt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7045209-EA91-E433-25D7-E11308BE34DB}"/>
              </a:ext>
            </a:extLst>
          </p:cNvPr>
          <p:cNvSpPr/>
          <p:nvPr/>
        </p:nvSpPr>
        <p:spPr>
          <a:xfrm>
            <a:off x="671512" y="963256"/>
            <a:ext cx="1519238" cy="33635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BOM</a:t>
            </a:r>
            <a:endParaRPr lang="ko-KR" altLang="en-US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08414EA-CD38-9B9C-F207-16CED801FA10}"/>
              </a:ext>
            </a:extLst>
          </p:cNvPr>
          <p:cNvSpPr/>
          <p:nvPr/>
        </p:nvSpPr>
        <p:spPr>
          <a:xfrm>
            <a:off x="2990850" y="2269193"/>
            <a:ext cx="1466162" cy="33635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err="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물질명</a:t>
            </a:r>
            <a:r>
              <a:rPr lang="ko-KR" altLang="en-US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매핑</a:t>
            </a:r>
            <a:endParaRPr lang="en-US" altLang="ko-KR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9BFDDA9-EE92-AF76-91E9-A35E672CD857}"/>
              </a:ext>
            </a:extLst>
          </p:cNvPr>
          <p:cNvSpPr/>
          <p:nvPr/>
        </p:nvSpPr>
        <p:spPr>
          <a:xfrm>
            <a:off x="5257112" y="3370319"/>
            <a:ext cx="1600200" cy="33635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LCI DB</a:t>
            </a:r>
            <a:r>
              <a:rPr lang="ko-KR" altLang="en-US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명 매핑</a:t>
            </a:r>
            <a:endParaRPr lang="en-US" altLang="ko-KR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8903260-ECBA-0BFA-DE2B-D09E96606095}"/>
              </a:ext>
            </a:extLst>
          </p:cNvPr>
          <p:cNvSpPr/>
          <p:nvPr/>
        </p:nvSpPr>
        <p:spPr>
          <a:xfrm>
            <a:off x="7116351" y="4966136"/>
            <a:ext cx="2750597" cy="33635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LCI DB </a:t>
            </a:r>
            <a:r>
              <a:rPr lang="ko-KR" altLang="en-US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전수 검사</a:t>
            </a:r>
            <a:r>
              <a:rPr lang="en-US" altLang="ko-KR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근거 없음</a:t>
            </a:r>
            <a:r>
              <a:rPr lang="en-US" altLang="ko-KR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  <p:sp>
        <p:nvSpPr>
          <p:cNvPr id="19" name="오른쪽 대괄호 18">
            <a:extLst>
              <a:ext uri="{FF2B5EF4-FFF2-40B4-BE49-F238E27FC236}">
                <a16:creationId xmlns:a16="http://schemas.microsoft.com/office/drawing/2014/main" id="{874A4DA0-0FA9-CD60-161F-DE64AF103A06}"/>
              </a:ext>
            </a:extLst>
          </p:cNvPr>
          <p:cNvSpPr/>
          <p:nvPr/>
        </p:nvSpPr>
        <p:spPr>
          <a:xfrm>
            <a:off x="5915025" y="1600200"/>
            <a:ext cx="179387" cy="355635"/>
          </a:xfrm>
          <a:prstGeom prst="rightBracke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8504921-3103-DD37-A0EC-6E1068DD886E}"/>
              </a:ext>
            </a:extLst>
          </p:cNvPr>
          <p:cNvSpPr/>
          <p:nvPr/>
        </p:nvSpPr>
        <p:spPr>
          <a:xfrm>
            <a:off x="6324824" y="1495425"/>
            <a:ext cx="4333652" cy="49426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LCI DB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매칭 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API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호출 이전에 별도 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UI/API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에서 처리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/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사용자 확인프로세스 추가 검토 필요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042582-B824-FB1C-0661-2A0EC60E74C7}"/>
              </a:ext>
            </a:extLst>
          </p:cNvPr>
          <p:cNvSpPr txBox="1"/>
          <p:nvPr/>
        </p:nvSpPr>
        <p:spPr>
          <a:xfrm>
            <a:off x="5257112" y="4917420"/>
            <a:ext cx="193059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i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r>
              <a:rPr lang="ko-KR" altLang="en-US" sz="1300" i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건도 없는 경우 </a:t>
            </a:r>
            <a:r>
              <a:rPr lang="en-US" altLang="ko-KR" sz="1300" i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LCI DB</a:t>
            </a:r>
            <a:r>
              <a:rPr lang="ko-KR" altLang="en-US" sz="1300" i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전수 검사</a:t>
            </a:r>
            <a:endParaRPr lang="en-US" altLang="ko-KR" sz="1300" i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D1651D9-6594-DF98-EE00-39D526DCBDDF}"/>
              </a:ext>
            </a:extLst>
          </p:cNvPr>
          <p:cNvSpPr/>
          <p:nvPr/>
        </p:nvSpPr>
        <p:spPr>
          <a:xfrm>
            <a:off x="1876425" y="2162176"/>
            <a:ext cx="9029700" cy="2507576"/>
          </a:xfrm>
          <a:prstGeom prst="roundRect">
            <a:avLst>
              <a:gd name="adj" fmla="val 4820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442D6B-493D-DBE3-E6F4-3D7491F50F61}"/>
              </a:ext>
            </a:extLst>
          </p:cNvPr>
          <p:cNvSpPr txBox="1"/>
          <p:nvPr/>
        </p:nvSpPr>
        <p:spPr>
          <a:xfrm>
            <a:off x="847725" y="3637200"/>
            <a:ext cx="3111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1~8</a:t>
            </a:r>
            <a:r>
              <a:rPr lang="ko-KR" altLang="en-US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우선순위에 적용</a:t>
            </a:r>
            <a:endParaRPr lang="en-US" altLang="ko-KR" b="1" i="1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일부 순위에서는 </a:t>
            </a:r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LCI DB</a:t>
            </a:r>
            <a:r>
              <a:rPr lang="ko-KR" altLang="en-US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명 매핑만 확인</a:t>
            </a:r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Top K </a:t>
            </a:r>
            <a:r>
              <a:rPr lang="en-US" altLang="ko-KR" b="1" i="1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ref_id</a:t>
            </a:r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return</a:t>
            </a:r>
            <a:r>
              <a:rPr lang="ko-KR" altLang="en-US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시에는 </a:t>
            </a:r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stop</a:t>
            </a:r>
            <a:endParaRPr lang="ko-KR" altLang="en-US" b="1" i="1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B454DA4-93FB-C8F6-506F-1907EDA363EE}"/>
              </a:ext>
            </a:extLst>
          </p:cNvPr>
          <p:cNvSpPr/>
          <p:nvPr/>
        </p:nvSpPr>
        <p:spPr>
          <a:xfrm>
            <a:off x="8491649" y="6017033"/>
            <a:ext cx="2750597" cy="33635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나머지 항목 진행</a:t>
            </a:r>
            <a:endParaRPr lang="en-US" altLang="ko-KR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C9B0805B-1413-6FA7-BE8B-565A0A9E1FAF}"/>
              </a:ext>
            </a:extLst>
          </p:cNvPr>
          <p:cNvSpPr/>
          <p:nvPr/>
        </p:nvSpPr>
        <p:spPr>
          <a:xfrm>
            <a:off x="7644224" y="5730787"/>
            <a:ext cx="847425" cy="492444"/>
          </a:xfrm>
          <a:custGeom>
            <a:avLst/>
            <a:gdLst>
              <a:gd name="csX0" fmla="*/ 0 w 1600200"/>
              <a:gd name="csY0" fmla="*/ 0 h 847725"/>
              <a:gd name="csX1" fmla="*/ 0 w 1600200"/>
              <a:gd name="csY1" fmla="*/ 847725 h 847725"/>
              <a:gd name="csX2" fmla="*/ 1600200 w 1600200"/>
              <a:gd name="csY2" fmla="*/ 847725 h 847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00200" h="847725">
                <a:moveTo>
                  <a:pt x="0" y="0"/>
                </a:moveTo>
                <a:lnTo>
                  <a:pt x="0" y="847725"/>
                </a:lnTo>
                <a:lnTo>
                  <a:pt x="1600200" y="847725"/>
                </a:ln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247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F4E9-E397-BD6D-A3D9-28E11EE7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F772C28-9F04-4657-B0D8-73A742645043}"/>
              </a:ext>
            </a:extLst>
          </p:cNvPr>
          <p:cNvSpPr/>
          <p:nvPr/>
        </p:nvSpPr>
        <p:spPr>
          <a:xfrm>
            <a:off x="5512553" y="4567516"/>
            <a:ext cx="4649321" cy="1227656"/>
          </a:xfrm>
          <a:prstGeom prst="roundRect">
            <a:avLst>
              <a:gd name="adj" fmla="val 577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Tx/>
              <a:buChar char="-"/>
            </a:pPr>
            <a:endParaRPr lang="ko-KR" altLang="en-US" sz="1200" dirty="0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67A5124-EDC9-C53D-6F4A-8B32A5237695}"/>
              </a:ext>
            </a:extLst>
          </p:cNvPr>
          <p:cNvSpPr/>
          <p:nvPr/>
        </p:nvSpPr>
        <p:spPr>
          <a:xfrm>
            <a:off x="5555816" y="1388508"/>
            <a:ext cx="4606058" cy="2671126"/>
          </a:xfrm>
          <a:prstGeom prst="roundRect">
            <a:avLst>
              <a:gd name="adj" fmla="val 363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EC1C64D-EA2A-C6F9-A249-760DAB2C7393}"/>
              </a:ext>
            </a:extLst>
          </p:cNvPr>
          <p:cNvCxnSpPr>
            <a:cxnSpLocks/>
          </p:cNvCxnSpPr>
          <p:nvPr/>
        </p:nvCxnSpPr>
        <p:spPr>
          <a:xfrm flipV="1">
            <a:off x="4469911" y="985540"/>
            <a:ext cx="42635" cy="533749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8B63E6-BE1A-8D9E-CA17-8FE604E1F71E}"/>
              </a:ext>
            </a:extLst>
          </p:cNvPr>
          <p:cNvSpPr txBox="1"/>
          <p:nvPr/>
        </p:nvSpPr>
        <p:spPr>
          <a:xfrm>
            <a:off x="438615" y="163552"/>
            <a:ext cx="1495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4. R&amp;R (1/2)</a:t>
            </a:r>
            <a:endParaRPr lang="ko-KR" altLang="en-US" sz="18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F0E29-C7EE-1EB4-1E65-470E7FF9F918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DA1F3-7962-1CCA-FEB7-85AD5F2C044D}"/>
              </a:ext>
            </a:extLst>
          </p:cNvPr>
          <p:cNvSpPr txBox="1"/>
          <p:nvPr/>
        </p:nvSpPr>
        <p:spPr>
          <a:xfrm>
            <a:off x="556379" y="937935"/>
            <a:ext cx="2834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LLM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Wiki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(JSON) / Bridge(JSON)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F2ED0-5921-0208-60F2-25D2E4859EB1}"/>
              </a:ext>
            </a:extLst>
          </p:cNvPr>
          <p:cNvSpPr txBox="1"/>
          <p:nvPr/>
        </p:nvSpPr>
        <p:spPr>
          <a:xfrm>
            <a:off x="5450949" y="4263819"/>
            <a:ext cx="4881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en-US" altLang="ko-KR" dirty="0" err="1"/>
              <a:t>PosgreSQL</a:t>
            </a:r>
            <a:r>
              <a:rPr lang="en-US" altLang="ko-KR" dirty="0"/>
              <a:t> DB(</a:t>
            </a:r>
            <a:r>
              <a:rPr lang="ko-KR" altLang="en-US" dirty="0"/>
              <a:t>벡터포함</a:t>
            </a:r>
            <a:r>
              <a:rPr lang="en-US" altLang="ko-KR" dirty="0"/>
              <a:t>) – </a:t>
            </a:r>
            <a:r>
              <a:rPr lang="ko-KR" altLang="en-US" dirty="0"/>
              <a:t>양이 많거나 동시접속자 </a:t>
            </a:r>
            <a:r>
              <a:rPr lang="ko-KR" altLang="en-US" dirty="0" err="1"/>
              <a:t>제어시</a:t>
            </a:r>
            <a:r>
              <a:rPr lang="ko-KR" altLang="en-US" dirty="0"/>
              <a:t> 용이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672071-E6B2-F3FC-DCA3-1F1FE669C796}"/>
              </a:ext>
            </a:extLst>
          </p:cNvPr>
          <p:cNvSpPr txBox="1"/>
          <p:nvPr/>
        </p:nvSpPr>
        <p:spPr>
          <a:xfrm>
            <a:off x="5752669" y="1504355"/>
            <a:ext cx="2465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Python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소스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양이 적을 때 가능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2C4985B-A975-877E-394B-B58852B29570}"/>
              </a:ext>
            </a:extLst>
          </p:cNvPr>
          <p:cNvSpPr/>
          <p:nvPr/>
        </p:nvSpPr>
        <p:spPr>
          <a:xfrm>
            <a:off x="571500" y="1447206"/>
            <a:ext cx="2924175" cy="2013346"/>
          </a:xfrm>
          <a:prstGeom prst="roundRect">
            <a:avLst>
              <a:gd name="adj" fmla="val 577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681F84-C644-7862-6979-3B002745FE18}"/>
              </a:ext>
            </a:extLst>
          </p:cNvPr>
          <p:cNvSpPr txBox="1"/>
          <p:nvPr/>
        </p:nvSpPr>
        <p:spPr>
          <a:xfrm>
            <a:off x="676363" y="1787129"/>
            <a:ext cx="241123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Readme.md</a:t>
            </a:r>
          </a:p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-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구조 등 설명</a:t>
            </a:r>
            <a:endParaRPr lang="en-US" altLang="ko-KR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endParaRPr lang="en-US" altLang="ko-KR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폴더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/*.</a:t>
            </a:r>
            <a:r>
              <a:rPr lang="en-US" altLang="ko-KR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json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</a:p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-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실데이터</a:t>
            </a:r>
            <a:endParaRPr lang="en-US" altLang="ko-KR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endParaRPr lang="en-US" altLang="ko-KR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Skill/prompt/quardrail.md   </a:t>
            </a:r>
            <a:endParaRPr lang="ko-KR" alt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08D644E-AA53-21FA-403A-2BA90A1BE792}"/>
              </a:ext>
            </a:extLst>
          </p:cNvPr>
          <p:cNvSpPr/>
          <p:nvPr/>
        </p:nvSpPr>
        <p:spPr>
          <a:xfrm>
            <a:off x="606707" y="3662065"/>
            <a:ext cx="2924175" cy="934939"/>
          </a:xfrm>
          <a:prstGeom prst="roundRect">
            <a:avLst>
              <a:gd name="adj" fmla="val 1392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4E3F76-B1AD-3B75-B802-D685C1D24702}"/>
              </a:ext>
            </a:extLst>
          </p:cNvPr>
          <p:cNvSpPr txBox="1"/>
          <p:nvPr/>
        </p:nvSpPr>
        <p:spPr>
          <a:xfrm>
            <a:off x="676364" y="3963830"/>
            <a:ext cx="2714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Claude/Codex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등으로 파트별 추가 생성 등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6E13E4A-E131-347F-EC28-357F931F23BA}"/>
              </a:ext>
            </a:extLst>
          </p:cNvPr>
          <p:cNvSpPr/>
          <p:nvPr/>
        </p:nvSpPr>
        <p:spPr>
          <a:xfrm>
            <a:off x="606707" y="4814590"/>
            <a:ext cx="2924175" cy="934939"/>
          </a:xfrm>
          <a:prstGeom prst="roundRect">
            <a:avLst>
              <a:gd name="adj" fmla="val 1392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C57A21-A0AC-DFAE-C565-24D4A5288487}"/>
              </a:ext>
            </a:extLst>
          </p:cNvPr>
          <p:cNvSpPr txBox="1"/>
          <p:nvPr/>
        </p:nvSpPr>
        <p:spPr>
          <a:xfrm>
            <a:off x="691485" y="5373530"/>
            <a:ext cx="27144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확인 중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35CFD6-AA58-E400-A993-0C7881F5C28E}"/>
              </a:ext>
            </a:extLst>
          </p:cNvPr>
          <p:cNvSpPr txBox="1"/>
          <p:nvPr/>
        </p:nvSpPr>
        <p:spPr>
          <a:xfrm>
            <a:off x="676363" y="1504356"/>
            <a:ext cx="5565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Data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A3838A-6B4B-ACE3-192E-C9059CA735AD}"/>
              </a:ext>
            </a:extLst>
          </p:cNvPr>
          <p:cNvSpPr txBox="1"/>
          <p:nvPr/>
        </p:nvSpPr>
        <p:spPr>
          <a:xfrm>
            <a:off x="762088" y="3694211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Terminal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FBF82E-004E-9465-C1D0-DA837C0FC08F}"/>
              </a:ext>
            </a:extLst>
          </p:cNvPr>
          <p:cNvSpPr txBox="1"/>
          <p:nvPr/>
        </p:nvSpPr>
        <p:spPr>
          <a:xfrm>
            <a:off x="791939" y="499836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A2DD20-B63A-183F-299B-44EC9DB464A5}"/>
              </a:ext>
            </a:extLst>
          </p:cNvPr>
          <p:cNvSpPr txBox="1"/>
          <p:nvPr/>
        </p:nvSpPr>
        <p:spPr>
          <a:xfrm>
            <a:off x="5450949" y="1050579"/>
            <a:ext cx="27606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Parsing(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실시간 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or 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배치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및 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DB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</a:t>
            </a:r>
          </a:p>
        </p:txBody>
      </p:sp>
      <p:sp>
        <p:nvSpPr>
          <p:cNvPr id="26" name="화살표: 왼쪽/오른쪽 25">
            <a:extLst>
              <a:ext uri="{FF2B5EF4-FFF2-40B4-BE49-F238E27FC236}">
                <a16:creationId xmlns:a16="http://schemas.microsoft.com/office/drawing/2014/main" id="{F2193823-F204-1813-76C9-0F5B605C5D16}"/>
              </a:ext>
            </a:extLst>
          </p:cNvPr>
          <p:cNvSpPr/>
          <p:nvPr/>
        </p:nvSpPr>
        <p:spPr>
          <a:xfrm>
            <a:off x="3680907" y="2684813"/>
            <a:ext cx="1663279" cy="2326572"/>
          </a:xfrm>
          <a:prstGeom prst="leftRightArrow">
            <a:avLst>
              <a:gd name="adj1" fmla="val 70470"/>
              <a:gd name="adj2" fmla="val 13758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B3C3A1-5618-A8E5-05A5-2F119F053DD7}"/>
              </a:ext>
            </a:extLst>
          </p:cNvPr>
          <p:cNvSpPr txBox="1"/>
          <p:nvPr/>
        </p:nvSpPr>
        <p:spPr>
          <a:xfrm>
            <a:off x="3806263" y="3609428"/>
            <a:ext cx="141256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데이터항목</a:t>
            </a:r>
            <a:endParaRPr lang="en-US" altLang="ko-KR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관계</a:t>
            </a:r>
            <a:endParaRPr lang="en-US" altLang="ko-KR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JSON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포맷 정의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269291-EB94-2A6A-B39B-1B2E91FA9CE4}"/>
              </a:ext>
            </a:extLst>
          </p:cNvPr>
          <p:cNvSpPr txBox="1"/>
          <p:nvPr/>
        </p:nvSpPr>
        <p:spPr>
          <a:xfrm>
            <a:off x="4083445" y="3177898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협의사항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3B067E-2E37-E7B2-CFC2-3B8969BD98B6}"/>
              </a:ext>
            </a:extLst>
          </p:cNvPr>
          <p:cNvSpPr txBox="1"/>
          <p:nvPr/>
        </p:nvSpPr>
        <p:spPr>
          <a:xfrm>
            <a:off x="1537416" y="6015256"/>
            <a:ext cx="872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R&amp;D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담당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BC0865-D02C-EC6B-110A-3EEBD9ACFDFA}"/>
              </a:ext>
            </a:extLst>
          </p:cNvPr>
          <p:cNvSpPr txBox="1"/>
          <p:nvPr/>
        </p:nvSpPr>
        <p:spPr>
          <a:xfrm>
            <a:off x="7718914" y="6015256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GenAI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담당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D9835CF-926E-F27C-69C5-FB584C381D85}"/>
              </a:ext>
            </a:extLst>
          </p:cNvPr>
          <p:cNvCxnSpPr/>
          <p:nvPr/>
        </p:nvCxnSpPr>
        <p:spPr>
          <a:xfrm>
            <a:off x="676363" y="5920064"/>
            <a:ext cx="1081078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2F974CA-9D13-DBE2-922A-FCC18E6158CB}"/>
              </a:ext>
            </a:extLst>
          </p:cNvPr>
          <p:cNvSpPr txBox="1"/>
          <p:nvPr/>
        </p:nvSpPr>
        <p:spPr>
          <a:xfrm>
            <a:off x="5835517" y="1785939"/>
            <a:ext cx="431813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1. JSON 사전 파일을 읽어 메모리에 캐시</a:t>
            </a: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2. 검색할 때 모든 </a:t>
            </a:r>
            <a:r>
              <a:rPr lang="ko-KR" altLang="en-US" sz="12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소재·제품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항목을 순회</a:t>
            </a: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3. </a:t>
            </a:r>
            <a:r>
              <a:rPr lang="ko-KR" altLang="en-US" sz="12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ID·한글명·영문명·동의어·설명에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검색어가 포함되는지 확인</a:t>
            </a:r>
            <a:endParaRPr lang="en-US" altLang="ko-KR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4. 아래 점수를 합산하고 상위 20개를 반환합니다.</a:t>
            </a: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조건                           가산점</a:t>
            </a: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━━━━━━━━━━━━━━━━━━━━━━━━━━━━</a:t>
            </a: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ID 또는 이름 정확 일치            100</a:t>
            </a: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동의어 정확 일치                       80</a:t>
            </a: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또는 이름에 검색어 포함         50</a:t>
            </a: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설명에 검색어 포함                      5</a:t>
            </a:r>
          </a:p>
          <a:p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강철 검색 시 </a:t>
            </a:r>
            <a:r>
              <a:rPr lang="ko-KR" altLang="en-US" sz="12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steel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항목       추가 40</a:t>
            </a:r>
          </a:p>
        </p:txBody>
      </p:sp>
      <p:sp>
        <p:nvSpPr>
          <p:cNvPr id="43" name="자유형: 도형 42">
            <a:extLst>
              <a:ext uri="{FF2B5EF4-FFF2-40B4-BE49-F238E27FC236}">
                <a16:creationId xmlns:a16="http://schemas.microsoft.com/office/drawing/2014/main" id="{66453398-FAA9-B527-4ED0-7206A7E89BD9}"/>
              </a:ext>
            </a:extLst>
          </p:cNvPr>
          <p:cNvSpPr/>
          <p:nvPr/>
        </p:nvSpPr>
        <p:spPr>
          <a:xfrm>
            <a:off x="10172700" y="2806542"/>
            <a:ext cx="133350" cy="2314575"/>
          </a:xfrm>
          <a:custGeom>
            <a:avLst/>
            <a:gdLst>
              <a:gd name="csX0" fmla="*/ 9525 w 133350"/>
              <a:gd name="csY0" fmla="*/ 0 h 2314575"/>
              <a:gd name="csX1" fmla="*/ 133350 w 133350"/>
              <a:gd name="csY1" fmla="*/ 123825 h 2314575"/>
              <a:gd name="csX2" fmla="*/ 133350 w 133350"/>
              <a:gd name="csY2" fmla="*/ 2181225 h 2314575"/>
              <a:gd name="csX3" fmla="*/ 0 w 133350"/>
              <a:gd name="csY3" fmla="*/ 2314575 h 23145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3350" h="2314575">
                <a:moveTo>
                  <a:pt x="9525" y="0"/>
                </a:moveTo>
                <a:lnTo>
                  <a:pt x="133350" y="123825"/>
                </a:lnTo>
                <a:lnTo>
                  <a:pt x="133350" y="2181225"/>
                </a:lnTo>
                <a:lnTo>
                  <a:pt x="0" y="2314575"/>
                </a:lnTo>
              </a:path>
            </a:pathLst>
          </a:cu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B54279-C80A-B90E-7940-5CCAE7E447D1}"/>
              </a:ext>
            </a:extLst>
          </p:cNvPr>
          <p:cNvSpPr txBox="1"/>
          <p:nvPr/>
        </p:nvSpPr>
        <p:spPr>
          <a:xfrm>
            <a:off x="10398125" y="3428525"/>
            <a:ext cx="14663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우선순위별 개발효율에 따라 선택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조합 가능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21C3B7-685B-6EF8-5027-09326C6E447F}"/>
              </a:ext>
            </a:extLst>
          </p:cNvPr>
          <p:cNvSpPr txBox="1"/>
          <p:nvPr/>
        </p:nvSpPr>
        <p:spPr>
          <a:xfrm>
            <a:off x="5762492" y="4775781"/>
            <a:ext cx="4318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배치로 </a:t>
            </a:r>
            <a:r>
              <a:rPr lang="en-US" altLang="ko-KR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DB </a:t>
            </a: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테이블 파싱</a:t>
            </a:r>
            <a:endParaRPr lang="en-US" altLang="ko-KR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우선순위에 따른 검색 수행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A462F6E-3A1C-A11F-A2FD-B656C9D5370C}"/>
              </a:ext>
            </a:extLst>
          </p:cNvPr>
          <p:cNvSpPr/>
          <p:nvPr/>
        </p:nvSpPr>
        <p:spPr>
          <a:xfrm rot="2063396">
            <a:off x="8942318" y="1527233"/>
            <a:ext cx="1454795" cy="453776"/>
          </a:xfrm>
          <a:custGeom>
            <a:avLst/>
            <a:gdLst>
              <a:gd name="csX0" fmla="*/ 0 w 1454795"/>
              <a:gd name="csY0" fmla="*/ 75631 h 453776"/>
              <a:gd name="csX1" fmla="*/ 75631 w 1454795"/>
              <a:gd name="csY1" fmla="*/ 0 h 453776"/>
              <a:gd name="csX2" fmla="*/ 727398 w 1454795"/>
              <a:gd name="csY2" fmla="*/ 0 h 453776"/>
              <a:gd name="csX3" fmla="*/ 1379164 w 1454795"/>
              <a:gd name="csY3" fmla="*/ 0 h 453776"/>
              <a:gd name="csX4" fmla="*/ 1454795 w 1454795"/>
              <a:gd name="csY4" fmla="*/ 75631 h 453776"/>
              <a:gd name="csX5" fmla="*/ 1454795 w 1454795"/>
              <a:gd name="csY5" fmla="*/ 378145 h 453776"/>
              <a:gd name="csX6" fmla="*/ 1379164 w 1454795"/>
              <a:gd name="csY6" fmla="*/ 453776 h 453776"/>
              <a:gd name="csX7" fmla="*/ 714362 w 1454795"/>
              <a:gd name="csY7" fmla="*/ 453776 h 453776"/>
              <a:gd name="csX8" fmla="*/ 75631 w 1454795"/>
              <a:gd name="csY8" fmla="*/ 453776 h 453776"/>
              <a:gd name="csX9" fmla="*/ 0 w 1454795"/>
              <a:gd name="csY9" fmla="*/ 378145 h 453776"/>
              <a:gd name="csX10" fmla="*/ 0 w 1454795"/>
              <a:gd name="csY10" fmla="*/ 75631 h 4537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454795" h="453776" fill="none" extrusionOk="0">
                <a:moveTo>
                  <a:pt x="0" y="75631"/>
                </a:moveTo>
                <a:cubicBezTo>
                  <a:pt x="2433" y="36841"/>
                  <a:pt x="36550" y="-2355"/>
                  <a:pt x="75631" y="0"/>
                </a:cubicBezTo>
                <a:cubicBezTo>
                  <a:pt x="240394" y="-26854"/>
                  <a:pt x="459318" y="-2895"/>
                  <a:pt x="727398" y="0"/>
                </a:cubicBezTo>
                <a:cubicBezTo>
                  <a:pt x="995478" y="2895"/>
                  <a:pt x="1135843" y="3422"/>
                  <a:pt x="1379164" y="0"/>
                </a:cubicBezTo>
                <a:cubicBezTo>
                  <a:pt x="1419856" y="-2198"/>
                  <a:pt x="1455560" y="23520"/>
                  <a:pt x="1454795" y="75631"/>
                </a:cubicBezTo>
                <a:cubicBezTo>
                  <a:pt x="1464850" y="157403"/>
                  <a:pt x="1455082" y="230555"/>
                  <a:pt x="1454795" y="378145"/>
                </a:cubicBezTo>
                <a:cubicBezTo>
                  <a:pt x="1452464" y="420011"/>
                  <a:pt x="1421847" y="452131"/>
                  <a:pt x="1379164" y="453776"/>
                </a:cubicBezTo>
                <a:cubicBezTo>
                  <a:pt x="1215229" y="478149"/>
                  <a:pt x="1008421" y="479276"/>
                  <a:pt x="714362" y="453776"/>
                </a:cubicBezTo>
                <a:cubicBezTo>
                  <a:pt x="420303" y="428276"/>
                  <a:pt x="254545" y="430242"/>
                  <a:pt x="75631" y="453776"/>
                </a:cubicBezTo>
                <a:cubicBezTo>
                  <a:pt x="33514" y="444427"/>
                  <a:pt x="10058" y="422012"/>
                  <a:pt x="0" y="378145"/>
                </a:cubicBezTo>
                <a:cubicBezTo>
                  <a:pt x="-7371" y="227052"/>
                  <a:pt x="-14039" y="223369"/>
                  <a:pt x="0" y="75631"/>
                </a:cubicBezTo>
                <a:close/>
              </a:path>
              <a:path w="1454795" h="453776" stroke="0" extrusionOk="0">
                <a:moveTo>
                  <a:pt x="0" y="75631"/>
                </a:moveTo>
                <a:cubicBezTo>
                  <a:pt x="-2163" y="32527"/>
                  <a:pt x="26594" y="2727"/>
                  <a:pt x="75631" y="0"/>
                </a:cubicBezTo>
                <a:cubicBezTo>
                  <a:pt x="309115" y="15553"/>
                  <a:pt x="578089" y="-14959"/>
                  <a:pt x="753468" y="0"/>
                </a:cubicBezTo>
                <a:cubicBezTo>
                  <a:pt x="928847" y="14959"/>
                  <a:pt x="1107294" y="16017"/>
                  <a:pt x="1379164" y="0"/>
                </a:cubicBezTo>
                <a:cubicBezTo>
                  <a:pt x="1415788" y="-2815"/>
                  <a:pt x="1462145" y="37373"/>
                  <a:pt x="1454795" y="75631"/>
                </a:cubicBezTo>
                <a:cubicBezTo>
                  <a:pt x="1464054" y="161519"/>
                  <a:pt x="1460522" y="291593"/>
                  <a:pt x="1454795" y="378145"/>
                </a:cubicBezTo>
                <a:cubicBezTo>
                  <a:pt x="1458093" y="414548"/>
                  <a:pt x="1417282" y="456985"/>
                  <a:pt x="1379164" y="453776"/>
                </a:cubicBezTo>
                <a:cubicBezTo>
                  <a:pt x="1102613" y="465314"/>
                  <a:pt x="919736" y="465909"/>
                  <a:pt x="727398" y="453776"/>
                </a:cubicBezTo>
                <a:cubicBezTo>
                  <a:pt x="535060" y="441643"/>
                  <a:pt x="376787" y="477289"/>
                  <a:pt x="75631" y="453776"/>
                </a:cubicBezTo>
                <a:cubicBezTo>
                  <a:pt x="27981" y="453440"/>
                  <a:pt x="2235" y="413786"/>
                  <a:pt x="0" y="378145"/>
                </a:cubicBezTo>
                <a:cubicBezTo>
                  <a:pt x="14433" y="257183"/>
                  <a:pt x="-10321" y="173806"/>
                  <a:pt x="0" y="75631"/>
                </a:cubicBezTo>
                <a:close/>
              </a:path>
            </a:pathLst>
          </a:custGeom>
          <a:solidFill>
            <a:schemeClr val="bg1">
              <a:alpha val="98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재개발</a:t>
            </a:r>
            <a:r>
              <a:rPr lang="en-US" altLang="ko-KR" sz="12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/</a:t>
            </a:r>
            <a:r>
              <a:rPr lang="ko-KR" altLang="en-US" sz="12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수정 필요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D68D41E-52CB-48CD-62BC-AC18667F5336}"/>
              </a:ext>
            </a:extLst>
          </p:cNvPr>
          <p:cNvSpPr/>
          <p:nvPr/>
        </p:nvSpPr>
        <p:spPr>
          <a:xfrm rot="2063396">
            <a:off x="8850244" y="4750487"/>
            <a:ext cx="1454795" cy="453776"/>
          </a:xfrm>
          <a:custGeom>
            <a:avLst/>
            <a:gdLst>
              <a:gd name="csX0" fmla="*/ 0 w 1454795"/>
              <a:gd name="csY0" fmla="*/ 75631 h 453776"/>
              <a:gd name="csX1" fmla="*/ 75631 w 1454795"/>
              <a:gd name="csY1" fmla="*/ 0 h 453776"/>
              <a:gd name="csX2" fmla="*/ 727398 w 1454795"/>
              <a:gd name="csY2" fmla="*/ 0 h 453776"/>
              <a:gd name="csX3" fmla="*/ 1379164 w 1454795"/>
              <a:gd name="csY3" fmla="*/ 0 h 453776"/>
              <a:gd name="csX4" fmla="*/ 1454795 w 1454795"/>
              <a:gd name="csY4" fmla="*/ 75631 h 453776"/>
              <a:gd name="csX5" fmla="*/ 1454795 w 1454795"/>
              <a:gd name="csY5" fmla="*/ 378145 h 453776"/>
              <a:gd name="csX6" fmla="*/ 1379164 w 1454795"/>
              <a:gd name="csY6" fmla="*/ 453776 h 453776"/>
              <a:gd name="csX7" fmla="*/ 714362 w 1454795"/>
              <a:gd name="csY7" fmla="*/ 453776 h 453776"/>
              <a:gd name="csX8" fmla="*/ 75631 w 1454795"/>
              <a:gd name="csY8" fmla="*/ 453776 h 453776"/>
              <a:gd name="csX9" fmla="*/ 0 w 1454795"/>
              <a:gd name="csY9" fmla="*/ 378145 h 453776"/>
              <a:gd name="csX10" fmla="*/ 0 w 1454795"/>
              <a:gd name="csY10" fmla="*/ 75631 h 4537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454795" h="453776" fill="none" extrusionOk="0">
                <a:moveTo>
                  <a:pt x="0" y="75631"/>
                </a:moveTo>
                <a:cubicBezTo>
                  <a:pt x="2433" y="36841"/>
                  <a:pt x="36550" y="-2355"/>
                  <a:pt x="75631" y="0"/>
                </a:cubicBezTo>
                <a:cubicBezTo>
                  <a:pt x="240394" y="-26854"/>
                  <a:pt x="459318" y="-2895"/>
                  <a:pt x="727398" y="0"/>
                </a:cubicBezTo>
                <a:cubicBezTo>
                  <a:pt x="995478" y="2895"/>
                  <a:pt x="1135843" y="3422"/>
                  <a:pt x="1379164" y="0"/>
                </a:cubicBezTo>
                <a:cubicBezTo>
                  <a:pt x="1419856" y="-2198"/>
                  <a:pt x="1455560" y="23520"/>
                  <a:pt x="1454795" y="75631"/>
                </a:cubicBezTo>
                <a:cubicBezTo>
                  <a:pt x="1464850" y="157403"/>
                  <a:pt x="1455082" y="230555"/>
                  <a:pt x="1454795" y="378145"/>
                </a:cubicBezTo>
                <a:cubicBezTo>
                  <a:pt x="1452464" y="420011"/>
                  <a:pt x="1421847" y="452131"/>
                  <a:pt x="1379164" y="453776"/>
                </a:cubicBezTo>
                <a:cubicBezTo>
                  <a:pt x="1215229" y="478149"/>
                  <a:pt x="1008421" y="479276"/>
                  <a:pt x="714362" y="453776"/>
                </a:cubicBezTo>
                <a:cubicBezTo>
                  <a:pt x="420303" y="428276"/>
                  <a:pt x="254545" y="430242"/>
                  <a:pt x="75631" y="453776"/>
                </a:cubicBezTo>
                <a:cubicBezTo>
                  <a:pt x="33514" y="444427"/>
                  <a:pt x="10058" y="422012"/>
                  <a:pt x="0" y="378145"/>
                </a:cubicBezTo>
                <a:cubicBezTo>
                  <a:pt x="-7371" y="227052"/>
                  <a:pt x="-14039" y="223369"/>
                  <a:pt x="0" y="75631"/>
                </a:cubicBezTo>
                <a:close/>
              </a:path>
              <a:path w="1454795" h="453776" stroke="0" extrusionOk="0">
                <a:moveTo>
                  <a:pt x="0" y="75631"/>
                </a:moveTo>
                <a:cubicBezTo>
                  <a:pt x="-2163" y="32527"/>
                  <a:pt x="26594" y="2727"/>
                  <a:pt x="75631" y="0"/>
                </a:cubicBezTo>
                <a:cubicBezTo>
                  <a:pt x="309115" y="15553"/>
                  <a:pt x="578089" y="-14959"/>
                  <a:pt x="753468" y="0"/>
                </a:cubicBezTo>
                <a:cubicBezTo>
                  <a:pt x="928847" y="14959"/>
                  <a:pt x="1107294" y="16017"/>
                  <a:pt x="1379164" y="0"/>
                </a:cubicBezTo>
                <a:cubicBezTo>
                  <a:pt x="1415788" y="-2815"/>
                  <a:pt x="1462145" y="37373"/>
                  <a:pt x="1454795" y="75631"/>
                </a:cubicBezTo>
                <a:cubicBezTo>
                  <a:pt x="1464054" y="161519"/>
                  <a:pt x="1460522" y="291593"/>
                  <a:pt x="1454795" y="378145"/>
                </a:cubicBezTo>
                <a:cubicBezTo>
                  <a:pt x="1458093" y="414548"/>
                  <a:pt x="1417282" y="456985"/>
                  <a:pt x="1379164" y="453776"/>
                </a:cubicBezTo>
                <a:cubicBezTo>
                  <a:pt x="1102613" y="465314"/>
                  <a:pt x="919736" y="465909"/>
                  <a:pt x="727398" y="453776"/>
                </a:cubicBezTo>
                <a:cubicBezTo>
                  <a:pt x="535060" y="441643"/>
                  <a:pt x="376787" y="477289"/>
                  <a:pt x="75631" y="453776"/>
                </a:cubicBezTo>
                <a:cubicBezTo>
                  <a:pt x="27981" y="453440"/>
                  <a:pt x="2235" y="413786"/>
                  <a:pt x="0" y="378145"/>
                </a:cubicBezTo>
                <a:cubicBezTo>
                  <a:pt x="14433" y="257183"/>
                  <a:pt x="-10321" y="173806"/>
                  <a:pt x="0" y="75631"/>
                </a:cubicBezTo>
                <a:close/>
              </a:path>
            </a:pathLst>
          </a:custGeom>
          <a:solidFill>
            <a:schemeClr val="bg1">
              <a:alpha val="98000"/>
            </a:schemeClr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파싱개발</a:t>
            </a:r>
            <a:r>
              <a:rPr lang="en-US" altLang="ko-KR" sz="12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/</a:t>
            </a:r>
            <a:r>
              <a:rPr lang="ko-KR" altLang="en-US" sz="12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수정 필요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4490D2-BA0E-BF04-16C2-19885018E0B5}"/>
              </a:ext>
            </a:extLst>
          </p:cNvPr>
          <p:cNvSpPr txBox="1"/>
          <p:nvPr/>
        </p:nvSpPr>
        <p:spPr>
          <a:xfrm>
            <a:off x="-5140010" y="-1246247"/>
            <a:ext cx="5066615" cy="39703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LLM Wiki(</a:t>
            </a:r>
            <a:r>
              <a:rPr lang="ko-KR" altLang="en-US" dirty="0"/>
              <a:t>사전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G </a:t>
            </a:r>
            <a:r>
              <a:rPr lang="ko-KR" altLang="en-US" dirty="0"/>
              <a:t>램프</a:t>
            </a:r>
            <a:endParaRPr lang="en-US" altLang="ko-KR" dirty="0"/>
          </a:p>
          <a:p>
            <a:r>
              <a:rPr lang="en-US" altLang="ko-KR" dirty="0"/>
              <a:t>(technology)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Poly~~~</a:t>
            </a:r>
          </a:p>
          <a:p>
            <a:endParaRPr lang="en-US" altLang="ko-KR" dirty="0"/>
          </a:p>
          <a:p>
            <a:r>
              <a:rPr lang="ko-KR" altLang="en-US" dirty="0"/>
              <a:t>표준물질명 </a:t>
            </a:r>
            <a:r>
              <a:rPr lang="en-US" altLang="ko-KR" dirty="0" err="1"/>
              <a:t>tennoloy</a:t>
            </a:r>
            <a:endParaRPr lang="en-US" altLang="ko-KR" dirty="0"/>
          </a:p>
          <a:p>
            <a:r>
              <a:rPr lang="en-US" altLang="ko-KR" dirty="0"/>
              <a:t>         : (</a:t>
            </a:r>
            <a:r>
              <a:rPr lang="en-US" altLang="ko-KR" dirty="0" err="1"/>
              <a:t>uppser</a:t>
            </a:r>
            <a:r>
              <a:rPr lang="en-US" altLang="ko-KR" dirty="0"/>
              <a:t>:</a:t>
            </a:r>
            <a:r>
              <a:rPr lang="ko-KR" altLang="en-US" dirty="0"/>
              <a:t> 상위</a:t>
            </a:r>
            <a:r>
              <a:rPr lang="en-US" altLang="ko-KR" dirty="0"/>
              <a:t>_</a:t>
            </a:r>
          </a:p>
          <a:p>
            <a:r>
              <a:rPr lang="ko-KR" altLang="en-US" dirty="0"/>
              <a:t>           </a:t>
            </a:r>
            <a:r>
              <a:rPr lang="ko-KR" altLang="en-US" dirty="0" err="1"/>
              <a:t>하위어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           유사어 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           약어</a:t>
            </a:r>
            <a:r>
              <a:rPr lang="en-US" altLang="ko-KR" dirty="0"/>
              <a:t>: PP</a:t>
            </a:r>
          </a:p>
          <a:p>
            <a:r>
              <a:rPr lang="ko-KR" altLang="en-US" dirty="0"/>
              <a:t>           관용어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           </a:t>
            </a:r>
            <a:r>
              <a:rPr lang="ko-KR" altLang="en-US" dirty="0" err="1"/>
              <a:t>한글어</a:t>
            </a:r>
            <a:endParaRPr lang="en-US" altLang="ko-KR" dirty="0"/>
          </a:p>
          <a:p>
            <a:r>
              <a:rPr lang="ko-KR" altLang="en-US" dirty="0"/>
              <a:t>          대체물질명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표준물질명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  <a:r>
              <a:rPr lang="en-US" altLang="ko-KR" dirty="0" err="1"/>
              <a:t>tennoloy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이상한명칭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/>
              <a:t>표준물질명</a:t>
            </a:r>
            <a:r>
              <a:rPr lang="en-US" altLang="ko-KR" dirty="0"/>
              <a:t>(</a:t>
            </a:r>
            <a:r>
              <a:rPr lang="ko-KR" altLang="en-US" dirty="0"/>
              <a:t>띄어쓰기</a:t>
            </a:r>
            <a:r>
              <a:rPr lang="en-US" altLang="ko-KR" dirty="0"/>
              <a:t>, comma, </a:t>
            </a:r>
            <a:r>
              <a:rPr lang="ko-KR" altLang="en-US" dirty="0"/>
              <a:t>역순</a:t>
            </a:r>
            <a:r>
              <a:rPr lang="en-US" altLang="ko-KR" dirty="0"/>
              <a:t>/</a:t>
            </a:r>
            <a:r>
              <a:rPr lang="ko-KR" altLang="en-US" dirty="0"/>
              <a:t>대소문자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6E9D2C-4AB6-1A9B-4377-4B696B1223C9}"/>
              </a:ext>
            </a:extLst>
          </p:cNvPr>
          <p:cNvSpPr txBox="1"/>
          <p:nvPr/>
        </p:nvSpPr>
        <p:spPr>
          <a:xfrm>
            <a:off x="-5156849" y="2847768"/>
            <a:ext cx="5066615" cy="44012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Bridge (</a:t>
            </a:r>
            <a:r>
              <a:rPr lang="ko-KR" altLang="en-US" dirty="0"/>
              <a:t>매핑키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 err="1"/>
              <a:t>Ref_id</a:t>
            </a:r>
            <a:r>
              <a:rPr lang="en-US" altLang="ko-KR" dirty="0"/>
              <a:t> </a:t>
            </a:r>
            <a:r>
              <a:rPr lang="ko-KR" altLang="en-US" dirty="0"/>
              <a:t>해당되는 </a:t>
            </a:r>
            <a:r>
              <a:rPr lang="ko-KR" altLang="en-US" dirty="0" err="1"/>
              <a:t>물질명</a:t>
            </a:r>
            <a:r>
              <a:rPr lang="en-US" altLang="ko-KR" dirty="0"/>
              <a:t>(18</a:t>
            </a:r>
            <a:r>
              <a:rPr lang="ko-KR" altLang="en-US" dirty="0" err="1"/>
              <a:t>천여개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 </a:t>
            </a:r>
            <a:r>
              <a:rPr lang="ko-KR" altLang="en-US" dirty="0"/>
              <a:t>램프</a:t>
            </a:r>
            <a:endParaRPr lang="en-US" altLang="ko-KR" dirty="0"/>
          </a:p>
          <a:p>
            <a:r>
              <a:rPr lang="ko-KR" altLang="en-US" dirty="0" err="1"/>
              <a:t>물질명중에서</a:t>
            </a:r>
            <a:r>
              <a:rPr lang="ko-KR" altLang="en-US" dirty="0"/>
              <a:t> </a:t>
            </a:r>
            <a:r>
              <a:rPr lang="en-US" altLang="ko-KR" dirty="0"/>
              <a:t>G</a:t>
            </a:r>
            <a:r>
              <a:rPr lang="ko-KR" altLang="en-US" dirty="0" err="1"/>
              <a:t>램프랑</a:t>
            </a:r>
            <a:r>
              <a:rPr lang="ko-KR" altLang="en-US" dirty="0"/>
              <a:t> </a:t>
            </a:r>
            <a:r>
              <a:rPr lang="ko-KR" altLang="en-US" dirty="0" err="1"/>
              <a:t>관련있는</a:t>
            </a:r>
            <a:r>
              <a:rPr lang="ko-KR" altLang="en-US" dirty="0"/>
              <a:t> 물질 </a:t>
            </a:r>
            <a:r>
              <a:rPr lang="ko-KR" altLang="en-US" dirty="0" err="1"/>
              <a:t>다찾아낼</a:t>
            </a:r>
            <a:endParaRPr lang="en-US" altLang="ko-KR" dirty="0"/>
          </a:p>
          <a:p>
            <a:r>
              <a:rPr lang="en-US" altLang="ko-KR" dirty="0"/>
              <a:t>80</a:t>
            </a:r>
            <a:r>
              <a:rPr lang="ko-KR" altLang="en-US" dirty="0"/>
              <a:t>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 </a:t>
            </a:r>
            <a:r>
              <a:rPr lang="ko-KR" altLang="en-US" dirty="0"/>
              <a:t>미러</a:t>
            </a:r>
            <a:endParaRPr lang="en-US" altLang="ko-KR" dirty="0"/>
          </a:p>
          <a:p>
            <a:r>
              <a:rPr lang="ko-KR" altLang="en-US" dirty="0" err="1"/>
              <a:t>물질명중에서</a:t>
            </a:r>
            <a:r>
              <a:rPr lang="ko-KR" altLang="en-US" dirty="0"/>
              <a:t> </a:t>
            </a:r>
            <a:r>
              <a:rPr lang="en-US" altLang="ko-KR" dirty="0"/>
              <a:t>G</a:t>
            </a:r>
            <a:r>
              <a:rPr lang="ko-KR" altLang="en-US" dirty="0" err="1"/>
              <a:t>램프랑</a:t>
            </a:r>
            <a:r>
              <a:rPr lang="ko-KR" altLang="en-US" dirty="0"/>
              <a:t> </a:t>
            </a:r>
            <a:r>
              <a:rPr lang="ko-KR" altLang="en-US" dirty="0" err="1"/>
              <a:t>관련있는</a:t>
            </a:r>
            <a:r>
              <a:rPr lang="ko-KR" altLang="en-US" dirty="0"/>
              <a:t> 물질 </a:t>
            </a:r>
            <a:r>
              <a:rPr lang="ko-KR" altLang="en-US" dirty="0" err="1"/>
              <a:t>다찾아낼</a:t>
            </a:r>
            <a:endParaRPr lang="en-US" altLang="ko-KR" dirty="0"/>
          </a:p>
          <a:p>
            <a:r>
              <a:rPr lang="en-US" altLang="ko-KR" dirty="0"/>
              <a:t>50</a:t>
            </a:r>
            <a:r>
              <a:rPr lang="ko-KR" altLang="en-US" dirty="0"/>
              <a:t>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아무것도 </a:t>
            </a:r>
            <a:r>
              <a:rPr lang="ko-KR" altLang="en-US" dirty="0" err="1"/>
              <a:t>없는것</a:t>
            </a:r>
            <a:r>
              <a:rPr lang="en-US" altLang="ko-KR" dirty="0"/>
              <a:t>, production, market for, treatment of</a:t>
            </a:r>
          </a:p>
          <a:p>
            <a:endParaRPr lang="en-US" altLang="ko-KR" dirty="0"/>
          </a:p>
          <a:p>
            <a:r>
              <a:rPr lang="ko-KR" altLang="en-US" dirty="0"/>
              <a:t>동일한 물질 </a:t>
            </a:r>
            <a:r>
              <a:rPr lang="en-US" altLang="ko-KR" dirty="0"/>
              <a:t>=</a:t>
            </a:r>
            <a:r>
              <a:rPr lang="en-US" altLang="ko-KR" dirty="0">
                <a:sym typeface="Wingdings" panose="05000000000000000000" pitchFamily="2" charset="2"/>
              </a:rPr>
              <a:t> production, market for  bridge</a:t>
            </a:r>
            <a:r>
              <a:rPr lang="ko-KR" altLang="en-US" dirty="0">
                <a:sym typeface="Wingdings" panose="05000000000000000000" pitchFamily="2" charset="2"/>
              </a:rPr>
              <a:t>에서 걸러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G </a:t>
            </a:r>
            <a:r>
              <a:rPr lang="ko-KR" altLang="en-US" dirty="0">
                <a:sym typeface="Wingdings" panose="05000000000000000000" pitchFamily="2" charset="2"/>
              </a:rPr>
              <a:t>램프 표준물리명 </a:t>
            </a:r>
            <a:r>
              <a:rPr lang="en-US" altLang="ko-KR" dirty="0" err="1">
                <a:sym typeface="Wingdings" panose="05000000000000000000" pitchFamily="2" charset="2"/>
              </a:rPr>
              <a:t>ref_id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 err="1">
                <a:sym typeface="Wingdings" panose="05000000000000000000" pitchFamily="2" charset="2"/>
              </a:rPr>
              <a:t>lci_ref_id</a:t>
            </a:r>
            <a:r>
              <a:rPr lang="ko-KR" altLang="en-US" dirty="0">
                <a:sym typeface="Wingdings" panose="05000000000000000000" pitchFamily="2" charset="2"/>
              </a:rPr>
              <a:t>단위로 </a:t>
            </a:r>
            <a:r>
              <a:rPr lang="en-US" altLang="ko-KR" dirty="0">
                <a:sym typeface="Wingdings" panose="05000000000000000000" pitchFamily="2" charset="2"/>
              </a:rPr>
              <a:t>unit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지역</a:t>
            </a:r>
            <a:r>
              <a:rPr lang="en-US" altLang="ko-KR" dirty="0">
                <a:sym typeface="Wingdings" panose="05000000000000000000" pitchFamily="2" charset="2"/>
              </a:rPr>
              <a:t>,, …</a:t>
            </a: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2D225C-86CF-E5A1-DF41-9485B798C4B0}"/>
              </a:ext>
            </a:extLst>
          </p:cNvPr>
          <p:cNvSpPr txBox="1"/>
          <p:nvPr/>
        </p:nvSpPr>
        <p:spPr>
          <a:xfrm>
            <a:off x="1537416" y="7118232"/>
            <a:ext cx="8128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G </a:t>
            </a:r>
            <a:r>
              <a:rPr lang="ko-KR" altLang="en-US" dirty="0"/>
              <a:t>램프</a:t>
            </a:r>
            <a:endParaRPr lang="en-US" altLang="ko-KR" dirty="0"/>
          </a:p>
          <a:p>
            <a:r>
              <a:rPr lang="en-US" altLang="ko-KR" sz="1400" dirty="0">
                <a:solidFill>
                  <a:srgbClr val="FF0000"/>
                </a:solidFill>
              </a:rPr>
              <a:t>Pp </a:t>
            </a:r>
            <a:r>
              <a:rPr lang="en-US" altLang="ko-KR" sz="1400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en-US" altLang="ko-KR" sz="1400" dirty="0">
                <a:solidFill>
                  <a:srgbClr val="FF0000"/>
                </a:solidFill>
              </a:rPr>
              <a:t>Poly</a:t>
            </a:r>
            <a:r>
              <a:rPr lang="en-US" altLang="ko-KR" sz="1400" dirty="0"/>
              <a:t>~~~  </a:t>
            </a:r>
            <a:r>
              <a:rPr lang="en-US" altLang="ko-KR" sz="1400" dirty="0">
                <a:sym typeface="Wingdings" panose="05000000000000000000" pitchFamily="2" charset="2"/>
              </a:rPr>
              <a:t> poly~~ (</a:t>
            </a:r>
            <a:r>
              <a:rPr lang="en-US" altLang="ko-KR" sz="1400" dirty="0" err="1">
                <a:sym typeface="Wingdings" panose="05000000000000000000" pitchFamily="2" charset="2"/>
              </a:rPr>
              <a:t>ref_id</a:t>
            </a:r>
            <a:r>
              <a:rPr lang="en-US" altLang="ko-KR" sz="1400" dirty="0">
                <a:sym typeface="Wingdings" panose="05000000000000000000" pitchFamily="2" charset="2"/>
              </a:rPr>
              <a:t> 1034)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sz="1400" dirty="0">
              <a:sym typeface="Wingdings" panose="05000000000000000000" pitchFamily="2" charset="2"/>
            </a:endParaRPr>
          </a:p>
          <a:p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907012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6E9DC-01B7-55E6-3A6A-CEDCE40D8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150C0B5-D4CC-684B-69B2-0899A129D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98043"/>
              </p:ext>
            </p:extLst>
          </p:nvPr>
        </p:nvGraphicFramePr>
        <p:xfrm>
          <a:off x="555095" y="1139472"/>
          <a:ext cx="11208280" cy="2966720"/>
        </p:xfrm>
        <a:graphic>
          <a:graphicData uri="http://schemas.openxmlformats.org/drawingml/2006/table">
            <a:tbl>
              <a:tblPr firstRow="1" bandRow="1">
                <a:tableStyleId>{C1FDD0C3-F311-486D-AA3B-C831FA89247B}</a:tableStyleId>
              </a:tblPr>
              <a:tblGrid>
                <a:gridCol w="2150005">
                  <a:extLst>
                    <a:ext uri="{9D8B030D-6E8A-4147-A177-3AD203B41FA5}">
                      <a16:colId xmlns:a16="http://schemas.microsoft.com/office/drawing/2014/main" val="2287680498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3766162668"/>
                    </a:ext>
                  </a:extLst>
                </a:gridCol>
                <a:gridCol w="4998905">
                  <a:extLst>
                    <a:ext uri="{9D8B030D-6E8A-4147-A177-3AD203B41FA5}">
                      <a16:colId xmlns:a16="http://schemas.microsoft.com/office/drawing/2014/main" val="3237484662"/>
                    </a:ext>
                  </a:extLst>
                </a:gridCol>
                <a:gridCol w="2802070">
                  <a:extLst>
                    <a:ext uri="{9D8B030D-6E8A-4147-A177-3AD203B41FA5}">
                      <a16:colId xmlns:a16="http://schemas.microsoft.com/office/drawing/2014/main" val="413415554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구분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담당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비고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58487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</a:t>
                      </a: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/Bridge/UI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R&amp;D/</a:t>
                      </a:r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오민경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고객사 검증</a:t>
                      </a: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수정 기능 부여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947022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구조</a:t>
                      </a: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/JSO</a:t>
                      </a:r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포맷정의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오민경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323486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비표준 </a:t>
                      </a: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BOM </a:t>
                      </a:r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처리 </a:t>
                      </a: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API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GenAI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998546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매칭</a:t>
                      </a: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API/Workflow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물질명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GenAI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0133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나머지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GenAI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59887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파싱</a:t>
                      </a: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임베딩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GenAI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17594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기존 </a:t>
                      </a:r>
                      <a:r>
                        <a:rPr lang="ko-KR" altLang="en-US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확정매칭</a:t>
                      </a:r>
                      <a:r>
                        <a:rPr lang="ko-KR" altLang="en-US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결과 이력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GenAI</a:t>
                      </a:r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681943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C4ECE6E-D2FB-0406-937D-88027EC55915}"/>
              </a:ext>
            </a:extLst>
          </p:cNvPr>
          <p:cNvSpPr txBox="1"/>
          <p:nvPr/>
        </p:nvSpPr>
        <p:spPr>
          <a:xfrm>
            <a:off x="555095" y="4257675"/>
            <a:ext cx="112082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사전관련 항목을 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DB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로 관리할 경우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고객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UI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개발이 용이하지 않음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(CRUD/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정합성검증 등 필요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항목 </a:t>
            </a:r>
            <a:r>
              <a:rPr lang="ko-KR" altLang="en-US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추가시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난이도 증가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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따라서 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Wiki LLM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의 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key value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방식으로 저장해서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필요한 부분만 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JSON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을 파싱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/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메모리에서 처리하거나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필요시 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DB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에 </a:t>
            </a:r>
            <a:r>
              <a:rPr lang="ko-KR" altLang="en-US" dirty="0" err="1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파싱하는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 방식으로 </a:t>
            </a:r>
            <a:r>
              <a: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workflow</a:t>
            </a:r>
            <a:r>
              <a: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필요</a:t>
            </a:r>
            <a:endParaRPr lang="ko-KR" alt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57E346-19B7-DB0F-8FCF-E95395385B81}"/>
              </a:ext>
            </a:extLst>
          </p:cNvPr>
          <p:cNvSpPr txBox="1"/>
          <p:nvPr/>
        </p:nvSpPr>
        <p:spPr>
          <a:xfrm>
            <a:off x="438615" y="163552"/>
            <a:ext cx="1495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4. R&amp;R (2/2)</a:t>
            </a:r>
            <a:endParaRPr lang="ko-KR" altLang="en-US" sz="18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50B0E9-D262-86DF-6476-65EC4390B715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</p:spTree>
    <p:extLst>
      <p:ext uri="{BB962C8B-B14F-4D97-AF65-F5344CB8AC3E}">
        <p14:creationId xmlns:p14="http://schemas.microsoft.com/office/powerpoint/2010/main" val="3705902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98916" y="1966341"/>
            <a:ext cx="2925318" cy="2925318"/>
          </a:xfrm>
          <a:prstGeom prst="ellipse">
            <a:avLst/>
          </a:prstGeom>
          <a:solidFill>
            <a:srgbClr val="0F2E28"/>
          </a:solidFill>
          <a:ln w="12700">
            <a:solidFill>
              <a:srgbClr val="2FA98C">
                <a:alpha val="45000"/>
              </a:srgbClr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341726" y="2309152"/>
            <a:ext cx="2239697" cy="2239697"/>
          </a:xfrm>
          <a:prstGeom prst="ellipse">
            <a:avLst/>
          </a:prstGeom>
          <a:solidFill>
            <a:srgbClr val="0F2E28"/>
          </a:solidFill>
          <a:ln w="12700">
            <a:solidFill>
              <a:srgbClr val="2FA98C">
                <a:alpha val="45000"/>
              </a:srgbClr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4537" y="2651963"/>
            <a:ext cx="1554075" cy="1554075"/>
          </a:xfrm>
          <a:prstGeom prst="ellipse">
            <a:avLst/>
          </a:prstGeom>
          <a:solidFill>
            <a:srgbClr val="0F2E28"/>
          </a:solidFill>
          <a:ln w="3175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87326" y="3154752"/>
            <a:ext cx="548497" cy="548497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745" y="1966341"/>
            <a:ext cx="5484971" cy="29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spc="200" dirty="0">
                <a:solidFill>
                  <a:srgbClr val="2FA9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조정안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745" y="2377714"/>
            <a:ext cx="7678960" cy="777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3599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dictionary-data  AS-IS / TO-BE</a:t>
            </a:r>
            <a:endParaRPr lang="en-US" sz="35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745" y="3246168"/>
            <a:ext cx="7678960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500" kern="1200" dirty="0">
                <a:solidFill>
                  <a:srgbClr val="BCD4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Wiki 구조 전환 · 파트 단위 증분 생성 · LCI 브리지 분리</a:t>
            </a: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745" y="3886081"/>
            <a:ext cx="2011156" cy="0"/>
          </a:xfrm>
          <a:prstGeom prst="line">
            <a:avLst/>
          </a:prstGeom>
          <a:noFill/>
          <a:ln w="254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745" y="4160329"/>
            <a:ext cx="7678960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250" i="1" kern="1200" dirty="0">
                <a:solidFill>
                  <a:srgbClr val="8FAE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JSON을 유지한 채 concept · 파트 · 브리지를 단계적으로 얹는다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745" y="4983075"/>
            <a:ext cx="1700341" cy="402231"/>
          </a:xfrm>
          <a:prstGeom prst="roundRect">
            <a:avLst>
              <a:gd name="adj" fmla="val 13636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745" y="4983075"/>
            <a:ext cx="1700341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950" kern="1200" dirty="0">
                <a:solidFill>
                  <a:srgbClr val="9C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사전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669352" y="4983075"/>
            <a:ext cx="1700341" cy="402231"/>
          </a:xfrm>
          <a:prstGeom prst="roundRect">
            <a:avLst>
              <a:gd name="adj" fmla="val 13636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669352" y="4983075"/>
            <a:ext cx="1700341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950" kern="1200" dirty="0">
                <a:solidFill>
                  <a:srgbClr val="9C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 프로파일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15959" y="4983075"/>
            <a:ext cx="1700341" cy="402231"/>
          </a:xfrm>
          <a:prstGeom prst="roundRect">
            <a:avLst>
              <a:gd name="adj" fmla="val 13636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15959" y="4983075"/>
            <a:ext cx="1700341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950" kern="1200" dirty="0">
                <a:solidFill>
                  <a:srgbClr val="9C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LCI 브리지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62566" y="4983075"/>
            <a:ext cx="1700341" cy="402231"/>
          </a:xfrm>
          <a:prstGeom prst="roundRect">
            <a:avLst>
              <a:gd name="adj" fmla="val 13636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362566" y="4983075"/>
            <a:ext cx="1700341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950" kern="1200" dirty="0">
                <a:solidFill>
                  <a:srgbClr val="9C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이력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8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구조와 한계</a:t>
            </a:r>
            <a:endParaRPr lang="en-US" sz="28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3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자체는 건전하나, 매칭에 필요한 세 가지 관계가 파일 안에 묻혀 있다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73251"/>
            <a:ext cx="5027890" cy="4159437"/>
          </a:xfrm>
          <a:prstGeom prst="roundRect">
            <a:avLst>
              <a:gd name="adj" fmla="val 1099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037" y="1756084"/>
            <a:ext cx="4387977" cy="29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구조</a:t>
            </a:r>
            <a:endParaRPr lang="en-US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037" y="2176598"/>
            <a:ext cx="4570809" cy="329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dictionary-data/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materials/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M0001-abs.json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M0024-cu_pure.json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...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products/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P0001-*.json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...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ontology/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materials.json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products.json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index/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materials_index.yaml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799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products_index.yaml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804927" y="1573251"/>
            <a:ext cx="5896344" cy="959870"/>
          </a:xfrm>
          <a:prstGeom prst="roundRect">
            <a:avLst>
              <a:gd name="adj" fmla="val 4762"/>
            </a:avLst>
          </a:prstGeom>
          <a:solidFill>
            <a:srgbClr val="F8EBE9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33468" y="1719517"/>
            <a:ext cx="329098" cy="329098"/>
          </a:xfrm>
          <a:prstGeom prst="ellipse">
            <a:avLst/>
          </a:prstGeom>
          <a:solidFill>
            <a:srgbClr val="A8453B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033468" y="1719517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72266" y="1701234"/>
            <a:ext cx="502789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A8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LCI 매핑이 소재 파일에 묻힘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72266" y="1993766"/>
            <a:ext cx="5027890" cy="457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db_keyword · matching_recommendation이 concept 정의와 섞여 ecoinvent 버전 교체 시 사전 전체가 흔들린다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04927" y="2633679"/>
            <a:ext cx="5896344" cy="959870"/>
          </a:xfrm>
          <a:prstGeom prst="roundRect">
            <a:avLst>
              <a:gd name="adj" fmla="val 4762"/>
            </a:avLst>
          </a:prstGeom>
          <a:solidFill>
            <a:srgbClr val="F8EBE9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33468" y="2779945"/>
            <a:ext cx="329098" cy="329098"/>
          </a:xfrm>
          <a:prstGeom prst="ellipse">
            <a:avLst/>
          </a:prstGeom>
          <a:solidFill>
            <a:srgbClr val="A8453B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033468" y="2779945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72266" y="2761662"/>
            <a:ext cx="502789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A8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 · 구성요소가 배열 위치 참조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472266" y="3054194"/>
            <a:ext cx="5027890" cy="457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material_details[2] 형태. 같은 concept이 여러 파트에 반복될 때 결과 · 경고를 붙일 자리가 없다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804927" y="3694107"/>
            <a:ext cx="5896344" cy="959870"/>
          </a:xfrm>
          <a:prstGeom prst="roundRect">
            <a:avLst>
              <a:gd name="adj" fmla="val 4762"/>
            </a:avLst>
          </a:prstGeom>
          <a:solidFill>
            <a:srgbClr val="FAF0E1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33468" y="3840373"/>
            <a:ext cx="329098" cy="329098"/>
          </a:xfrm>
          <a:prstGeom prst="ellipse">
            <a:avLst/>
          </a:prstGeom>
          <a:solidFill>
            <a:srgbClr val="B87524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033468" y="3840373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472266" y="3822089"/>
            <a:ext cx="502789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B875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통제어휘와 분류가 미분리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472266" y="4114621"/>
            <a:ext cx="5027890" cy="457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ontology 노드와 concept를 동일시. 도메인 · 공정 · 형태 enum이 없어 중의어를 좁힐 수 없다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804927" y="4754535"/>
            <a:ext cx="5896344" cy="959870"/>
          </a:xfrm>
          <a:prstGeom prst="roundRect">
            <a:avLst>
              <a:gd name="adj" fmla="val 4762"/>
            </a:avLst>
          </a:prstGeom>
          <a:solidFill>
            <a:srgbClr val="FAF0E1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33468" y="4900801"/>
            <a:ext cx="329098" cy="329098"/>
          </a:xfrm>
          <a:prstGeom prst="ellipse">
            <a:avLst/>
          </a:prstGeom>
          <a:solidFill>
            <a:srgbClr val="B87524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033468" y="4900801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472266" y="4882517"/>
            <a:ext cx="502789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B875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이력 · 정책 · 근거 부재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472266" y="5175049"/>
            <a:ext cx="5027890" cy="457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결과를 누적할 곳, 활동유형 · 지역 우선순위를 적을 곳이 없다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8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구조</a:t>
            </a:r>
            <a:endParaRPr lang="en-US" sz="28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3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표시는 사람만 수정 · 나머지는 Claude 생성 후 검증 · 리뷰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54968"/>
            <a:ext cx="5530679" cy="4570809"/>
          </a:xfrm>
          <a:prstGeom prst="roundRect">
            <a:avLst>
              <a:gd name="adj" fmla="val 1000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037" y="1737800"/>
            <a:ext cx="5119307" cy="429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dictionary-data/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schemas/                 계약 · CI 검증 기준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ontology/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vocab/               ★ 통제어휘 enum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schemes/             외부 분류 체계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legacy/              기존 온톨로지 보존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materials/               concept · 도메인별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_common.yaml         ★ 별도 승인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plastics.yaml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metals.yaml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surface_treatment.yaml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sealing_adhesive.yaml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electronics.yaml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auxiliary.yaml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products/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types/automotive.yaml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parts/auto_mirror_A.yaml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170592" y="1554968"/>
            <a:ext cx="5548963" cy="4570809"/>
          </a:xfrm>
          <a:prstGeom prst="roundRect">
            <a:avLst>
              <a:gd name="adj" fmla="val 1000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44840" y="1737800"/>
            <a:ext cx="5119307" cy="429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index/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lci/*.bridge.yaml    concept → LCI 물질명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confirmed/           확정 이력 append-only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legacy/              기존 인덱스 보존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knowledge/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policies/            활동유형 · 지역 · 단위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rules/               정규화 · 컴파운드 분해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evidence/            프록시 · 규격 동치 근거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proposals/               ★ Claude 산출물 임시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2026-09-auto_mirror_A/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prompts/                 생성 프롬프트 버전 관리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datasets/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golden/              CI 회귀 검사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samples/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legacy/                  M#### · P#### 원본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65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.github/workflows/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8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→ TO-BE 경로 매핑</a:t>
            </a:r>
            <a:endParaRPr lang="en-US" sz="28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3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파일은 삭제하지 않고 legacy로 보존하며, 관계만 밖으로 꺼낸다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02789" y="1573251"/>
          <a:ext cx="11198483" cy="914162"/>
        </p:xfrm>
        <a:graphic>
          <a:graphicData uri="http://schemas.openxmlformats.org/drawingml/2006/table">
            <a:tbl>
              <a:tblPr/>
              <a:tblGrid>
                <a:gridCol w="1051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3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53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2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5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AS-IS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TO-BE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조정 방향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우선순위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materials/M####-&lt;slug&gt;.json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materials/&lt;domain&gt;.yaml 의 concept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legacy_id로 M####를 보존하고 도메인별로 논리 분할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 관계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parent_ref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relations[broader]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파일명 의존을 concept_id 참조로 치환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synonyms[]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labels[] (type · lang 부여)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규격코드 · 사내코드도 label 유형으로 흡수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LCI 매핑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db_keyword · matching_recommendation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index/lci/*.bridge.yaml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활동유형은 제외하고 LCI 물질명까지만 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products/P####.json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products/types/ + products/parts/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제품유형 정책과 파트 정의를 분리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BOM 구성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material_composition · material_details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parts/*.yaml 의 components[]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component_id 부여 + expected · likely_concepts 추가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온톨로지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ontology/materials.json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ontology/vocab + schemes + legacy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통제어휘와 외부 분류를 분리. enum은 사람만 수정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인덱스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index/materials_index.yaml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index/legacy/ 로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호환 유지. 신규 관계는 별도 인덱스로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이력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(없음)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index/confirmed/&lt;customer&gt;.yaml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운영하며 누적. 후보 변경이 덮어쓰지 않음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· 규칙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 · 문서에 혼재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knowledge/policies · rules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활동유형 · 지역 · 정규화 · 컴파운드 분해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(없음)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datasets/golden/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회귀 검사. 사전 개편이 품질을 떨어뜨렸는지 판정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8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신설 필드 — 매칭이 실제로 요구하는 것</a:t>
            </a:r>
            <a:endParaRPr lang="en-US" sz="28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3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전환만으로는 부족하다. 이 필드들이 없으면 각 순위가 작동하지 않는다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02789" y="1573251"/>
          <a:ext cx="11198483" cy="914162"/>
        </p:xfrm>
        <a:graphic>
          <a:graphicData uri="http://schemas.openxmlformats.org/drawingml/2006/table">
            <a:tbl>
              <a:tblPr/>
              <a:tblGrid>
                <a:gridCol w="2376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6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3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chem_name_en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concept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영문 정식명 — 물질명과 LCI 물질명을 잇는 유일한 고리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상위어 폴백이 LCI에 닿지 못함 (커버리지 직접 손실)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identity_type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concept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pure / polymer / alloy / compound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CAS 게이트 허용 여부를 판정할 수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ambiguous · disambiguation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concept · label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중의어 표시와 경쟁 concept 상호 참조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 같은 중의어를 탐지 · 분리할 수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spec_codes · internal_code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concept labels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SWCH10A · ALDC12.1 · M1252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 · 사내코드가 검색으로 풀리지 않음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material_domains[]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 프로파일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파생 근거. 중의어 스코프 필터의 출처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domain.enum이 매칭에서 쓰이지 못함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expected.form / mass_range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components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코팅 · 벌크 구분, 질량 자릿수 검증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증착 0.4g에 벌크 엔트리가 조용히 매칭됨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likely_concepts[]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components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결측 재질 추정, 중의어 최종 해소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물질명이 비면 복구 불가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provenance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레코드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source(llm/human) · reviewed · release_id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생성분과 사람 확인분을 구분할 수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789" y="5531572"/>
            <a:ext cx="11198483" cy="658197"/>
          </a:xfrm>
          <a:prstGeom prst="roundRect">
            <a:avLst>
              <a:gd name="adj" fmla="val 6944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 3"/>
          <p:cNvSpPr txBox="1"/>
          <p:nvPr/>
        </p:nvSpPr>
        <p:spPr>
          <a:xfrm>
            <a:off x="777037" y="5531572"/>
            <a:ext cx="10695694" cy="658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10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chem_name_en 누락 검사를 CI 지표로 두어야 한다. LCI DB에 약어도 한글도 없으므로, 상위어 체인의 각 단계에 영문명이 없으면 그 지점에서 매칭이 끊긴다.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4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8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 추가 워크플로우</a:t>
            </a:r>
            <a:endParaRPr lang="en-US" sz="28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3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생성물은 proposals/ 에 격리한 뒤 검증 · 리뷰를 거쳐 도메인 파일에 증분 반영한다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73251"/>
            <a:ext cx="3309266" cy="1234119"/>
          </a:xfrm>
          <a:prstGeom prst="roundRect">
            <a:avLst>
              <a:gd name="adj" fmla="val 3704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03904" y="1756084"/>
            <a:ext cx="365665" cy="365665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03904" y="1756084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60985" y="1774367"/>
            <a:ext cx="2468237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5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BOM 업로드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160985" y="2140032"/>
            <a:ext cx="251394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물질명 distinct 추출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concept 대조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830338" y="1957199"/>
            <a:ext cx="457081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126">
              <a:buClrTx/>
            </a:pPr>
            <a:r>
              <a:rPr lang="en-US" sz="1699" b="1" kern="1200" dirty="0">
                <a:solidFill>
                  <a:srgbClr val="2FA9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05702" y="1573251"/>
            <a:ext cx="3309266" cy="1234119"/>
          </a:xfrm>
          <a:prstGeom prst="roundRect">
            <a:avLst>
              <a:gd name="adj" fmla="val 3704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06817" y="1756084"/>
            <a:ext cx="365665" cy="365665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506817" y="1756084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963899" y="1774367"/>
            <a:ext cx="2468237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5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생성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963899" y="2140032"/>
            <a:ext cx="251394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proposals/&lt;날짜&gt;-&lt;파트&gt;/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· concepts · bridge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633251" y="1957199"/>
            <a:ext cx="457081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126">
              <a:buClrTx/>
            </a:pPr>
            <a:r>
              <a:rPr lang="en-US" sz="1699" b="1" kern="1200" dirty="0">
                <a:solidFill>
                  <a:srgbClr val="2FA9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08615" y="1573251"/>
            <a:ext cx="3309266" cy="1234119"/>
          </a:xfrm>
          <a:prstGeom prst="roundRect">
            <a:avLst>
              <a:gd name="adj" fmla="val 3704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309731" y="1756084"/>
            <a:ext cx="365665" cy="365665"/>
          </a:xfrm>
          <a:prstGeom prst="ellipse">
            <a:avLst/>
          </a:prstGeom>
          <a:solidFill>
            <a:srgbClr val="B87524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309731" y="1756084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766812" y="1774367"/>
            <a:ext cx="2468237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5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검증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766812" y="2140032"/>
            <a:ext cx="251394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 · 순환 · 중의어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 리포트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789" y="3054193"/>
            <a:ext cx="3309266" cy="1234119"/>
          </a:xfrm>
          <a:prstGeom prst="roundRect">
            <a:avLst>
              <a:gd name="adj" fmla="val 3704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3904" y="3237026"/>
            <a:ext cx="365665" cy="365665"/>
          </a:xfrm>
          <a:prstGeom prst="ellipse">
            <a:avLst/>
          </a:prstGeom>
          <a:solidFill>
            <a:srgbClr val="1B5E52"/>
          </a:solidFill>
          <a:ln w="12700">
            <a:solidFill>
              <a:srgbClr val="1B5E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03904" y="3237026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160985" y="3255309"/>
            <a:ext cx="2468237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5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리뷰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160985" y="3620974"/>
            <a:ext cx="251394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 판정 · PR 머지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사내코드 문의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3830338" y="3438141"/>
            <a:ext cx="457081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126">
              <a:buClrTx/>
            </a:pPr>
            <a:r>
              <a:rPr lang="en-US" sz="1699" b="1" kern="1200" dirty="0">
                <a:solidFill>
                  <a:srgbClr val="2FA9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305702" y="3054193"/>
            <a:ext cx="3309266" cy="1234119"/>
          </a:xfrm>
          <a:prstGeom prst="roundRect">
            <a:avLst>
              <a:gd name="adj" fmla="val 3704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06817" y="3237026"/>
            <a:ext cx="365665" cy="365665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4506817" y="3237026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4963899" y="3255309"/>
            <a:ext cx="2468237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5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증분 반영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4963899" y="3620974"/>
            <a:ext cx="251394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materials/ 도메인 파일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parts/ 신규 · bridge 후보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7633251" y="3438141"/>
            <a:ext cx="457081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126">
              <a:buClrTx/>
            </a:pPr>
            <a:r>
              <a:rPr lang="en-US" sz="1699" b="1" kern="1200" dirty="0">
                <a:solidFill>
                  <a:srgbClr val="2FA9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108615" y="3054193"/>
            <a:ext cx="3309266" cy="1234119"/>
          </a:xfrm>
          <a:prstGeom prst="roundRect">
            <a:avLst>
              <a:gd name="adj" fmla="val 3704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309731" y="3237026"/>
            <a:ext cx="365665" cy="365665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8309731" y="3237026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8766812" y="3255309"/>
            <a:ext cx="2468237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5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 배치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8766812" y="3620974"/>
            <a:ext cx="251394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· 벡터 적재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release_id 기록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02789" y="4617411"/>
            <a:ext cx="6856214" cy="157235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777037" y="4772818"/>
            <a:ext cx="6307717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머지 스크립트 충돌 리포트 (4단계 입력)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777037" y="5120199"/>
            <a:ext cx="6399133" cy="959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30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[머지] auto_mirror_A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신규 concept   8건   기존 재사용  14건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충돌  1건  ADC12  기존 broader: 알루미늄 주조합금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신규 broader: 다이캐스팅 합금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30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사내코드 미해결 2건  M1252 · M0880 → 고객사 문의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587543" y="4617411"/>
            <a:ext cx="4132012" cy="1572358"/>
          </a:xfrm>
          <a:prstGeom prst="roundRect">
            <a:avLst>
              <a:gd name="adj" fmla="val 2907"/>
            </a:avLst>
          </a:prstGeom>
          <a:solidFill>
            <a:srgbClr val="FAF0E1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7843508" y="4772818"/>
            <a:ext cx="3656648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B875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건강성 지표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7843508" y="5120199"/>
            <a:ext cx="3656648" cy="91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40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파트별 신규 concept 수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40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1번째 40~60 → 2번째 10~20 → 이후 한 자릿수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40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40개씩 나오면 재질이 파트 파일에 갇힌 것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Text 43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8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검증 규칙</a:t>
            </a:r>
            <a:endParaRPr lang="en-US" sz="28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3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생성물이 저장소에 들어가기 전에 커밋 훅에서 거부한다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02789" y="1573251"/>
          <a:ext cx="11198483" cy="914162"/>
        </p:xfrm>
        <a:graphic>
          <a:graphicData uri="http://schemas.openxmlformats.org/drawingml/2006/table">
            <a:tbl>
              <a:tblPr/>
              <a:tblGrid>
                <a:gridCol w="4022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9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9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enum 위반 (domain · part · process · form)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'표면처리' · 'surface_finish' 같은 변종 생성을 차단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concept_id 중복 · 삭제 ID 재사용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매칭 이력이 ID를 참조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chem_name_en 누락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concept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상위어 폴백이 끊기는 지점. 건수를 지표로 추적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broader 순환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relations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LLM이 A→B, B→A를 만드는 일이 흔함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라벨이 여러 concept · ambiguous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labels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중의어 미탐지. 사람 눈으로는 못 찾음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disambiguation 대칭성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concept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competing이 한쪽에만 기재되면 해소 로직이 깨짐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concept의 broader · typical_process 변경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파트별 생성 시 정의가 갈라지는 지점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_common.yaml 변경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승인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오염 시 전 도메인 영향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confirmed가 존재하지 않는 ref_id 참조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index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ecoinvent 버전 불일치 탐지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golden 회귀 검사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datasets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머지 차단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개편이 매칭 품질을 떨어뜨렸는지 판정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877" marR="88877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8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원본과 파생물의 분리</a:t>
            </a:r>
            <a:endParaRPr lang="en-US" sz="28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3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git은 편집 · 리뷰용 원본, DB · 벡터는 조회 전용 파생물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8" y="1646384"/>
            <a:ext cx="3290983" cy="2285405"/>
          </a:xfrm>
          <a:prstGeom prst="roundRect">
            <a:avLst>
              <a:gd name="adj" fmla="val 2000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037" y="1829217"/>
            <a:ext cx="2742486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50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(원본)</a:t>
            </a: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037" y="2286298"/>
            <a:ext cx="2833902" cy="1462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YAML · JSON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diff로 읽음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리뷰 · 변경 이력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언제나 진실의 출처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885188" y="2514838"/>
            <a:ext cx="639913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126">
              <a:buClrTx/>
            </a:pPr>
            <a:r>
              <a:rPr lang="en-US" sz="2599" b="1" kern="1200" dirty="0">
                <a:solidFill>
                  <a:srgbClr val="2FA9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5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16517" y="1646384"/>
            <a:ext cx="3290983" cy="2285405"/>
          </a:xfrm>
          <a:prstGeom prst="roundRect">
            <a:avLst>
              <a:gd name="adj" fmla="val 2000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890765" y="1829217"/>
            <a:ext cx="2742486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50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 배치</a:t>
            </a: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890765" y="2286298"/>
            <a:ext cx="2833902" cy="1462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 · 정규화 계산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통과 시에만 전환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통째 교체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release_id 기록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998916" y="2514838"/>
            <a:ext cx="639913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914126">
              <a:buClrTx/>
            </a:pPr>
            <a:r>
              <a:rPr lang="en-US" sz="2599" b="1" kern="1200" dirty="0">
                <a:solidFill>
                  <a:srgbClr val="2FA9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5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428572" y="1646384"/>
            <a:ext cx="3290983" cy="2285405"/>
          </a:xfrm>
          <a:prstGeom prst="roundRect">
            <a:avLst>
              <a:gd name="adj" fmla="val 2000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702820" y="1829217"/>
            <a:ext cx="2742486" cy="31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50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· 벡터 (파생물)</a:t>
            </a: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702820" y="2286298"/>
            <a:ext cx="2833902" cy="1462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전용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완전일치는 btree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유사도는 pgvector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699"/>
              </a:lnSpc>
              <a:spcAft>
                <a:spcPts val="500"/>
              </a:spcAft>
              <a:buClrTx/>
              <a:buSzPct val="100000"/>
              <a:buFontTx/>
              <a:buChar char="•"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언제든 재생성 가능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789" y="4206038"/>
            <a:ext cx="5530679" cy="1983731"/>
          </a:xfrm>
          <a:prstGeom prst="roundRect">
            <a:avLst>
              <a:gd name="adj" fmla="val 2304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77037" y="4370587"/>
            <a:ext cx="502789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 대상과 갱신 트리거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4462" y="4809384"/>
            <a:ext cx="100558" cy="10055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005578" y="4736252"/>
            <a:ext cx="2925318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vocab_concept · label · relation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3976604" y="4736252"/>
            <a:ext cx="1919740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vocab 릴리스 머지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4462" y="5120199"/>
            <a:ext cx="100558" cy="10055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005578" y="5047067"/>
            <a:ext cx="2925318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vocab_bridge (approved만)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3976604" y="5047067"/>
            <a:ext cx="1919740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브리지 승인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04462" y="5431014"/>
            <a:ext cx="100558" cy="10055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005578" y="5357882"/>
            <a:ext cx="2925318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lci_material 임베딩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3976604" y="5357882"/>
            <a:ext cx="1919740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ecoinvent 버전 변경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04462" y="5741829"/>
            <a:ext cx="100558" cy="10055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005578" y="5668697"/>
            <a:ext cx="2925318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confirmed 이력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3976604" y="5668697"/>
            <a:ext cx="1919740" cy="25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확정 시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16300" y="4206038"/>
            <a:ext cx="5503254" cy="1983731"/>
          </a:xfrm>
          <a:prstGeom prst="roundRect">
            <a:avLst>
              <a:gd name="adj" fmla="val 2304"/>
            </a:avLst>
          </a:prstGeom>
          <a:solidFill>
            <a:srgbClr val="F8EBE9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72266" y="4407153"/>
            <a:ext cx="329098" cy="329098"/>
          </a:xfrm>
          <a:prstGeom prst="ellipse">
            <a:avLst/>
          </a:prstGeom>
          <a:solidFill>
            <a:srgbClr val="A8453B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6472266" y="4407153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901922" y="4388870"/>
            <a:ext cx="4570809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A8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DB를 직접 수정하지 않는다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6472266" y="4827668"/>
            <a:ext cx="4982182" cy="91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50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급할 때 한 줄 UPDATE 하면 다음 배치에서 덮여 사라지고 git 이력에도 없어 원인 추적이 불가능해진다. 고칠 것이 있으면 원본을 고쳐 다시 돌린다.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Text 33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9" y="412266"/>
            <a:ext cx="731329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899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전환</a:t>
            </a:r>
            <a:endParaRPr lang="en-US" sz="28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60763"/>
            <a:ext cx="8227457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300" kern="1200" dirty="0">
                <a:solidFill>
                  <a:srgbClr val="8FAEA6"/>
                </a:solidFill>
                <a:latin typeface="Calibri" panose="020F0502020204030204"/>
                <a:ea typeface="+mn-ea"/>
                <a:cs typeface="+mn-cs"/>
              </a:rPr>
              <a:t>기존 파일을 삭제하지 않고 읽기 변환 계층을 둔 채 순차 전환한다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09260"/>
            <a:ext cx="11198483" cy="511931"/>
          </a:xfrm>
          <a:prstGeom prst="roundRect">
            <a:avLst>
              <a:gd name="adj" fmla="val 8929"/>
            </a:avLst>
          </a:prstGeom>
          <a:solidFill>
            <a:srgbClr val="1A4A41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762" y="1591534"/>
            <a:ext cx="347382" cy="347382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94762" y="1591534"/>
            <a:ext cx="347382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243259" y="1591534"/>
            <a:ext cx="3656648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식별자 · 스키마 정의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073598" y="1591534"/>
            <a:ext cx="644484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concept_id · part_id · component_id · chem_name_en · identity_type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789" y="2103465"/>
            <a:ext cx="11198483" cy="511931"/>
          </a:xfrm>
          <a:prstGeom prst="roundRect">
            <a:avLst>
              <a:gd name="adj" fmla="val 8929"/>
            </a:avLst>
          </a:prstGeom>
          <a:solidFill>
            <a:srgbClr val="1A4A41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4762" y="2185740"/>
            <a:ext cx="347382" cy="347382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94762" y="2185740"/>
            <a:ext cx="347382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243259" y="2185740"/>
            <a:ext cx="3656648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통제어휘 분리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073598" y="2185740"/>
            <a:ext cx="644484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ontology/vocab/*.enum.json — 도메인 5~7 · 공정 15~20 · 형태 5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789" y="2697670"/>
            <a:ext cx="11198483" cy="511931"/>
          </a:xfrm>
          <a:prstGeom prst="roundRect">
            <a:avLst>
              <a:gd name="adj" fmla="val 8929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94762" y="2779945"/>
            <a:ext cx="347382" cy="347382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94762" y="2779945"/>
            <a:ext cx="347382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243259" y="2779945"/>
            <a:ext cx="3656648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 concept 변환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073598" y="2779945"/>
            <a:ext cx="644484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도메인별 YAML. legacy_id로 M####를 보존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2789" y="3291876"/>
            <a:ext cx="11198483" cy="511931"/>
          </a:xfrm>
          <a:prstGeom prst="roundRect">
            <a:avLst>
              <a:gd name="adj" fmla="val 8929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94762" y="3374150"/>
            <a:ext cx="347382" cy="347382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94762" y="3374150"/>
            <a:ext cx="347382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243259" y="3374150"/>
            <a:ext cx="3656648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 · BOM 변환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5073598" y="3374150"/>
            <a:ext cx="644484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products/types · parts. expected · likely_concepts 포함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789" y="3886081"/>
            <a:ext cx="11198483" cy="511931"/>
          </a:xfrm>
          <a:prstGeom prst="roundRect">
            <a:avLst>
              <a:gd name="adj" fmla="val 8929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94762" y="3968355"/>
            <a:ext cx="347382" cy="347382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94762" y="3968355"/>
            <a:ext cx="347382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243259" y="3968355"/>
            <a:ext cx="3656648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LCI 브리지 도입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5073598" y="3968355"/>
            <a:ext cx="644484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index/lci. 활동유형 제외하고 LCI 물질명까지만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2789" y="4480286"/>
            <a:ext cx="11198483" cy="511931"/>
          </a:xfrm>
          <a:prstGeom prst="roundRect">
            <a:avLst>
              <a:gd name="adj" fmla="val 8929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94762" y="4562560"/>
            <a:ext cx="347382" cy="347382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694762" y="4562560"/>
            <a:ext cx="347382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1243259" y="4562560"/>
            <a:ext cx="3656648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이력 도입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5073598" y="4562560"/>
            <a:ext cx="644484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index/confirmed. 후보 변경과 독립 보존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02789" y="5074491"/>
            <a:ext cx="11198483" cy="511931"/>
          </a:xfrm>
          <a:prstGeom prst="roundRect">
            <a:avLst>
              <a:gd name="adj" fmla="val 8929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94762" y="5156766"/>
            <a:ext cx="347382" cy="347382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694762" y="5156766"/>
            <a:ext cx="347382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1243259" y="5156766"/>
            <a:ext cx="3656648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· 근거 · golden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5073598" y="5156766"/>
            <a:ext cx="644484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knowledge/ + datasets/golden. CI 회귀 검사 연결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02789" y="5668696"/>
            <a:ext cx="11198483" cy="511931"/>
          </a:xfrm>
          <a:prstGeom prst="roundRect">
            <a:avLst>
              <a:gd name="adj" fmla="val 8929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94762" y="5750971"/>
            <a:ext cx="347382" cy="347382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694762" y="5750971"/>
            <a:ext cx="347382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1243259" y="5750971"/>
            <a:ext cx="3656648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경로 전환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5073598" y="5750971"/>
            <a:ext cx="6444841" cy="34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API · UI가 TO-BE를 기본 사용. legacy 경고 0건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521072" y="6354318"/>
            <a:ext cx="10969943" cy="292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100" i="1" kern="1200" dirty="0">
                <a:solidFill>
                  <a:srgbClr val="2FA98C"/>
                </a:solidFill>
                <a:latin typeface="Calibri" panose="020F0502020204030204"/>
                <a:ea typeface="+mn-ea"/>
                <a:cs typeface="+mn-cs"/>
              </a:rPr>
              <a:t>먼저 정할 것 : enum 확정 · YAML/JSON 통일 여부 · 첫 전환 파트 선정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Text 44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98916" y="1966341"/>
            <a:ext cx="2925318" cy="2925318"/>
          </a:xfrm>
          <a:prstGeom prst="ellipse">
            <a:avLst/>
          </a:prstGeom>
          <a:solidFill>
            <a:srgbClr val="0F2E28"/>
          </a:solidFill>
          <a:ln w="12700">
            <a:solidFill>
              <a:srgbClr val="2FA98C">
                <a:alpha val="45000"/>
              </a:srgbClr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341726" y="2309152"/>
            <a:ext cx="2239697" cy="2239697"/>
          </a:xfrm>
          <a:prstGeom prst="ellipse">
            <a:avLst/>
          </a:prstGeom>
          <a:solidFill>
            <a:srgbClr val="0F2E28"/>
          </a:solidFill>
          <a:ln w="12700">
            <a:solidFill>
              <a:srgbClr val="2FA98C">
                <a:alpha val="45000"/>
              </a:srgbClr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4537" y="2651963"/>
            <a:ext cx="1554075" cy="1554075"/>
          </a:xfrm>
          <a:prstGeom prst="ellipse">
            <a:avLst/>
          </a:prstGeom>
          <a:solidFill>
            <a:srgbClr val="0F2E28"/>
          </a:solidFill>
          <a:ln w="3175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87326" y="3154752"/>
            <a:ext cx="548497" cy="548497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745" y="1966341"/>
            <a:ext cx="5484971" cy="29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spc="200" dirty="0">
                <a:solidFill>
                  <a:srgbClr val="2FA9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설계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745" y="2377714"/>
            <a:ext cx="7678960" cy="777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3399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LCI 브리지 · DB 설계 · 순위별 쿼리</a:t>
            </a:r>
            <a:endParaRPr lang="en-US" sz="33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745" y="3246168"/>
            <a:ext cx="7678960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500" kern="1200" dirty="0">
                <a:solidFill>
                  <a:srgbClr val="BCD4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+ pgvector 기반 스키마와 매칭 사다리 1~9순위 구현</a:t>
            </a: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745" y="3886081"/>
            <a:ext cx="2011156" cy="0"/>
          </a:xfrm>
          <a:prstGeom prst="line">
            <a:avLst/>
          </a:prstGeom>
          <a:noFill/>
          <a:ln w="254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745" y="4160329"/>
            <a:ext cx="7678960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250" i="1" kern="1200" dirty="0">
                <a:solidFill>
                  <a:srgbClr val="8FAE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완전일치는 btree · 유사도는 pgvector — 두 경로를 섞지 않는다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745" y="4983075"/>
            <a:ext cx="1700341" cy="402231"/>
          </a:xfrm>
          <a:prstGeom prst="roundRect">
            <a:avLst>
              <a:gd name="adj" fmla="val 13636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745" y="4983075"/>
            <a:ext cx="1700341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950" kern="1200" dirty="0">
                <a:solidFill>
                  <a:srgbClr val="9C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브리지 구성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669352" y="4983075"/>
            <a:ext cx="1700341" cy="402231"/>
          </a:xfrm>
          <a:prstGeom prst="roundRect">
            <a:avLst>
              <a:gd name="adj" fmla="val 13636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669352" y="4983075"/>
            <a:ext cx="1700341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950" kern="1200" dirty="0">
                <a:solidFill>
                  <a:srgbClr val="9C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설계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15959" y="4983075"/>
            <a:ext cx="1700341" cy="402231"/>
          </a:xfrm>
          <a:prstGeom prst="roundRect">
            <a:avLst>
              <a:gd name="adj" fmla="val 13636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15959" y="4983075"/>
            <a:ext cx="1700341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950" kern="1200" dirty="0">
                <a:solidFill>
                  <a:srgbClr val="9C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전략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62566" y="4983075"/>
            <a:ext cx="1700341" cy="402231"/>
          </a:xfrm>
          <a:prstGeom prst="roundRect">
            <a:avLst>
              <a:gd name="adj" fmla="val 13636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362566" y="4983075"/>
            <a:ext cx="1700341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950" kern="1200" dirty="0">
                <a:solidFill>
                  <a:srgbClr val="9C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순위별 쿼리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브리지 구성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concept → LCI 물질명까지만. 활동유형 · 지역 · ref_id는 조회 시점 규칙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54968"/>
            <a:ext cx="6490549" cy="3976604"/>
          </a:xfrm>
          <a:prstGeom prst="roundRect">
            <a:avLst>
              <a:gd name="adj" fmla="val 1149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037" y="1719517"/>
            <a:ext cx="5942052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1B5E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index/lci/ecoinvent-3x.bridge.yaml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037" y="2048615"/>
            <a:ext cx="6033468" cy="329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provider: ecoinvent      db_version: "3.x"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system_model: cutoff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entries: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bridge_id: br_asa_san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concept_id: mat_asa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lci_material: "styrene-acrylonitrile copolymer"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relation: equivalent   # exact|equivalent|proxy|broader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conditions: {}         # 비면 무조건 적용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approved       # candidate|approved|rejected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confidence: 0.92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bridge_id: br_epdm_rubber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concept_id: mat_epdm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lci_material: "synthetic rubber"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relation: proxy        proxy_type: quality_downgrade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justification: "개별 고무 등급 엔트리 부재"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bridge_id: br_al_coating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concept_id: mat_aluminium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lci_material: "aluminium, primary, ingot"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conditions: {form: coating}   # ★ 같은 concept 다른 조건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76170" y="1554968"/>
            <a:ext cx="4543385" cy="1874032"/>
          </a:xfrm>
          <a:prstGeom prst="roundRect">
            <a:avLst>
              <a:gd name="adj" fmla="val 2439"/>
            </a:avLst>
          </a:prstGeom>
          <a:solidFill>
            <a:srgbClr val="F8EBE9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2994" y="1737801"/>
            <a:ext cx="329098" cy="329098"/>
          </a:xfrm>
          <a:prstGeom prst="ellipse">
            <a:avLst/>
          </a:prstGeom>
          <a:solidFill>
            <a:srgbClr val="A8453B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422994" y="1737801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861791" y="1719517"/>
            <a:ext cx="3656648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A8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브리지에 넣지 않는 것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422994" y="2158315"/>
            <a:ext cx="4022312" cy="109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797" indent="-342797" defTabSz="914126">
              <a:lnSpc>
                <a:spcPts val="1500"/>
              </a:lnSpc>
              <a:spcAft>
                <a:spcPts val="400"/>
              </a:spcAft>
              <a:buClrTx/>
              <a:buSzPct val="100000"/>
              <a:buFontTx/>
              <a:buChar char="•"/>
            </a:pPr>
            <a:r>
              <a:rPr lang="en-US" sz="105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 for / production 붙인 최종 DB명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500"/>
              </a:lnSpc>
              <a:spcAft>
                <a:spcPts val="400"/>
              </a:spcAft>
              <a:buClrTx/>
              <a:buSzPct val="100000"/>
              <a:buFontTx/>
              <a:buChar char="•"/>
            </a:pPr>
            <a:r>
              <a:rPr lang="en-US" sz="105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· 연도 · ref_id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342797" indent="-342797" defTabSz="914126">
              <a:lnSpc>
                <a:spcPts val="1500"/>
              </a:lnSpc>
              <a:spcAft>
                <a:spcPts val="400"/>
              </a:spcAft>
              <a:buClrTx/>
              <a:buSzPct val="100000"/>
              <a:buFontTx/>
              <a:buChar char="•"/>
            </a:pPr>
            <a:r>
              <a:rPr lang="en-US" sz="105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정책 · 릴리스에 종속되는 값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176170" y="3611832"/>
            <a:ext cx="4543385" cy="1919740"/>
          </a:xfrm>
          <a:prstGeom prst="roundRect">
            <a:avLst>
              <a:gd name="adj" fmla="val 2381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422994" y="3776381"/>
            <a:ext cx="4022312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conditions가 필요한 이유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422994" y="4114621"/>
            <a:ext cx="4068020" cy="1279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500"/>
              </a:lnSpc>
              <a:buClrTx/>
            </a:pPr>
            <a:r>
              <a:rPr lang="en-US" sz="105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알루미늄 증착(0.4g)과 다이캐스팅 벌크(120g)는 같은 concept이지만 다른 엔트리다. concept 하나에 브리지 여러 개가 정상이며, 조건이 구체적인 것을 먼저 적용한다.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789" y="5668697"/>
            <a:ext cx="11216766" cy="548497"/>
          </a:xfrm>
          <a:prstGeom prst="roundRect">
            <a:avLst>
              <a:gd name="adj" fmla="val 8333"/>
            </a:avLst>
          </a:prstGeom>
          <a:solidFill>
            <a:srgbClr val="FAF0E1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77037" y="5668697"/>
            <a:ext cx="10695694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100" b="1" kern="1200" dirty="0">
                <a:solidFill>
                  <a:srgbClr val="B875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= approved 인 행만 런타임에서 조회한다. 브리지는 계수가 바뀌는 지점이므로 사람 승인 없이 candidate가 쓰이면 안 된다.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구성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완전일치 계열과 유사도 계열을 분리해 조회 경로가 섞이지 않게 한다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02789" y="1573251"/>
          <a:ext cx="11198483" cy="914162"/>
        </p:xfrm>
        <a:graphic>
          <a:graphicData uri="http://schemas.openxmlformats.org/drawingml/2006/table">
            <a:tbl>
              <a:tblPr/>
              <a:tblGrid>
                <a:gridCol w="1828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2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2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2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담는 것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인덱스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순위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vocab_concept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concept · chem_name_en · identity_type · cas · domain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btree(cas) · btree(chem_name_en)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· 4 · 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vocab 릴리스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vocab_label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normalized_text → concept_id · label_type · weight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btree(normalized_text) · gin_trgm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· 5 · 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vocab 릴리스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vocab_relation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broader · exact_match · close_match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btree(from_id, rel_type)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vocab 릴리스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vocab_bridge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concept → lci_material · conditions · status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btree(concept_id) WHERE approved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· 4 · 5 · 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브리지 승인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lci_entry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ref_id · db_name · lci_material · activity_type · geography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btree(lci_material, system_model, activity_type)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 · 9 · 최종선택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ecoinvent 버전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match_confirmed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이력 (normalized_text · part_id → ref_id)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unique(normalized_text, part_id)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·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매칭 확정 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lci_material_emb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LCI 물질명 카드 + vector(1024)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hnsw(vector_cosine_ops)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ecoinvent 버전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confirmed_emb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표기 + vector(1024)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hnsw(vector_cosine_ops)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매칭 확정 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789" y="5531572"/>
            <a:ext cx="11198483" cy="658197"/>
          </a:xfrm>
          <a:prstGeom prst="roundRect">
            <a:avLst>
              <a:gd name="adj" fmla="val 6944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777037" y="5531572"/>
            <a:ext cx="10695694" cy="658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10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주황 두 테이블만 벡터를 갖는다. 2~5순위 테이블에 embedding 컬럼을 두지 않는 것이 중요하다 — 두면 나중에 완전일치 조회가 유사도 조회로 바뀔 여지가 생긴다.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DDL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표기는 배치가 계산해 저장하고, 매칭 코드와 같은 함수를 공유한다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54968"/>
            <a:ext cx="5530679" cy="4616517"/>
          </a:xfrm>
          <a:prstGeom prst="roundRect">
            <a:avLst>
              <a:gd name="adj" fmla="val 990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037" y="1737800"/>
            <a:ext cx="5119307" cy="4205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EXTENSION vector;  CREATE EXTENSION pg_trgm;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vocab_concept (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concept_id    text PRIMARY KEY,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legacy_id     text,              -- M####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pref_label    text NOT NULL,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pref_label_norm text NOT NULL,   -- 배치 계산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chem_name_en  text,              -- ★ LCI 연결 고리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identity_type text,              -- pure|alloy|compound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           text,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domain        text NOT NULL,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ambiguous     boolean DEFAULT false,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    text DEFAULT 'active',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release_id    text NOT NULL 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ix_c_cas  ON vocab_concept (cas)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cas IS NOT NULL;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ix_c_pref ON vocab_concept (pref_label_norm);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ix_c_chem ON vocab_concept (lower(chem_name_en));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198017" y="1554968"/>
            <a:ext cx="5521538" cy="4616517"/>
          </a:xfrm>
          <a:prstGeom prst="roundRect">
            <a:avLst>
              <a:gd name="adj" fmla="val 990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72265" y="1737800"/>
            <a:ext cx="5119307" cy="4205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vocab_label (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concept_id      text REFERENCES vocab_concept,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normalized_text text NOT NULL,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raw_text        text NOT NULL,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label_type      text NOT NULL,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-- pref|alt|abbrev|colloquial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-- |translation|spec_code|internal_code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weight          numeric DEFAULT 1.0,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ambiguous       boolean DEFAULT false 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ix_l_norm ON vocab_label (normalized_text);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ix_l_trgm ON vocab_label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gin (normalized_text gin_trgm_ops);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vocab_bridge (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bridge_id    text PRIMARY KEY,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concept_id   text REFERENCES vocab_concept,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lci_material text NOT NULL,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relation     text NOT NULL,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conditions   jsonb DEFAULT '{}'::jsonb,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   text NOT NULL,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db_version   text NOT NULL 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ix_b ON vocab_bridge (concept_id)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status = 'approved';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순위별 쿼리 ① — 1 · 2순위 (확정 이력)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없음. 완전일치 조회로 즉시 확정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54968"/>
            <a:ext cx="11216766" cy="2148280"/>
          </a:xfrm>
          <a:prstGeom prst="roundRect">
            <a:avLst>
              <a:gd name="adj" fmla="val 2128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9612" y="1756084"/>
            <a:ext cx="365665" cy="365665"/>
          </a:xfrm>
          <a:prstGeom prst="ellipse">
            <a:avLst/>
          </a:prstGeom>
          <a:solidFill>
            <a:srgbClr val="1B5E52"/>
          </a:solidFill>
          <a:ln w="12700">
            <a:solidFill>
              <a:srgbClr val="1B5E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612" y="1756084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224977" y="1774367"/>
            <a:ext cx="4570809" cy="29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이력 완전일치</a:t>
            </a:r>
            <a:endParaRPr lang="en-US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224976" y="2176598"/>
            <a:ext cx="10238613" cy="1371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c.ref_id, e.db_name, 'confirmed_exact' AS status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match_confirmed c JOIN lci_entry e USING (ref_id)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c.normalized_text = $1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(c.part_id = $2 OR c.scope = 'global')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(c.part_id = $2) DESC, c.confirmed_at DESC   -- 파트 스코프 우선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1;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789" y="3886081"/>
            <a:ext cx="11216766" cy="2285405"/>
          </a:xfrm>
          <a:prstGeom prst="roundRect">
            <a:avLst>
              <a:gd name="adj" fmla="val 2000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9612" y="4087196"/>
            <a:ext cx="365665" cy="365665"/>
          </a:xfrm>
          <a:prstGeom prst="ellipse">
            <a:avLst/>
          </a:prstGeom>
          <a:solidFill>
            <a:srgbClr val="1B5E52"/>
          </a:solidFill>
          <a:ln w="12700">
            <a:solidFill>
              <a:srgbClr val="1B5E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49612" y="4087196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224977" y="4105480"/>
            <a:ext cx="4570809" cy="29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별칭 경유 이력 조회</a:t>
            </a:r>
            <a:endParaRPr lang="en-US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224976" y="4507711"/>
            <a:ext cx="10238613" cy="1554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cand AS (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DISTINCT l.concept_id FROM vocab_label l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l.normalized_text = $1 )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c.ref_id, e.db_name, 'confirmed_via_alias' AS status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cand JOIN match_confirmed c USING (concept_id)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JOIN lci_entry e USING (ref_id)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10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c.part_id = $2 OR c.scope = 'global'  LIMIT 1;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순위별 쿼리 ② — 3 · 4 · 5순위 (사전)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5순위의 UNION ALL 폴백이 도메인 추정 오류로부터 결과를 보호한다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54968"/>
            <a:ext cx="5530679" cy="1965448"/>
          </a:xfrm>
          <a:prstGeom prst="roundRect">
            <a:avLst>
              <a:gd name="adj" fmla="val 2326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329" y="1719517"/>
            <a:ext cx="329098" cy="32909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329" y="1719517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70127" y="1737800"/>
            <a:ext cx="4113728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 — 순물질만 게이트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170126" y="2085182"/>
            <a:ext cx="4662226" cy="1279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concept_id, identity_type,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WHEN identity_type = 'pure'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THEN 'gate' ELSE 'warn' END AS mode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vocab_concept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cas = $1 AND status = 'active';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98017" y="1554968"/>
            <a:ext cx="5521538" cy="1965448"/>
          </a:xfrm>
          <a:prstGeom prst="roundRect">
            <a:avLst>
              <a:gd name="adj" fmla="val 2326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26558" y="1719517"/>
            <a:ext cx="329098" cy="32909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6558" y="1719517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865355" y="1737800"/>
            <a:ext cx="4113728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대표어 완전일치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865355" y="2085182"/>
            <a:ext cx="4662226" cy="1279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concept_id FROM vocab_concept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pref_label_norm = $1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status = 'active';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결과 항상 1건 (대표어는 concept당 유일)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789" y="3703249"/>
            <a:ext cx="11216766" cy="2468237"/>
          </a:xfrm>
          <a:prstGeom prst="roundRect">
            <a:avLst>
              <a:gd name="adj" fmla="val 1852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9612" y="3886081"/>
            <a:ext cx="365665" cy="365665"/>
          </a:xfrm>
          <a:prstGeom prst="ellipse">
            <a:avLst/>
          </a:prstGeom>
          <a:solidFill>
            <a:srgbClr val="1B5E52"/>
          </a:solidFill>
          <a:ln w="12700">
            <a:solidFill>
              <a:srgbClr val="1B5E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49612" y="3886081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224976" y="3904364"/>
            <a:ext cx="7313295" cy="29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별칭 조회 — 스코프는 결과가 여럿일 때만, 하드 필터 아님</a:t>
            </a:r>
            <a:endParaRPr lang="en-US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224976" y="4297454"/>
            <a:ext cx="10238613" cy="178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hits AS (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l.concept_id, l.label_type, l.weight, c.domain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vocab_label l JOIN vocab_concept c USING (concept_id)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l.normalized_text = $1 AND c.status = 'active' ),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scoped AS ( SELECT * FROM hits WHERE domain = ANY($2) )   -- 파트 도메인 집합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(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* FROM scoped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UNION ALL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* FROM hits WHERE NOT EXISTS (SELECT 1 FROM scoped)  -- ★ 폴백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t ORDER BY weight DESC;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순위별 쿼리 ③ — 6 · 7순위 및 브리지 조회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7은 임베딩이 도는 두 지점. 브리지는 조건이 구체적인 것을 먼저 적용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54968"/>
            <a:ext cx="5530679" cy="1828324"/>
          </a:xfrm>
          <a:prstGeom prst="roundRect">
            <a:avLst>
              <a:gd name="adj" fmla="val 2500"/>
            </a:avLst>
          </a:prstGeom>
          <a:solidFill>
            <a:srgbClr val="FAF0E1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329" y="1719517"/>
            <a:ext cx="329098" cy="329098"/>
          </a:xfrm>
          <a:prstGeom prst="ellipse">
            <a:avLst/>
          </a:prstGeom>
          <a:solidFill>
            <a:srgbClr val="B87524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329" y="1719517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70127" y="1737800"/>
            <a:ext cx="4113728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B875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유사도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170126" y="2085182"/>
            <a:ext cx="4662226" cy="118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normalized_text, ref_id,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1 - (embedding &lt;=&gt; $1) AS score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confirmed_emb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embedding &lt;=&gt; $1 LIMIT 15;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규격코드 패턴 제외 · 마진 미달 시 확인 큐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98017" y="1554968"/>
            <a:ext cx="5521538" cy="1828324"/>
          </a:xfrm>
          <a:prstGeom prst="roundRect">
            <a:avLst>
              <a:gd name="adj" fmla="val 2500"/>
            </a:avLst>
          </a:prstGeom>
          <a:solidFill>
            <a:srgbClr val="FAF0E1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26558" y="1719517"/>
            <a:ext cx="329098" cy="329098"/>
          </a:xfrm>
          <a:prstGeom prst="ellipse">
            <a:avLst/>
          </a:prstGeom>
          <a:solidFill>
            <a:srgbClr val="B87524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6558" y="1719517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865355" y="1737800"/>
            <a:ext cx="4113728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B875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확장어 일괄 재조회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865355" y="2085182"/>
            <a:ext cx="4662226" cy="118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l.normalized_text AS matched_term,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l.concept_id, l.weight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unnest($1::text[]) AS q(term)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vocab_label l ON l.normalized_text = q.term;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matched_term 반환 필수 (신뢰도 계산 근거)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789" y="3566124"/>
            <a:ext cx="11216766" cy="2605361"/>
          </a:xfrm>
          <a:prstGeom prst="roundRect">
            <a:avLst>
              <a:gd name="adj" fmla="val 1754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77037" y="3748957"/>
            <a:ext cx="7313295" cy="292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4 · 5 · 7순위 공통 — concept → LCI 물질명 (브리지)</a:t>
            </a:r>
            <a:endParaRPr lang="en-US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77037" y="4132905"/>
            <a:ext cx="10695694" cy="182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b.lci_material, b.relation, b.proxy_type, b.confidence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vocab_bridge b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b.concept_id = $1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b.status = 'approved'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b.db_version = $2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(b.conditions = '{}'::jsonb OR b.conditions &lt;@ $3::jsonb)   -- 문맥 포함 여부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jsonb_array_length(jsonb_path_query_array(b.conditions,'$.keyvalue()')) DESC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1;   -- 조건이 구체적인 브리지를 먼저 (증착 vs 벌크)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순위별 쿼리 ④ — 8 · 9순위 (LCI DB 직접)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브리지를 거치지 않는다. chem_name_en이 없으면 8순위가 끊긴다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54968"/>
            <a:ext cx="5530679" cy="3062442"/>
          </a:xfrm>
          <a:prstGeom prst="roundRect">
            <a:avLst>
              <a:gd name="adj" fmla="val 1493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329" y="1737801"/>
            <a:ext cx="329098" cy="329098"/>
          </a:xfrm>
          <a:prstGeom prst="ellipse">
            <a:avLst/>
          </a:prstGeom>
          <a:solidFill>
            <a:srgbClr val="1B5E52"/>
          </a:solidFill>
          <a:ln w="12700">
            <a:solidFill>
              <a:srgbClr val="1B5E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329" y="1737801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70127" y="1756084"/>
            <a:ext cx="4113728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상위어 폴백 (재귀 CTE)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170126" y="2103465"/>
            <a:ext cx="4662226" cy="2376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RECURSIVE up AS (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concept_id, chem_name_en, 0 AS depth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vocab_concept WHERE concept_id = $1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UNION ALL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c.concept_id, c.chem_name_en, up.depth+1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up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vocab_relation r ON r.from_id = up.concept_id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AND r.rel_type = 'broader'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vocab_concept c ON c.concept_id = r.to_id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up.depth &lt; 3 )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up.concept_id, up.depth, e.lci_material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up JOIN lci_entry e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lower(e.lci_material) = lower(up.chem_name_en)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up.depth &gt; 0 ORDER BY up.depth LIMIT 1;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98017" y="1554968"/>
            <a:ext cx="5521538" cy="3062442"/>
          </a:xfrm>
          <a:prstGeom prst="roundRect">
            <a:avLst>
              <a:gd name="adj" fmla="val 1493"/>
            </a:avLst>
          </a:prstGeom>
          <a:solidFill>
            <a:srgbClr val="FAF0E1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26558" y="1737801"/>
            <a:ext cx="329098" cy="329098"/>
          </a:xfrm>
          <a:prstGeom prst="ellipse">
            <a:avLst/>
          </a:prstGeom>
          <a:solidFill>
            <a:srgbClr val="B87524"/>
          </a:solidFill>
          <a:ln w="12700">
            <a:solidFill>
              <a:srgbClr val="B87524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6558" y="1737801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865355" y="1756084"/>
            <a:ext cx="4113728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B875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유사도 + 분포 판정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865355" y="2103465"/>
            <a:ext cx="4662226" cy="2376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 AS (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lci_material,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1 - (embedding &lt;=&gt; $1) AS score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lci_material_emb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db_version = $2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embedding &lt;=&gt; $1 LIMIT 10 )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array_agg(lci_material ORDER BY score DESC)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AS cands,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max(score) - min(score) AS spread,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max(score) AS top1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spread &lt; 0.08 → not_found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  순위 목록 대신 카테고리 브라우저 제시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789" y="4800243"/>
            <a:ext cx="11216766" cy="1371243"/>
          </a:xfrm>
          <a:prstGeom prst="roundRect">
            <a:avLst>
              <a:gd name="adj" fmla="val 3333"/>
            </a:avLst>
          </a:prstGeom>
          <a:solidFill>
            <a:srgbClr val="F8EBE9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9612" y="4983075"/>
            <a:ext cx="329098" cy="329098"/>
          </a:xfrm>
          <a:prstGeom prst="ellipse">
            <a:avLst/>
          </a:prstGeom>
          <a:solidFill>
            <a:srgbClr val="A8453B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49612" y="4983075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188410" y="4973933"/>
            <a:ext cx="7313295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A8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chem_name_en 누락이 8순위를 끊는다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188410" y="5321315"/>
            <a:ext cx="10330029" cy="685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500"/>
              </a:lnSpc>
              <a:buClrTx/>
            </a:pPr>
            <a:r>
              <a:rPr lang="en-US" sz="1100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EPDM → synthetic rubber 경로가 이 데이터셋의 기본 경로다. mat_epdm뿐 아니라 상위어인 mat_synthetic_rubber에도 영문명이 있어야 LCI에 닿는다. CI에서 누락 건수를 지표로 추적할 것.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선택 — LCI 물질명 → ref_id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개입 없음. treatment는 ORDER BY가 아니라 WHERE에서 제거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8" y="1554968"/>
            <a:ext cx="6764798" cy="2833902"/>
          </a:xfrm>
          <a:prstGeom prst="roundRect">
            <a:avLst>
              <a:gd name="adj" fmla="val 1613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037" y="1737800"/>
            <a:ext cx="4570809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5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엔트리 선택 쿼리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037" y="2085182"/>
            <a:ext cx="6307717" cy="2193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ref_id, db_name, activity_type, geography,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activity_type WHEN 'none'       THEN 1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WHEN 'production' THEN 2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WHEN 'market'     THEN 3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ELSE 4 END AS act_rank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lci_entry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lci_material = $1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system_model = $2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activity_type &lt;&gt; 'treatment'    -- ★ 하드 차단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db_version   = $3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act_rank,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geography WHEN 'KR'  THEN 1 WHEN 'GLO' THEN 3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WHEN 'RoW' THEN 4 ELSE 2 END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5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1;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7450419" y="1554968"/>
          <a:ext cx="4269136" cy="914162"/>
        </p:xfrm>
        <a:graphic>
          <a:graphicData uri="http://schemas.openxmlformats.org/drawingml/2006/table">
            <a:tbl>
              <a:tblPr/>
              <a:tblGrid>
                <a:gridCol w="639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활동유형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접두어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market for · production · treatment of 모두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문자열에 production 포함 (위치 무관)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market for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market for 로 시작 · MARKET_TRANSPORT 경고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market group for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A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market group for 로 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A8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B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A8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treatment of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B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A8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treatment of 로 시작 — WHERE에서 제거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483" marR="63483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789" y="4571702"/>
            <a:ext cx="11216766" cy="1599783"/>
          </a:xfrm>
          <a:prstGeom prst="roundRect">
            <a:avLst>
              <a:gd name="adj" fmla="val 2857"/>
            </a:avLst>
          </a:prstGeom>
          <a:solidFill>
            <a:srgbClr val="F8EBE9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49612" y="4754535"/>
            <a:ext cx="329098" cy="329098"/>
          </a:xfrm>
          <a:prstGeom prst="ellipse">
            <a:avLst/>
          </a:prstGeom>
          <a:solidFill>
            <a:srgbClr val="A8453B"/>
          </a:solidFill>
          <a:ln w="12700">
            <a:solidFill>
              <a:srgbClr val="A8453B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749612" y="4754535"/>
            <a:ext cx="329098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188410" y="4745393"/>
            <a:ext cx="7313295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A8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classify() 함수는 treatment 검사를 반드시 최우선에 둔다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188410" y="5101916"/>
            <a:ext cx="10330029" cy="959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n.startswith('treatment of'):     return 'treatment'   # ← 최우선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n.startswith('market group for'): return 'market_group'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n.startswith('market for'):       return 'market'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'production' in n:                return 'production'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'none'      # 'treatment of aluminium production waste' 오분류 방지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8" y="348275"/>
            <a:ext cx="1115277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1E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 배치 · 전환 검증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15055"/>
            <a:ext cx="11152775" cy="32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갱신이 아니라 테이블 통째 교체. 검증 통과 후에만 전환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54968"/>
            <a:ext cx="5530679" cy="2148280"/>
          </a:xfrm>
          <a:prstGeom prst="roundRect">
            <a:avLst>
              <a:gd name="adj" fmla="val 2128"/>
            </a:avLst>
          </a:prstGeom>
          <a:solidFill>
            <a:srgbClr val="E4F2EE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037" y="1719517"/>
            <a:ext cx="4570809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무중단 전환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037" y="2066899"/>
            <a:ext cx="5119307" cy="1462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 TABLE vocab_label_new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(LIKE vocab_label INCLUDING ALL);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COPY 적재 · 인덱스 생성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ALTER TABLE vocab_label     RENAME TO vocab_label_old;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ALTER TABLE vocab_label_new RENAME TO vocab_label;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_old는 한 릴리스 보관 → 즉시 롤백 가능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8017" y="1554968"/>
            <a:ext cx="5521538" cy="2148280"/>
          </a:xfrm>
          <a:prstGeom prst="roundRect">
            <a:avLst>
              <a:gd name="adj" fmla="val 2128"/>
            </a:avLst>
          </a:prstGeom>
          <a:solidFill>
            <a:srgbClr val="F5F8F7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72266" y="1719517"/>
            <a:ext cx="4570809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 대상과 트리거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99690" y="2194881"/>
            <a:ext cx="100558" cy="10055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700806" y="2121748"/>
            <a:ext cx="2833902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vocab_concept · label · relation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9598699" y="2121748"/>
            <a:ext cx="2011156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9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vocab 릴리스 머지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99690" y="2523980"/>
            <a:ext cx="100558" cy="10055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700806" y="2450847"/>
            <a:ext cx="2833902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vocab_bridge (approved만)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9598699" y="2450847"/>
            <a:ext cx="2011156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9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브리지 승인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99690" y="2853078"/>
            <a:ext cx="100558" cy="10055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700806" y="2779945"/>
            <a:ext cx="2833902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lci_entry · lci_material_emb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9598699" y="2779945"/>
            <a:ext cx="2011156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9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ecoinvent 버전 변경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99690" y="3182176"/>
            <a:ext cx="100558" cy="100558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700806" y="3109043"/>
            <a:ext cx="2833902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match_confirmed · confirmed_emb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9598699" y="3109043"/>
            <a:ext cx="2011156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95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확정 시</a:t>
            </a:r>
            <a:endParaRPr lang="en-US" sz="9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789" y="3886081"/>
            <a:ext cx="11216766" cy="228540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77037" y="4050630"/>
            <a:ext cx="548497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buClrTx/>
            </a:pPr>
            <a:r>
              <a:rPr lang="en-US" sz="1300" b="1" kern="1200" dirty="0">
                <a:solidFill>
                  <a:srgbClr val="1B5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전 검증 쿼리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77037" y="4388870"/>
            <a:ext cx="10695694" cy="164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① chem_name_en 누락 (8순위가 끊기는 지점)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vocab_concept WHERE chem_name_en IS NULL AND status='active';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② 중의어인데 ambiguous 미표시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normalized_text, array_agg(concept_id) FROM vocab_label GROUP BY 1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count(DISTINCT concept_id) &gt; 1 AND bool_and(NOT ambiguous);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③ 브리지가 존재하지 않는 lci_material 참조 (ecoinvent 버전 교체 시 최우선)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b.bridge_id FROM vocab_bridge b WHERE b.status='approved'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NOT EXISTS (SELECT 1 FROM lci_entry e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914126">
              <a:lnSpc>
                <a:spcPts val="1250"/>
              </a:lnSpc>
              <a:buClrTx/>
            </a:pPr>
            <a:r>
              <a:rPr lang="en-US" sz="900" kern="1200" dirty="0">
                <a:solidFill>
                  <a:srgbClr val="1E2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WHERE e.lci_material=b.lci_material AND e.db_version=b.db_version);</a:t>
            </a:r>
            <a:endParaRPr lang="en-US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89" y="412266"/>
            <a:ext cx="7313295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2799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요점</a:t>
            </a:r>
            <a:endParaRPr lang="en-US" sz="2799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21072" y="960763"/>
            <a:ext cx="8227457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300" kern="1200" dirty="0">
                <a:solidFill>
                  <a:srgbClr val="8FAEA6"/>
                </a:solidFill>
                <a:latin typeface="Calibri" panose="020F0502020204030204"/>
                <a:ea typeface="+mn-ea"/>
                <a:cs typeface="+mn-cs"/>
              </a:rPr>
              <a:t>구현 시 가장 자주 어긋나는 지점</a:t>
            </a:r>
            <a:endParaRPr lang="en-US" sz="13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789" y="1536685"/>
            <a:ext cx="11198483" cy="566780"/>
          </a:xfrm>
          <a:prstGeom prst="roundRect">
            <a:avLst>
              <a:gd name="adj" fmla="val 8065"/>
            </a:avLst>
          </a:prstGeom>
          <a:solidFill>
            <a:srgbClr val="1A4A41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762" y="1637243"/>
            <a:ext cx="365665" cy="365665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94762" y="1637243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261543" y="1637243"/>
            <a:ext cx="393089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브리지는 LCI 물질명까지만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347846" y="1637243"/>
            <a:ext cx="617059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활동유형 · 지역 · ref_id를 박으면 production 추가 시 반영되지 않는다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789" y="2194882"/>
            <a:ext cx="11198483" cy="566780"/>
          </a:xfrm>
          <a:prstGeom prst="roundRect">
            <a:avLst>
              <a:gd name="adj" fmla="val 8065"/>
            </a:avLst>
          </a:prstGeom>
          <a:solidFill>
            <a:srgbClr val="1A4A41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4762" y="2295439"/>
            <a:ext cx="365665" cy="365665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94762" y="2295439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261543" y="2295439"/>
            <a:ext cx="393089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2~5순위 테이블에 벡터 없음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347846" y="2295439"/>
            <a:ext cx="617059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완전일치는 btree. 벡터를 두면 결정론성이 깨지고 재현이 안 된다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789" y="2853078"/>
            <a:ext cx="11198483" cy="566780"/>
          </a:xfrm>
          <a:prstGeom prst="roundRect">
            <a:avLst>
              <a:gd name="adj" fmla="val 8065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94762" y="2953636"/>
            <a:ext cx="365665" cy="365665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94762" y="2953636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261543" y="2953636"/>
            <a:ext cx="393089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스코프는 하드 필터가 아님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347846" y="2953636"/>
            <a:ext cx="617059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UNION ALL 폴백으로 도메인 추정 오류가 0건 결과를 만들지 않게 한다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2789" y="3511275"/>
            <a:ext cx="11198483" cy="566780"/>
          </a:xfrm>
          <a:prstGeom prst="roundRect">
            <a:avLst>
              <a:gd name="adj" fmla="val 8065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94762" y="3611832"/>
            <a:ext cx="365665" cy="365665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94762" y="3611832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261543" y="3611832"/>
            <a:ext cx="393089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treatment는 WHERE에서 제거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5347846" y="3611832"/>
            <a:ext cx="617059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ORDER BY 최하위로 두면 다른 후보가 없을 때 뽑힌다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789" y="4169471"/>
            <a:ext cx="11198483" cy="566780"/>
          </a:xfrm>
          <a:prstGeom prst="roundRect">
            <a:avLst>
              <a:gd name="adj" fmla="val 8065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94762" y="4270029"/>
            <a:ext cx="365665" cy="365665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94762" y="4270029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261543" y="4270029"/>
            <a:ext cx="393089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chem_name_en 누락을 지표로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5347846" y="4270029"/>
            <a:ext cx="617059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상위어 체인 각 단계에 영문명이 없으면 8순위가 끊긴다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2789" y="4827668"/>
            <a:ext cx="11198483" cy="566780"/>
          </a:xfrm>
          <a:prstGeom prst="roundRect">
            <a:avLst>
              <a:gd name="adj" fmla="val 8065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94762" y="4928225"/>
            <a:ext cx="365665" cy="365665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694762" y="4928225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1261543" y="4928225"/>
            <a:ext cx="393089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함수는 단일 모듈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5347846" y="4928225"/>
            <a:ext cx="617059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배치와 매칭이 다른 규칙을 쓰면 조용히 어긋난다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02789" y="5485864"/>
            <a:ext cx="11198483" cy="566780"/>
          </a:xfrm>
          <a:prstGeom prst="roundRect">
            <a:avLst>
              <a:gd name="adj" fmla="val 8065"/>
            </a:avLst>
          </a:prstGeom>
          <a:solidFill>
            <a:srgbClr val="164038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94762" y="5586422"/>
            <a:ext cx="365665" cy="365665"/>
          </a:xfrm>
          <a:prstGeom prst="ellipse">
            <a:avLst/>
          </a:prstGeom>
          <a:solidFill>
            <a:srgbClr val="2A5C52"/>
          </a:solidFill>
          <a:ln w="12700">
            <a:solidFill>
              <a:srgbClr val="2A5C52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694762" y="5586422"/>
            <a:ext cx="365665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126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1261543" y="5586422"/>
            <a:ext cx="393089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250" b="1" kern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DB는 파생물 · 직접 수정 금지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5347846" y="5586422"/>
            <a:ext cx="617059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050" kern="1200" dirty="0">
                <a:solidFill>
                  <a:srgbClr val="9CBAB2"/>
                </a:solidFill>
                <a:latin typeface="Calibri" panose="020F0502020204030204"/>
                <a:ea typeface="+mn-ea"/>
                <a:cs typeface="+mn-cs"/>
              </a:rPr>
              <a:t>다음 배치에서 덮이고 git 이력에도 없어 추적이 불가능해진다</a:t>
            </a:r>
            <a:endParaRPr lang="en-US" sz="10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521072" y="6262902"/>
            <a:ext cx="10969943" cy="292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126">
              <a:buClrTx/>
            </a:pPr>
            <a:r>
              <a:rPr lang="en-US" sz="1100" i="1" kern="1200" dirty="0">
                <a:solidFill>
                  <a:srgbClr val="2FA98C"/>
                </a:solidFill>
                <a:latin typeface="Calibri" panose="020F0502020204030204"/>
                <a:ea typeface="+mn-ea"/>
                <a:cs typeface="+mn-cs"/>
              </a:rPr>
              <a:t>먼저 확인할 것 : DISTINCT lci_material 개수 · production 보유 비율 · 중의어 실제 건수</a:t>
            </a:r>
            <a:endParaRPr lang="en-US" sz="11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pPr defTabSz="914126">
              <a:buClrTx/>
            </a:pPr>
            <a:endParaRPr lang="ko-KR" altLang="en-US" sz="1799" kern="120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126">
              <a:buClrTx/>
            </a:pPr>
            <a:r>
              <a:rPr lang="en-US" sz="1000" kern="12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E7DF54-95B9-4F80-BA56-37B13567DF53}">
  <we:reference id="f5f369e5-aa35-49d7-ad7b-638152ddb008" version="1.0.0.1" store="EXCatalog" storeType="EXCatalog"/>
  <we:alternateReferences>
    <we:reference id="WA200010001" version="1.0.0.1" store="ko-KR" storeType="OMEX"/>
  </we:alternateReferences>
  <we:properties>
    <we:property name="claude.fileId" value="&quot;d14ae789-d5fa-4494-95f5-c7245ecdcdc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4b45970-a957-41b4-858c-22a4696664d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585F2B4E7E39A42B8EB07FF471ECFD1" ma:contentTypeVersion="9" ma:contentTypeDescription="새 문서를 만듭니다." ma:contentTypeScope="" ma:versionID="d8ec57e69abe3aa48e80a8ef333c3b46">
  <xsd:schema xmlns:xsd="http://www.w3.org/2001/XMLSchema" xmlns:xs="http://www.w3.org/2001/XMLSchema" xmlns:p="http://schemas.microsoft.com/office/2006/metadata/properties" xmlns:ns2="04b45970-a957-41b4-858c-22a4696664d1" targetNamespace="http://schemas.microsoft.com/office/2006/metadata/properties" ma:root="true" ma:fieldsID="cee1b984cb2a4cc3c336de1cd879b012" ns2:_="">
    <xsd:import namespace="04b45970-a957-41b4-858c-22a4696664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b45970-a957-41b4-858c-22a4696664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7ffac9f6-4b98-40ee-80b5-beec5dc617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E8973C-7CBB-481C-ABA2-80171736E8BF}">
  <ds:schemaRefs>
    <ds:schemaRef ds:uri="http://www.w3.org/XML/1998/namespace"/>
    <ds:schemaRef ds:uri="04b45970-a957-41b4-858c-22a4696664d1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89992FF-0C99-40F6-B34B-E6F95F7578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E3E084-1460-4CDF-A665-9E499C085A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b45970-a957-41b4-858c-22a4696664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9590</TotalTime>
  <Words>8312</Words>
  <Application>Microsoft Office PowerPoint</Application>
  <PresentationFormat>사용자 지정</PresentationFormat>
  <Paragraphs>1661</Paragraphs>
  <Slides>37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37</vt:i4>
      </vt:variant>
    </vt:vector>
  </HeadingPairs>
  <TitlesOfParts>
    <vt:vector size="50" baseType="lpstr">
      <vt:lpstr>Wingdings</vt:lpstr>
      <vt:lpstr>Courier New</vt:lpstr>
      <vt:lpstr>Inter Light</vt:lpstr>
      <vt:lpstr>Inter</vt:lpstr>
      <vt:lpstr>KoPub돋움체 Medium</vt:lpstr>
      <vt:lpstr>맑은 고딕</vt:lpstr>
      <vt:lpstr>Cascadia Mono SemiBold</vt:lpstr>
      <vt:lpstr>KoPub돋움체 Bold</vt:lpstr>
      <vt:lpstr>Arial</vt:lpstr>
      <vt:lpstr>맑은 고딕</vt:lpstr>
      <vt:lpstr>Calibri</vt:lpstr>
      <vt:lpstr>Office Theme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오 민경</cp:lastModifiedBy>
  <cp:revision>1804</cp:revision>
  <dcterms:created xsi:type="dcterms:W3CDTF">2013-01-27T09:14:16Z</dcterms:created>
  <dcterms:modified xsi:type="dcterms:W3CDTF">2026-09-14T02:02:25Z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0x0101004585F2B4E7E39A42B8EB07FF471ECFD1</vt:lpwstr>
  </property>
  <property fmtid="{D5CDD505-2E9C-101B-9397-08002B2CF9AE}" pid="3" name="MediaServiceImageTags">
    <vt:lpwstr/>
  </property>
</Properties>
</file>