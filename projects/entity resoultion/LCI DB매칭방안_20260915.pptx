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22"/>
  </p:notesMasterIdLst>
  <p:sldIdLst>
    <p:sldId id="4240" r:id="rId5"/>
    <p:sldId id="4210" r:id="rId6"/>
    <p:sldId id="4248" r:id="rId7"/>
    <p:sldId id="260" r:id="rId8"/>
    <p:sldId id="4269" r:id="rId9"/>
    <p:sldId id="4272" r:id="rId10"/>
    <p:sldId id="4271" r:id="rId11"/>
    <p:sldId id="4273" r:id="rId12"/>
    <p:sldId id="4274" r:id="rId13"/>
    <p:sldId id="4276" r:id="rId14"/>
    <p:sldId id="4275" r:id="rId15"/>
    <p:sldId id="4247" r:id="rId16"/>
    <p:sldId id="4256" r:id="rId17"/>
    <p:sldId id="4253" r:id="rId18"/>
    <p:sldId id="4252" r:id="rId19"/>
    <p:sldId id="4255" r:id="rId20"/>
    <p:sldId id="4250" r:id="rId21"/>
  </p:sldIdLst>
  <p:sldSz cx="12188825" cy="6858000"/>
  <p:notesSz cx="6858000" cy="9144000"/>
  <p:embeddedFontLst>
    <p:embeddedFont>
      <p:font typeface="Cascadia Mono SemiBold" panose="020B0609020000020004" pitchFamily="49" charset="0"/>
      <p:bold r:id="rId23"/>
      <p:boldItalic r:id="rId24"/>
    </p:embeddedFont>
    <p:embeddedFont>
      <p:font typeface="Inter" panose="02000503000000020004" pitchFamily="2" charset="0"/>
      <p:regular r:id="rId25"/>
      <p:bold r:id="rId26"/>
      <p:italic r:id="rId27"/>
      <p:boldItalic r:id="rId28"/>
    </p:embeddedFont>
    <p:embeddedFont>
      <p:font typeface="Inter Light" panose="02000503000000020004" pitchFamily="2" charset="0"/>
      <p:regular r:id="rId29"/>
      <p:italic r:id="rId30"/>
    </p:embeddedFont>
    <p:embeddedFont>
      <p:font typeface="KoPub돋움체 Bold" panose="02020603020101020101" pitchFamily="18" charset="-127"/>
      <p:regular r:id="rId31"/>
    </p:embeddedFont>
    <p:embeddedFont>
      <p:font typeface="KoPub돋움체 Medium" panose="02020603020101020101" pitchFamily="18" charset="-127"/>
      <p:regular r:id="rId32"/>
    </p:embeddedFont>
    <p:embeddedFont>
      <p:font typeface="맑은 고딕" panose="020B0503020000020004" pitchFamily="50" charset="-127"/>
      <p:regular r:id="rId33"/>
      <p:bold r:id="rId34"/>
    </p:embeddedFont>
    <p:embeddedFont>
      <p:font typeface="맑은 고딕" panose="020B0503020000020004" pitchFamily="50" charset="-127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D560FBCC-745A-504C-B58C-2C6F77A0E888}">
          <p14:sldIdLst>
            <p14:sldId id="4240"/>
            <p14:sldId id="4210"/>
            <p14:sldId id="4248"/>
            <p14:sldId id="260"/>
            <p14:sldId id="4269"/>
            <p14:sldId id="4272"/>
            <p14:sldId id="4271"/>
            <p14:sldId id="4273"/>
            <p14:sldId id="4274"/>
            <p14:sldId id="4276"/>
            <p14:sldId id="4275"/>
            <p14:sldId id="4247"/>
            <p14:sldId id="4256"/>
            <p14:sldId id="4253"/>
            <p14:sldId id="4252"/>
            <p14:sldId id="4255"/>
            <p14:sldId id="42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6" userDrawn="1">
          <p15:clr>
            <a:srgbClr val="000000"/>
          </p15:clr>
        </p15:guide>
        <p15:guide id="3" pos="3839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6" roundtripDataSignature="AMtx7mhXa4x5ZG5cYxKlg7iFFTtHkFXodQ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F8035C-CE7C-9C39-F596-076199374637}" name="이 충연" initials="충이" userId="S::cylee@surromind.ai::041614f1-4815-4856-84d0-a688c4d8b3c5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써로마인드 마케팅" initials="" lastIdx="1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63EB"/>
    <a:srgbClr val="0088CF"/>
    <a:srgbClr val="FE5000"/>
    <a:srgbClr val="1A1A1A"/>
    <a:srgbClr val="F5D421"/>
    <a:srgbClr val="5454A6"/>
    <a:srgbClr val="22215A"/>
    <a:srgbClr val="4152EB"/>
    <a:srgbClr val="2E629B"/>
    <a:srgbClr val="2650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1FDD0C3-F311-486D-AA3B-C831FA89247B}">
  <a:tblStyle styleId="{C1FDD0C3-F311-486D-AA3B-C831FA89247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03" autoAdjust="0"/>
    <p:restoredTop sz="85823" autoAdjust="0"/>
  </p:normalViewPr>
  <p:slideViewPr>
    <p:cSldViewPr snapToGrid="0">
      <p:cViewPr>
        <p:scale>
          <a:sx n="75" d="100"/>
          <a:sy n="75" d="100"/>
        </p:scale>
        <p:origin x="1182" y="1344"/>
      </p:cViewPr>
      <p:guideLst>
        <p:guide orient="horz" pos="2160"/>
        <p:guide pos="2886"/>
        <p:guide pos="3839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7644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4.fntdata"/><Relationship Id="rId21" Type="http://schemas.openxmlformats.org/officeDocument/2006/relationships/slide" Target="slides/slide17.xml"/><Relationship Id="rId34" Type="http://schemas.openxmlformats.org/officeDocument/2006/relationships/font" Target="fonts/font12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7.fntdata"/><Relationship Id="rId62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57" Type="http://schemas.openxmlformats.org/officeDocument/2006/relationships/commentAuthors" Target="commentAuthors.xml"/><Relationship Id="rId61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9.fntdata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56" Type="http://customschemas.google.com/relationships/presentationmetadata" Target="meta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5411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19C9A-907C-EE36-8AB0-BE5E6DA22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95C12D-6479-A5ED-EE63-9A7D9A3DF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5D9CF7-0335-7E22-A88D-6DFFAD662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F5B6D-480B-40F4-9B66-062361D95A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72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CAS가 일치해도 form과 공정이 다르면 다른 엔트리다. CAS를 무조건 게이트로 쓰면 이 케이스가 조용히 통과한다.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E4515-6A55-8540-7F56-F19C4F07E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653F10-D5EE-B987-F2D1-342C5BBC39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58F0AC-BBD7-BD01-751E-6520B6871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8CA97-C77D-6D7D-48E5-7634D82E10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88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0FC13-FF8C-29E4-677C-4BAEF3824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5DE119-ECE1-B817-0CBE-935E7B828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B0BC5D-2649-57B6-9A3F-41414A19B0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290C6-1C1A-95D0-E8BE-8ED33FB7B2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6847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C2B5A-D91B-8B58-4C6F-8CEBB40CC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FCEB9A-EB58-E276-458C-54C4CC805B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E56E51-66C9-7677-1A91-583B81DEA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C149D-4F8E-D3C8-E53A-ADD9713748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7757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56F22-D03D-D633-F11D-93F20D75E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6A4C32-CED0-0C8A-6B2A-E39B042232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AFC2DB-5B9C-F35D-2E3D-D8C6BB7DE0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CEF2C-02C8-8000-11FB-9BD302823A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7086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38B17-E267-1A87-033B-CAED1173D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A0D78-B1E4-585D-9BE2-01B963728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F580A2-10EA-9E79-68B4-7A418CEAE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87524-7B50-3D5B-3ECC-7ECCF96C0E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906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7EF62-E59F-69C7-3F15-62B662AF9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DBF865-A948-856E-41D4-C72274B83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22CB6F-9629-8947-8088-036026D8B4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BFC94-D269-FA05-29D7-37776BECD7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3849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011C2-469C-4E69-C9FD-8A6E42124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1E5F9E-190A-9AAA-6D4A-1A383016DF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ADEBA2-C53F-8FCD-0266-A08D94BEBE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6BEFC-07A2-C094-549D-38E9E075C5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4444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0E5A0-92BC-8F43-5964-AFFE58104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23F151-AA1C-C82C-99C1-0F15AD07C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800819-E395-C13E-11A9-A0F4FEC4B7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9CFA9-F54E-5037-6CB8-3638A28444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1211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3CEF3-2C3A-05D4-7060-C69B1AE3A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E2455E-C7AE-6440-57A7-37D2322239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BB2B7F-7221-F5F1-CE04-FBC5F3C34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8F2E4-1008-9248-0720-AF86D51F2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7138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8F086-8385-4096-9F66-C8FD89488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9707E6-4FBF-6B7D-8054-3CBFE911B5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CD4BC-B714-D3DD-7A6A-B0C8B8D4C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34A43-6299-832C-C3A5-58CF473F64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3216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2AA9F-960A-F0BD-AEF4-8E113BECF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046F1C-49E0-0A88-61F7-296025DC44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A38B2F-9133-1467-F587-B293E1FD6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D323C-F71F-16A1-AEA3-9F7C955450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297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81A73-44CD-FF2A-15B6-0DD9FF0FE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5DEE13-60E5-587F-00C2-BA78798DCD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0D1B73-B126-A21E-3F1F-85BB2C217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6131B-01A3-5832-3FB5-36BBC16503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87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title"/>
          </p:nvPr>
        </p:nvSpPr>
        <p:spPr>
          <a:xfrm>
            <a:off x="457200" y="274646"/>
            <a:ext cx="8229600" cy="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body" idx="1"/>
          </p:nvPr>
        </p:nvSpPr>
        <p:spPr>
          <a:xfrm>
            <a:off x="457200" y="1286451"/>
            <a:ext cx="8229600" cy="48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667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2000"/>
            </a:lvl1pPr>
            <a:lvl2pPr marL="914400" lvl="1" indent="-2667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600"/>
              <a:buChar char="–"/>
              <a:defRPr sz="1600"/>
            </a:lvl2pPr>
            <a:lvl3pPr marL="1371600" lvl="2" indent="-2667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1200"/>
            </a:lvl3pPr>
            <a:lvl4pPr marL="1828800" lvl="3" indent="-2667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600"/>
              <a:buChar char="–"/>
              <a:defRPr sz="800"/>
            </a:lvl4pPr>
            <a:lvl5pPr marL="2286000" lvl="4" indent="-2667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600"/>
              <a:buChar char="»"/>
              <a:defRPr sz="800"/>
            </a:lvl5pPr>
            <a:lvl6pPr marL="2743200" lvl="5" indent="-2667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800"/>
            </a:lvl6pPr>
            <a:lvl7pPr marL="3200400" lvl="6" indent="-2667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800"/>
            </a:lvl7pPr>
            <a:lvl8pPr marL="3657600" lvl="7" indent="-2667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800"/>
            </a:lvl8pPr>
            <a:lvl9pPr marL="4114800" lvl="8" indent="-2667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600"/>
              <a:buChar char="•"/>
              <a:defRPr sz="800"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7D58C2-A8A4-177A-2A07-C05AAF1351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 t="24" r="1563" b="-24"/>
          <a:stretch>
            <a:fillRect/>
          </a:stretch>
        </p:blipFill>
        <p:spPr>
          <a:xfrm>
            <a:off x="-16909" y="13738"/>
            <a:ext cx="12188825" cy="685961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1">
            <a:extLst>
              <a:ext uri="{FF2B5EF4-FFF2-40B4-BE49-F238E27FC236}">
                <a16:creationId xmlns:a16="http://schemas.microsoft.com/office/drawing/2014/main" id="{96341A87-8860-E80F-CFEB-46C9B81FD42D}"/>
              </a:ext>
            </a:extLst>
          </p:cNvPr>
          <p:cNvSpPr/>
          <p:nvPr userDrawn="1"/>
        </p:nvSpPr>
        <p:spPr>
          <a:xfrm>
            <a:off x="5134724" y="6530669"/>
            <a:ext cx="2156295" cy="154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306E1B7-AD3E-4F41-A307-5F26E65F00CF}" type="slidenum">
              <a:rPr lang="en-US" altLang="ko-KR" sz="1000" smtClean="0">
                <a:solidFill>
                  <a:srgbClr val="BFBDBB">
                    <a:alpha val="100000"/>
                  </a:srgbClr>
                </a:solidFill>
                <a:latin typeface="+mj-ea"/>
                <a:ea typeface="+mj-ea"/>
                <a:cs typeface="Inter" panose="02000503000000020004" pitchFamily="2" charset="0"/>
              </a:rPr>
              <a:pPr marL="0" indent="0" algn="ctr">
                <a:buNone/>
              </a:pPr>
              <a:t>‹#›</a:t>
            </a:fld>
            <a:endParaRPr lang="en-US" sz="1050">
              <a:latin typeface="+mj-ea"/>
              <a:ea typeface="+mj-ea"/>
              <a:cs typeface="Inter" panose="02000503000000020004" pitchFamily="2" charset="0"/>
            </a:endParaRP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65217EC0-6D0C-A33F-949F-942A0FC94F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94908" y="6530668"/>
            <a:ext cx="1019885" cy="110189"/>
          </a:xfrm>
          <a:prstGeom prst="rect">
            <a:avLst/>
          </a:prstGeom>
        </p:spPr>
      </p:pic>
      <p:pic>
        <p:nvPicPr>
          <p:cNvPr id="6" name="그림 5" descr="폰트, 로고, 그래픽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F63FE6-34D3-EE62-67C5-39C145BA18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9667" t="4835" r="10917" b="21210"/>
          <a:stretch>
            <a:fillRect/>
          </a:stretch>
        </p:blipFill>
        <p:spPr>
          <a:xfrm>
            <a:off x="382377" y="6436172"/>
            <a:ext cx="937059" cy="277647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88757DD1-D2E7-7381-300F-D7AD2A65BEB1}"/>
              </a:ext>
            </a:extLst>
          </p:cNvPr>
          <p:cNvGrpSpPr/>
          <p:nvPr userDrawn="1"/>
        </p:nvGrpSpPr>
        <p:grpSpPr>
          <a:xfrm>
            <a:off x="0" y="619829"/>
            <a:ext cx="12188762" cy="50800"/>
            <a:chOff x="0" y="0"/>
            <a:chExt cx="12188762" cy="50800"/>
          </a:xfrm>
        </p:grpSpPr>
        <p:sp>
          <p:nvSpPr>
            <p:cNvPr id="11" name="Shape 1">
              <a:extLst>
                <a:ext uri="{FF2B5EF4-FFF2-40B4-BE49-F238E27FC236}">
                  <a16:creationId xmlns:a16="http://schemas.microsoft.com/office/drawing/2014/main" id="{EDDDE3B5-E215-E26D-CB99-0F5C3CCEEA67}"/>
                </a:ext>
              </a:extLst>
            </p:cNvPr>
            <p:cNvSpPr/>
            <p:nvPr userDrawn="1"/>
          </p:nvSpPr>
          <p:spPr>
            <a:xfrm>
              <a:off x="0" y="0"/>
              <a:ext cx="12188762" cy="50800"/>
            </a:xfrm>
            <a:prstGeom prst="rect">
              <a:avLst/>
            </a:prstGeom>
            <a:noFill/>
            <a:ln/>
          </p:spPr>
          <p:txBody>
            <a:bodyPr/>
            <a:lstStyle/>
            <a:p>
              <a:endParaRPr lang="ko-KR" altLang="en-US" sz="700"/>
            </a:p>
          </p:txBody>
        </p:sp>
        <p:sp>
          <p:nvSpPr>
            <p:cNvPr id="12" name="Shape 2">
              <a:extLst>
                <a:ext uri="{FF2B5EF4-FFF2-40B4-BE49-F238E27FC236}">
                  <a16:creationId xmlns:a16="http://schemas.microsoft.com/office/drawing/2014/main" id="{39B195B0-4D1C-7E0B-1E21-9A4ED5103703}"/>
                </a:ext>
              </a:extLst>
            </p:cNvPr>
            <p:cNvSpPr/>
            <p:nvPr userDrawn="1"/>
          </p:nvSpPr>
          <p:spPr>
            <a:xfrm>
              <a:off x="0" y="0"/>
              <a:ext cx="3808988" cy="50800"/>
            </a:xfrm>
            <a:prstGeom prst="rect">
              <a:avLst/>
            </a:prstGeom>
            <a:solidFill>
              <a:srgbClr val="FE5000">
                <a:alpha val="100000"/>
              </a:srgbClr>
            </a:solidFill>
            <a:ln/>
          </p:spPr>
          <p:txBody>
            <a:bodyPr/>
            <a:lstStyle/>
            <a:p>
              <a:endParaRPr lang="ko-KR" altLang="en-US" sz="700"/>
            </a:p>
          </p:txBody>
        </p:sp>
        <p:sp>
          <p:nvSpPr>
            <p:cNvPr id="13" name="Shape 3">
              <a:extLst>
                <a:ext uri="{FF2B5EF4-FFF2-40B4-BE49-F238E27FC236}">
                  <a16:creationId xmlns:a16="http://schemas.microsoft.com/office/drawing/2014/main" id="{54512DA0-9EFA-627F-49E1-A0719A00D330}"/>
                </a:ext>
              </a:extLst>
            </p:cNvPr>
            <p:cNvSpPr/>
            <p:nvPr userDrawn="1"/>
          </p:nvSpPr>
          <p:spPr>
            <a:xfrm>
              <a:off x="3808988" y="0"/>
              <a:ext cx="8379774" cy="50800"/>
            </a:xfrm>
            <a:prstGeom prst="rect">
              <a:avLst/>
            </a:prstGeom>
            <a:solidFill>
              <a:srgbClr val="333942">
                <a:alpha val="100000"/>
              </a:srgbClr>
            </a:solidFill>
            <a:ln/>
          </p:spPr>
          <p:txBody>
            <a:bodyPr/>
            <a:lstStyle/>
            <a:p>
              <a:endParaRPr lang="ko-KR" altLang="en-US" sz="700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ean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18439" y="6473952"/>
            <a:ext cx="799792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A09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446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디자인, 가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F1BE58-33F2-A166-9F47-C6AF5D18D6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8" b="768"/>
          <a:stretch>
            <a:fillRect/>
          </a:stretch>
        </p:blipFill>
        <p:spPr>
          <a:xfrm>
            <a:off x="-1" y="1"/>
            <a:ext cx="12188826" cy="6858000"/>
          </a:xfrm>
          <a:prstGeom prst="rect">
            <a:avLst/>
          </a:prstGeom>
        </p:spPr>
      </p:pic>
      <p:pic>
        <p:nvPicPr>
          <p:cNvPr id="24" name="그림 23" descr="블랙, 화이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CED1EB-CE5B-8F0B-E7B4-712C1695A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0"/>
            <a:ext cx="6780811" cy="6857999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7DBFEBFD-3AFD-5845-DEF7-DF421111AFB1}"/>
              </a:ext>
            </a:extLst>
          </p:cNvPr>
          <p:cNvSpPr/>
          <p:nvPr/>
        </p:nvSpPr>
        <p:spPr>
          <a:xfrm>
            <a:off x="7908966" y="0"/>
            <a:ext cx="4279860" cy="2695699"/>
          </a:xfrm>
          <a:prstGeom prst="rect">
            <a:avLst/>
          </a:prstGeom>
          <a:gradFill flip="none" rotWithShape="1">
            <a:gsLst>
              <a:gs pos="13000">
                <a:srgbClr val="F8F8FA"/>
              </a:gs>
              <a:gs pos="100000">
                <a:schemeClr val="bg1">
                  <a:lumMod val="0"/>
                  <a:lumOff val="100000"/>
                  <a:alpha val="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B999D03-C17D-48FE-C46A-A6F4BD3A30B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08615" y="309325"/>
            <a:ext cx="901145" cy="56772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BCBDCB4-8EFB-A8A1-CADF-E8B50382208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-3164" b="38029"/>
          <a:stretch>
            <a:fillRect/>
          </a:stretch>
        </p:blipFill>
        <p:spPr>
          <a:xfrm>
            <a:off x="8695463" y="496525"/>
            <a:ext cx="1154232" cy="193320"/>
          </a:xfrm>
          <a:prstGeom prst="rect">
            <a:avLst/>
          </a:prstGeom>
        </p:spPr>
      </p:pic>
      <p:pic>
        <p:nvPicPr>
          <p:cNvPr id="20" name="그림 19" descr="텍스트, 폰트, 로고, 원이(가) 표시된 사진&#10;&#10;자동 생성된 설명">
            <a:extLst>
              <a:ext uri="{FF2B5EF4-FFF2-40B4-BE49-F238E27FC236}">
                <a16:creationId xmlns:a16="http://schemas.microsoft.com/office/drawing/2014/main" id="{03881D7A-498B-F1DB-23BB-89F844A4C1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8680" y="306804"/>
            <a:ext cx="589215" cy="572762"/>
          </a:xfrm>
          <a:prstGeom prst="rect">
            <a:avLst/>
          </a:prstGeom>
        </p:spPr>
      </p:pic>
      <p:pic>
        <p:nvPicPr>
          <p:cNvPr id="22" name="그래픽 21">
            <a:extLst>
              <a:ext uri="{FF2B5EF4-FFF2-40B4-BE49-F238E27FC236}">
                <a16:creationId xmlns:a16="http://schemas.microsoft.com/office/drawing/2014/main" id="{3272872F-C8FA-78E9-6B75-6F26821168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2421" y="431810"/>
            <a:ext cx="1613997" cy="174377"/>
          </a:xfrm>
          <a:prstGeom prst="rect">
            <a:avLst/>
          </a:prstGeom>
        </p:spPr>
      </p:pic>
      <p:sp>
        <p:nvSpPr>
          <p:cNvPr id="2" name="Google Shape;86;p1">
            <a:extLst>
              <a:ext uri="{FF2B5EF4-FFF2-40B4-BE49-F238E27FC236}">
                <a16:creationId xmlns:a16="http://schemas.microsoft.com/office/drawing/2014/main" id="{1D19D41D-5221-D048-F229-B6E2F697FE76}"/>
              </a:ext>
            </a:extLst>
          </p:cNvPr>
          <p:cNvSpPr txBox="1">
            <a:spLocks/>
          </p:cNvSpPr>
          <p:nvPr/>
        </p:nvSpPr>
        <p:spPr>
          <a:xfrm>
            <a:off x="8189261" y="6236218"/>
            <a:ext cx="3468633" cy="31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r"/>
            <a:r>
              <a:rPr lang="en-US" sz="800" b="1" dirty="0">
                <a:solidFill>
                  <a:srgbClr val="666666"/>
                </a:solidFill>
                <a:latin typeface="+mj-ea"/>
                <a:ea typeface="+mj-ea"/>
                <a:cs typeface="Inter Light" panose="02000403000000020004" pitchFamily="2" charset="0"/>
              </a:rPr>
              <a:t>© 2026 SURROMIND Inc. All rights reserved.</a:t>
            </a:r>
            <a:endParaRPr lang="ko-KR" altLang="en-US" sz="800" b="1" dirty="0">
              <a:solidFill>
                <a:srgbClr val="666666"/>
              </a:solidFill>
              <a:latin typeface="+mj-ea"/>
              <a:ea typeface="+mj-ea"/>
              <a:cs typeface="Inter Light" panose="02000403000000020004" pitchFamily="2" charset="0"/>
            </a:endParaRPr>
          </a:p>
        </p:txBody>
      </p:sp>
      <p:sp>
        <p:nvSpPr>
          <p:cNvPr id="6" name="Google Shape;85;p1">
            <a:extLst>
              <a:ext uri="{FF2B5EF4-FFF2-40B4-BE49-F238E27FC236}">
                <a16:creationId xmlns:a16="http://schemas.microsoft.com/office/drawing/2014/main" id="{AC4A6E24-7472-6F17-DC68-68E5445295C7}"/>
              </a:ext>
            </a:extLst>
          </p:cNvPr>
          <p:cNvSpPr txBox="1">
            <a:spLocks/>
          </p:cNvSpPr>
          <p:nvPr/>
        </p:nvSpPr>
        <p:spPr>
          <a:xfrm>
            <a:off x="512421" y="2118571"/>
            <a:ext cx="7859851" cy="49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4400"/>
            </a:pPr>
            <a:r>
              <a:rPr lang="ko-KR" altLang="en-US" sz="4000" dirty="0">
                <a:solidFill>
                  <a:srgbClr val="FE5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" panose="02000503000000020004" pitchFamily="2" charset="0"/>
              </a:rPr>
              <a:t>탄소 관리 플랫폼 </a:t>
            </a:r>
            <a:r>
              <a:rPr lang="en-US" altLang="ko-KR" sz="4000" dirty="0">
                <a:solidFill>
                  <a:srgbClr val="FE5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" panose="02000503000000020004" pitchFamily="2" charset="0"/>
              </a:rPr>
              <a:t>AI Agent </a:t>
            </a:r>
            <a:r>
              <a:rPr lang="ko-KR" altLang="en-US" sz="4000" dirty="0">
                <a:solidFill>
                  <a:srgbClr val="FE5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" panose="02000503000000020004" pitchFamily="2" charset="0"/>
              </a:rPr>
              <a:t>개발</a:t>
            </a:r>
          </a:p>
        </p:txBody>
      </p:sp>
      <p:pic>
        <p:nvPicPr>
          <p:cNvPr id="11" name="그림 10" descr="폰트, 로고, 그래픽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C27F1B-03BF-B074-07DF-8CBE86206C6D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9667" t="4835" r="10917" b="21210"/>
          <a:stretch>
            <a:fillRect/>
          </a:stretch>
        </p:blipFill>
        <p:spPr>
          <a:xfrm>
            <a:off x="530928" y="1478201"/>
            <a:ext cx="1664414" cy="4931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97AADF-62C4-3B3E-FC7F-951BB244B403}"/>
              </a:ext>
            </a:extLst>
          </p:cNvPr>
          <p:cNvSpPr txBox="1"/>
          <p:nvPr/>
        </p:nvSpPr>
        <p:spPr>
          <a:xfrm>
            <a:off x="530928" y="3600450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2026.09.</a:t>
            </a:r>
            <a:endParaRPr lang="ko-KR" altLang="en-US" sz="18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" name="Google Shape;85;p1">
            <a:extLst>
              <a:ext uri="{FF2B5EF4-FFF2-40B4-BE49-F238E27FC236}">
                <a16:creationId xmlns:a16="http://schemas.microsoft.com/office/drawing/2014/main" id="{EED4E9D3-BDE6-AE5C-C314-7D367FF91226}"/>
              </a:ext>
            </a:extLst>
          </p:cNvPr>
          <p:cNvSpPr txBox="1">
            <a:spLocks/>
          </p:cNvSpPr>
          <p:nvPr/>
        </p:nvSpPr>
        <p:spPr>
          <a:xfrm>
            <a:off x="530928" y="2772180"/>
            <a:ext cx="4822122" cy="362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SzPts val="4400"/>
            </a:pP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" panose="02000503000000020004" pitchFamily="2" charset="0"/>
              </a:rPr>
              <a:t>LCI DB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" panose="02000503000000020004" pitchFamily="2" charset="0"/>
              </a:rPr>
              <a:t>매칭 中 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" panose="02000503000000020004" pitchFamily="2" charset="0"/>
              </a:rPr>
              <a:t>물질명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" panose="02000503000000020004" pitchFamily="2" charset="0"/>
              </a:rPr>
              <a:t> 우선순위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" panose="02000503000000020004" pitchFamily="2" charset="0"/>
              </a:rPr>
              <a:t>(Ranking)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" panose="02000503000000020004" pitchFamily="2" charset="0"/>
              </a:rPr>
              <a:t> 방안</a:t>
            </a: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Inter" panose="02000503000000020004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B890D-9A69-3019-29A1-0ED802CFC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19">
            <a:extLst>
              <a:ext uri="{FF2B5EF4-FFF2-40B4-BE49-F238E27FC236}">
                <a16:creationId xmlns:a16="http://schemas.microsoft.com/office/drawing/2014/main" id="{DCED71EB-2773-FB67-FD21-16BD9DB10093}"/>
              </a:ext>
            </a:extLst>
          </p:cNvPr>
          <p:cNvSpPr/>
          <p:nvPr/>
        </p:nvSpPr>
        <p:spPr>
          <a:xfrm>
            <a:off x="825846" y="1717919"/>
            <a:ext cx="4531014" cy="2340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  <a:buSzPct val="100000"/>
            </a:pPr>
            <a:r>
              <a:rPr lang="en-US" altLang="ko-KR" sz="24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Ⅰ. </a:t>
            </a:r>
            <a:r>
              <a:rPr lang="ko-KR" altLang="en-US" sz="24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참고사항</a:t>
            </a:r>
            <a:endParaRPr lang="en-US" altLang="ko-KR" sz="2400" dirty="0">
              <a:solidFill>
                <a:srgbClr val="1A1A1A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Inter Extra Bold" panose="02000503000000020004" pitchFamily="2" charset="0"/>
            </a:endParaRPr>
          </a:p>
          <a:p>
            <a:pPr marL="715963" indent="-715963">
              <a:lnSpc>
                <a:spcPct val="110000"/>
              </a:lnSpc>
              <a:spcBef>
                <a:spcPts val="400"/>
              </a:spcBef>
              <a:buSzPct val="100000"/>
            </a:pPr>
            <a:r>
              <a:rPr lang="ko-KR" altLang="en-US" sz="20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    </a:t>
            </a: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1. </a:t>
            </a:r>
            <a:r>
              <a:rPr lang="ko-KR" altLang="en-US" sz="2000" dirty="0" err="1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외에 참조가 가능한 항목</a:t>
            </a:r>
            <a:endParaRPr lang="en-US" altLang="ko-KR" sz="2000" dirty="0">
              <a:solidFill>
                <a:srgbClr val="1A1A1A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Inter Extra Bold" panose="02000503000000020004" pitchFamily="2" charset="0"/>
            </a:endParaRPr>
          </a:p>
          <a:p>
            <a:pPr marL="715963" indent="-715963">
              <a:lnSpc>
                <a:spcPct val="110000"/>
              </a:lnSpc>
              <a:spcBef>
                <a:spcPts val="400"/>
              </a:spcBef>
              <a:buSzPct val="100000"/>
            </a:pP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    2. 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자동차</a:t>
            </a: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2000" dirty="0" err="1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auto_lamp_G</a:t>
            </a: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예시</a:t>
            </a:r>
          </a:p>
          <a:p>
            <a:pPr marL="715963" indent="-715963">
              <a:lnSpc>
                <a:spcPct val="110000"/>
              </a:lnSpc>
              <a:spcBef>
                <a:spcPts val="400"/>
              </a:spcBef>
              <a:buSzPct val="100000"/>
            </a:pP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    3. 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항목간 관계</a:t>
            </a:r>
            <a:endParaRPr lang="en-US" altLang="ko-KR" sz="2000" dirty="0">
              <a:solidFill>
                <a:srgbClr val="1A1A1A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Inter Extra Bold" panose="02000503000000020004" pitchFamily="2" charset="0"/>
            </a:endParaRPr>
          </a:p>
          <a:p>
            <a:pPr marL="715963" indent="-715963">
              <a:lnSpc>
                <a:spcPct val="110000"/>
              </a:lnSpc>
              <a:spcBef>
                <a:spcPts val="400"/>
              </a:spcBef>
              <a:buSzPct val="100000"/>
            </a:pP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    4. LLM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Wiki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화면</a:t>
            </a: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UI 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예시</a:t>
            </a:r>
            <a:endParaRPr lang="en-US" altLang="ko-KR" sz="2000" dirty="0">
              <a:solidFill>
                <a:srgbClr val="1A1A1A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Inter Extra Bold" panose="02000503000000020004" pitchFamily="2" charset="0"/>
            </a:endParaRPr>
          </a:p>
          <a:p>
            <a:pPr marL="715963" indent="-715963">
              <a:lnSpc>
                <a:spcPct val="110000"/>
              </a:lnSpc>
              <a:spcBef>
                <a:spcPts val="400"/>
              </a:spcBef>
              <a:buSzPct val="100000"/>
            </a:pP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    5. LCI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DB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명 확인사항</a:t>
            </a: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  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D493ABC-758F-F0FF-7472-255B25D16C6A}"/>
              </a:ext>
            </a:extLst>
          </p:cNvPr>
          <p:cNvSpPr txBox="1"/>
          <p:nvPr/>
        </p:nvSpPr>
        <p:spPr>
          <a:xfrm>
            <a:off x="428878" y="190311"/>
            <a:ext cx="2600214" cy="749179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  <a:tabLst/>
              <a:defRPr/>
            </a:pPr>
            <a:r>
              <a:rPr kumimoji="0" lang="en-US" altLang="ko-KR" sz="3600" u="none" strike="noStrike" kern="0" cap="none" spc="0" normalizeH="0" baseline="0" noProof="0" dirty="0">
                <a:ln>
                  <a:noFill/>
                </a:ln>
                <a:solidFill>
                  <a:srgbClr val="FE5000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  <a:sym typeface="Arial"/>
              </a:rPr>
              <a:t>CONTENTS</a:t>
            </a:r>
          </a:p>
        </p:txBody>
      </p:sp>
      <p:sp>
        <p:nvSpPr>
          <p:cNvPr id="12" name="Text 19">
            <a:extLst>
              <a:ext uri="{FF2B5EF4-FFF2-40B4-BE49-F238E27FC236}">
                <a16:creationId xmlns:a16="http://schemas.microsoft.com/office/drawing/2014/main" id="{C17B2682-F718-60E7-078C-29B57111731B}"/>
              </a:ext>
            </a:extLst>
          </p:cNvPr>
          <p:cNvSpPr/>
          <p:nvPr/>
        </p:nvSpPr>
        <p:spPr>
          <a:xfrm>
            <a:off x="6396066" y="1717918"/>
            <a:ext cx="4531014" cy="2549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0000"/>
              </a:lnSpc>
              <a:spcBef>
                <a:spcPts val="400"/>
              </a:spcBef>
              <a:buSzPct val="100000"/>
            </a:pPr>
            <a:r>
              <a:rPr lang="en-US" altLang="ko-KR" sz="24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Ⅱ. </a:t>
            </a:r>
            <a:r>
              <a:rPr lang="ko-KR" altLang="en-US" sz="2400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sz="24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24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DB </a:t>
            </a:r>
            <a:r>
              <a:rPr lang="ko-KR" altLang="en-US" sz="2400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매칭방안</a:t>
            </a:r>
            <a:endParaRPr lang="en-US" altLang="ko-KR" sz="2400" dirty="0">
              <a:solidFill>
                <a:srgbClr val="1A1A1A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Inter Extra Bold" panose="02000503000000020004" pitchFamily="2" charset="0"/>
            </a:endParaRPr>
          </a:p>
          <a:p>
            <a:pPr marL="715963" indent="-715963">
              <a:lnSpc>
                <a:spcPct val="110000"/>
              </a:lnSpc>
              <a:spcBef>
                <a:spcPts val="400"/>
              </a:spcBef>
              <a:buSzPct val="100000"/>
            </a:pPr>
            <a:r>
              <a:rPr lang="ko-KR" altLang="en-US" sz="20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    </a:t>
            </a: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1. 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전제요건</a:t>
            </a:r>
            <a:endParaRPr lang="en-US" altLang="ko-KR" sz="2000" dirty="0">
              <a:solidFill>
                <a:srgbClr val="1A1A1A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Inter Extra Bold" panose="02000503000000020004" pitchFamily="2" charset="0"/>
            </a:endParaRPr>
          </a:p>
          <a:p>
            <a:pPr marL="715963" indent="-715963">
              <a:lnSpc>
                <a:spcPct val="110000"/>
              </a:lnSpc>
              <a:spcBef>
                <a:spcPts val="400"/>
              </a:spcBef>
              <a:buSzPct val="100000"/>
            </a:pP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    2. </a:t>
            </a:r>
            <a:r>
              <a:rPr lang="ko-KR" altLang="en-US" sz="2000" dirty="0" err="1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매칭 우선순위</a:t>
            </a:r>
            <a:endParaRPr lang="en-US" altLang="ko-KR" sz="2000" dirty="0">
              <a:solidFill>
                <a:srgbClr val="1A1A1A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Inter Extra Bold" panose="02000503000000020004" pitchFamily="2" charset="0"/>
            </a:endParaRPr>
          </a:p>
          <a:p>
            <a:pPr marL="715963" indent="-715963">
              <a:lnSpc>
                <a:spcPct val="110000"/>
              </a:lnSpc>
              <a:spcBef>
                <a:spcPts val="400"/>
              </a:spcBef>
              <a:buSzPct val="100000"/>
            </a:pP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    3. </a:t>
            </a:r>
            <a:r>
              <a:rPr lang="ko-KR" altLang="en-US" sz="2000" dirty="0" err="1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매칭 </a:t>
            </a: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flow</a:t>
            </a:r>
          </a:p>
          <a:p>
            <a:pPr marL="715963" indent="-715963">
              <a:lnSpc>
                <a:spcPct val="110000"/>
              </a:lnSpc>
              <a:spcBef>
                <a:spcPts val="400"/>
              </a:spcBef>
              <a:buSzPct val="100000"/>
            </a:pP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     4. 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할 수 있는 것 </a:t>
            </a: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vs 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할 수 없는 것 </a:t>
            </a: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vs 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고려할 수 있는 것 </a:t>
            </a:r>
            <a:r>
              <a:rPr lang="en-US" altLang="ko-KR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vs </a:t>
            </a:r>
            <a:r>
              <a:rPr lang="ko-KR" altLang="en-US" sz="2000" dirty="0">
                <a:solidFill>
                  <a:srgbClr val="1A1A1A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Inter Extra Bold" panose="02000503000000020004" pitchFamily="2" charset="0"/>
              </a:rPr>
              <a:t>향후 가능한 것</a:t>
            </a:r>
            <a:endParaRPr lang="en-US" altLang="ko-KR" sz="2000" dirty="0">
              <a:solidFill>
                <a:srgbClr val="1A1A1A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Inter Extra Bold" panose="02000503000000020004" pitchFamily="2" charset="0"/>
            </a:endParaRPr>
          </a:p>
          <a:p>
            <a:pPr marL="715963" indent="-715963">
              <a:lnSpc>
                <a:spcPct val="110000"/>
              </a:lnSpc>
              <a:spcBef>
                <a:spcPts val="400"/>
              </a:spcBef>
              <a:buSzPct val="100000"/>
            </a:pPr>
            <a:endParaRPr lang="en-US" altLang="ko-KR" sz="1200" dirty="0">
              <a:solidFill>
                <a:srgbClr val="1A1A1A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Inter Extra Bold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4682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62232-DDDE-33F6-538E-3DF69B5F4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5CC8416-0454-FA85-3AC5-DF0F8C8EB8B0}"/>
              </a:ext>
            </a:extLst>
          </p:cNvPr>
          <p:cNvSpPr txBox="1"/>
          <p:nvPr/>
        </p:nvSpPr>
        <p:spPr>
          <a:xfrm>
            <a:off x="438615" y="163552"/>
            <a:ext cx="3852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1. </a:t>
            </a:r>
            <a:r>
              <a:rPr lang="ko-KR" altLang="en-US" sz="1800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외에 참조가 가능한 항목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(1/3)</a:t>
            </a:r>
            <a:endParaRPr lang="ko-KR" altLang="en-US" sz="1800" dirty="0"/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978260B8-A99F-B561-D82D-7DA334477C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2150"/>
              </p:ext>
            </p:extLst>
          </p:nvPr>
        </p:nvGraphicFramePr>
        <p:xfrm>
          <a:off x="502920" y="1177159"/>
          <a:ext cx="11201400" cy="3345245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3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항목</a:t>
                      </a:r>
                      <a:endParaRPr lang="en-US" sz="1300" b="0" i="0" u="none" strike="noStrike" cap="none" dirty="0">
                        <a:solidFill>
                          <a:schemeClr val="bg1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Inter Extra Bold" panose="02000503000000020004" pitchFamily="2" charset="0"/>
                        <a:sym typeface="Arial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분류 대상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부여 주체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G Lamp 값(</a:t>
                      </a:r>
                      <a:r>
                        <a:rPr lang="ko-KR" alt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예시</a:t>
                      </a:r>
                      <a:r>
                        <a:rPr lang="en-US" altLang="ko-KR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)</a:t>
                      </a:r>
                      <a:endParaRPr lang="en-US" sz="1300" b="0" i="0" u="none" strike="noStrike" cap="none" dirty="0">
                        <a:solidFill>
                          <a:schemeClr val="bg1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Inter Extra Bold" panose="02000503000000020004" pitchFamily="2" charset="0"/>
                        <a:sym typeface="Arial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매칭 역할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적용 추천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8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도메인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용어 사전 조회 스코프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내부 정의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plastics · metals · surface_treatment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electronics · sealing_adhesive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중의성 해소 (높음)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LLM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생성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=&gt;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고객확정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제품유형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완성품 카테고리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내부 정의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automotive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정책 상속 (낮음)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권장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파트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물리적 부품 단위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고객사 / 내부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auto_lamp_G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프로파일 · 확정매핑 키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필수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공정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제조 활동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고객사 BOM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사출 · 다이캐스팅 · 진공증착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활동유형 · 기술 선택 (최상)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필수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표준산업분류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사업체의 생산활동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통계청 · UN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자동차 부품 제조업 계열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프록시 폴백 · 보고 메타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선택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표준화학분류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물질의 화학적 정체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ISO · 규격기관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ISO 1043 · JIS · ASTM · EN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도메인 유추 · 동치 근거 (높음)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권장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(Wiki </a:t>
                      </a:r>
                      <a:r>
                        <a:rPr lang="en-US" sz="1300" b="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사전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 </a:t>
                      </a:r>
                      <a:r>
                        <a:rPr lang="en-US" sz="1300" b="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부여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)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CAS 번호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개별 화학물질 1:1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CAS (ACS)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순물질 · 일부 폴리머만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게이트 (조건부 최상)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</a:rPr>
                        <a:t>조건부 — pure만 신뢰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Shape 2">
            <a:extLst>
              <a:ext uri="{FF2B5EF4-FFF2-40B4-BE49-F238E27FC236}">
                <a16:creationId xmlns:a16="http://schemas.microsoft.com/office/drawing/2014/main" id="{EE0C8C51-806A-8384-0B3B-86EC962DA0B4}"/>
              </a:ext>
            </a:extLst>
          </p:cNvPr>
          <p:cNvSpPr/>
          <p:nvPr/>
        </p:nvSpPr>
        <p:spPr>
          <a:xfrm>
            <a:off x="502920" y="5029200"/>
            <a:ext cx="11201400" cy="932688"/>
          </a:xfrm>
          <a:prstGeom prst="roundRect">
            <a:avLst>
              <a:gd name="adj" fmla="val 4902"/>
            </a:avLst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고객사에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요청하는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항목은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파트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·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공정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·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재질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(+CAS)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셋뿐이며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도메인과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화학분류는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필수이되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내부에서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파생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·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부여</a:t>
            </a:r>
            <a:r>
              <a:rPr lang="ko-KR" altLang="en-US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가능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50F684-F73E-3F07-78AB-7AC1826E540F}"/>
              </a:ext>
            </a:extLst>
          </p:cNvPr>
          <p:cNvSpPr txBox="1"/>
          <p:nvPr/>
        </p:nvSpPr>
        <p:spPr>
          <a:xfrm>
            <a:off x="9746150" y="0"/>
            <a:ext cx="211836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참고자료</a:t>
            </a:r>
            <a:r>
              <a:rPr lang="ko-KR" altLang="en-US" sz="24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Ⅰ</a:t>
            </a:r>
          </a:p>
        </p:txBody>
      </p:sp>
    </p:spTree>
    <p:extLst>
      <p:ext uri="{BB962C8B-B14F-4D97-AF65-F5344CB8AC3E}">
        <p14:creationId xmlns:p14="http://schemas.microsoft.com/office/powerpoint/2010/main" val="3867782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095922"/>
              </p:ext>
            </p:extLst>
          </p:nvPr>
        </p:nvGraphicFramePr>
        <p:xfrm>
          <a:off x="556129" y="1079604"/>
          <a:ext cx="11198482" cy="3629508"/>
        </p:xfrm>
        <a:graphic>
          <a:graphicData uri="http://schemas.openxmlformats.org/drawingml/2006/table">
            <a:tbl>
              <a:tblPr/>
              <a:tblGrid>
                <a:gridCol w="1480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68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2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671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39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구성요소</a:t>
                      </a: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재질 표기</a:t>
                      </a: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도메인</a:t>
                      </a: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공정</a:t>
                      </a: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표준화학분류</a:t>
                      </a: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CAS</a:t>
                      </a: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매칭 시 유의점</a:t>
                      </a:r>
                    </a:p>
                  </a:txBody>
                  <a:tcPr marL="76180" marR="76180" marT="38090" marB="38090" anchor="ctr">
                    <a:lnL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아우터렌즈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PC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plastics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사출성형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ISO 1043 PC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25037-45-0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CAS·표기 교차검증 후 확정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하우징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PP-T20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plastics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사출성형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ISO 1043 PP + 충전재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9003-07-0 (기재)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CAS 게이트 금지 — 탤크 20% 누락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리플렉터 기재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PC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plastics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사출성형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ISO 1043 PC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25037-45-0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벌크 질량 — 정상 경로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리플렉터 반사층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알루미늄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surface_treatment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진공증착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원소 Al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7429-90-5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CAS 일치해도 벌크 금지 · form=coating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히트싱크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ADC12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metals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다이캐스팅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JIS H 5302 / A383 / EN AC-46000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없음 (합금)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규격코드가 실질 키 · close_match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베젤 도금층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CR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surface_treatment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도금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원소 Cr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7440-47-3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중의어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개스킷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CR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sealing_adhesive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압출 · 성형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ISO 1629 CR (고무)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9010-98-4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중의어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PCB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FR4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electronics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실장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복합재 (단일 분류 없음)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없음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1E2A26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pitchFamily="34" charset="-120"/>
                          <a:sym typeface="Arial"/>
                        </a:rPr>
                        <a:t>면적 기준 — 기능단위 검증 필수</a:t>
                      </a:r>
                      <a:endParaRPr lang="en-US" sz="1200" b="0" i="0" u="none" strike="noStrike" cap="none" dirty="0">
                        <a:solidFill>
                          <a:srgbClr val="1E2A26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180" marR="76180" marT="38090" marB="3809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11353890" y="6427451"/>
            <a:ext cx="91416" cy="91416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 txBox="1"/>
          <p:nvPr/>
        </p:nvSpPr>
        <p:spPr>
          <a:xfrm>
            <a:off x="11518439" y="6308610"/>
            <a:ext cx="365665" cy="319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dirty="0">
                <a:solidFill>
                  <a:srgbClr val="6B7C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1ED816-54A4-B1D1-B4A3-187459A47882}"/>
              </a:ext>
            </a:extLst>
          </p:cNvPr>
          <p:cNvSpPr txBox="1"/>
          <p:nvPr/>
        </p:nvSpPr>
        <p:spPr>
          <a:xfrm>
            <a:off x="438615" y="163552"/>
            <a:ext cx="2945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2.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자동차 </a:t>
            </a:r>
            <a:r>
              <a:rPr lang="en-US" altLang="ko-KR" sz="1800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auto_lamp_G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예시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21E6C4-74B7-4DB5-F41F-6463D7D90B41}"/>
              </a:ext>
            </a:extLst>
          </p:cNvPr>
          <p:cNvSpPr txBox="1"/>
          <p:nvPr/>
        </p:nvSpPr>
        <p:spPr>
          <a:xfrm>
            <a:off x="9746150" y="0"/>
            <a:ext cx="211836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참고자료</a:t>
            </a:r>
            <a:r>
              <a:rPr lang="ko-KR" altLang="en-US" sz="24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자유형: 도형 74">
            <a:extLst>
              <a:ext uri="{FF2B5EF4-FFF2-40B4-BE49-F238E27FC236}">
                <a16:creationId xmlns:a16="http://schemas.microsoft.com/office/drawing/2014/main" id="{A21F60C4-5024-F34D-9D2A-728DB6FBB9D8}"/>
              </a:ext>
            </a:extLst>
          </p:cNvPr>
          <p:cNvSpPr/>
          <p:nvPr/>
        </p:nvSpPr>
        <p:spPr>
          <a:xfrm>
            <a:off x="531845" y="1278295"/>
            <a:ext cx="3937518" cy="4170784"/>
          </a:xfrm>
          <a:custGeom>
            <a:avLst/>
            <a:gdLst>
              <a:gd name="csX0" fmla="*/ 1968759 w 3937518"/>
              <a:gd name="csY0" fmla="*/ 0 h 4170784"/>
              <a:gd name="csX1" fmla="*/ 0 w 3937518"/>
              <a:gd name="csY1" fmla="*/ 0 h 4170784"/>
              <a:gd name="csX2" fmla="*/ 0 w 3937518"/>
              <a:gd name="csY2" fmla="*/ 4170784 h 4170784"/>
              <a:gd name="csX3" fmla="*/ 3937518 w 3937518"/>
              <a:gd name="csY3" fmla="*/ 4170784 h 4170784"/>
              <a:gd name="csX4" fmla="*/ 3937518 w 3937518"/>
              <a:gd name="csY4" fmla="*/ 2855168 h 4170784"/>
              <a:gd name="csX5" fmla="*/ 3834882 w 3937518"/>
              <a:gd name="csY5" fmla="*/ 2855168 h 4170784"/>
              <a:gd name="csX6" fmla="*/ 3834882 w 3937518"/>
              <a:gd name="csY6" fmla="*/ 1315617 h 4170784"/>
              <a:gd name="csX7" fmla="*/ 1996751 w 3937518"/>
              <a:gd name="csY7" fmla="*/ 1315617 h 4170784"/>
              <a:gd name="csX8" fmla="*/ 1968759 w 3937518"/>
              <a:gd name="csY8" fmla="*/ 0 h 4170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937518" h="4170784">
                <a:moveTo>
                  <a:pt x="1968759" y="0"/>
                </a:moveTo>
                <a:lnTo>
                  <a:pt x="0" y="0"/>
                </a:lnTo>
                <a:lnTo>
                  <a:pt x="0" y="4170784"/>
                </a:lnTo>
                <a:lnTo>
                  <a:pt x="3937518" y="4170784"/>
                </a:lnTo>
                <a:lnTo>
                  <a:pt x="3937518" y="2855168"/>
                </a:lnTo>
                <a:lnTo>
                  <a:pt x="3834882" y="2855168"/>
                </a:lnTo>
                <a:lnTo>
                  <a:pt x="3834882" y="1315617"/>
                </a:lnTo>
                <a:lnTo>
                  <a:pt x="1996751" y="1315617"/>
                </a:lnTo>
                <a:lnTo>
                  <a:pt x="1968759" y="0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6350">
            <a:solidFill>
              <a:srgbClr val="2563EB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자유형: 도형 69">
            <a:extLst>
              <a:ext uri="{FF2B5EF4-FFF2-40B4-BE49-F238E27FC236}">
                <a16:creationId xmlns:a16="http://schemas.microsoft.com/office/drawing/2014/main" id="{AEAC533C-6353-EC27-07E5-CF8DAE9B0FC9}"/>
              </a:ext>
            </a:extLst>
          </p:cNvPr>
          <p:cNvSpPr/>
          <p:nvPr/>
        </p:nvSpPr>
        <p:spPr>
          <a:xfrm>
            <a:off x="2601310" y="1246443"/>
            <a:ext cx="9214945" cy="4642945"/>
          </a:xfrm>
          <a:custGeom>
            <a:avLst/>
            <a:gdLst>
              <a:gd name="csX0" fmla="*/ 0 w 9214945"/>
              <a:gd name="csY0" fmla="*/ 7882 h 4642945"/>
              <a:gd name="csX1" fmla="*/ 0 w 9214945"/>
              <a:gd name="csY1" fmla="*/ 1143000 h 4642945"/>
              <a:gd name="csX2" fmla="*/ 1860331 w 9214945"/>
              <a:gd name="csY2" fmla="*/ 1143000 h 4642945"/>
              <a:gd name="csX3" fmla="*/ 1860331 w 9214945"/>
              <a:gd name="csY3" fmla="*/ 2695903 h 4642945"/>
              <a:gd name="csX4" fmla="*/ 5076497 w 9214945"/>
              <a:gd name="csY4" fmla="*/ 2695903 h 4642945"/>
              <a:gd name="csX5" fmla="*/ 5068614 w 9214945"/>
              <a:gd name="csY5" fmla="*/ 2900855 h 4642945"/>
              <a:gd name="csX6" fmla="*/ 7394028 w 9214945"/>
              <a:gd name="csY6" fmla="*/ 4642945 h 4642945"/>
              <a:gd name="csX7" fmla="*/ 7890642 w 9214945"/>
              <a:gd name="csY7" fmla="*/ 4642945 h 4642945"/>
              <a:gd name="csX8" fmla="*/ 7890642 w 9214945"/>
              <a:gd name="csY8" fmla="*/ 3444765 h 4642945"/>
              <a:gd name="csX9" fmla="*/ 9214945 w 9214945"/>
              <a:gd name="csY9" fmla="*/ 3444765 h 4642945"/>
              <a:gd name="csX10" fmla="*/ 9214945 w 9214945"/>
              <a:gd name="csY10" fmla="*/ 94593 h 4642945"/>
              <a:gd name="csX11" fmla="*/ 9214945 w 9214945"/>
              <a:gd name="csY11" fmla="*/ 0 h 4642945"/>
              <a:gd name="csX12" fmla="*/ 0 w 9214945"/>
              <a:gd name="csY12" fmla="*/ 7882 h 46429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9214945" h="4642945">
                <a:moveTo>
                  <a:pt x="0" y="7882"/>
                </a:moveTo>
                <a:lnTo>
                  <a:pt x="0" y="1143000"/>
                </a:lnTo>
                <a:lnTo>
                  <a:pt x="1860331" y="1143000"/>
                </a:lnTo>
                <a:lnTo>
                  <a:pt x="1860331" y="2695903"/>
                </a:lnTo>
                <a:lnTo>
                  <a:pt x="5076497" y="2695903"/>
                </a:lnTo>
                <a:lnTo>
                  <a:pt x="5068614" y="2900855"/>
                </a:lnTo>
                <a:lnTo>
                  <a:pt x="7394028" y="4642945"/>
                </a:lnTo>
                <a:lnTo>
                  <a:pt x="7890642" y="4642945"/>
                </a:lnTo>
                <a:lnTo>
                  <a:pt x="7890642" y="3444765"/>
                </a:lnTo>
                <a:lnTo>
                  <a:pt x="9214945" y="3444765"/>
                </a:lnTo>
                <a:lnTo>
                  <a:pt x="9214945" y="94593"/>
                </a:lnTo>
                <a:lnTo>
                  <a:pt x="9214945" y="0"/>
                </a:lnTo>
                <a:lnTo>
                  <a:pt x="0" y="7882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63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Shape 2"/>
          <p:cNvSpPr/>
          <p:nvPr/>
        </p:nvSpPr>
        <p:spPr>
          <a:xfrm>
            <a:off x="1449026" y="2030932"/>
            <a:ext cx="0" cy="791175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449026" y="3505396"/>
            <a:ext cx="0" cy="899063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29691" y="3163752"/>
            <a:ext cx="471830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482187" y="2030932"/>
            <a:ext cx="0" cy="791175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62851" y="1779194"/>
            <a:ext cx="514724" cy="1015942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262851" y="3163752"/>
            <a:ext cx="514724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101010" y="3505396"/>
            <a:ext cx="900767" cy="899063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1" name="Shape 9"/>
          <p:cNvSpPr/>
          <p:nvPr/>
        </p:nvSpPr>
        <p:spPr>
          <a:xfrm flipV="1">
            <a:off x="4262851" y="3532368"/>
            <a:ext cx="798135" cy="1195754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15603" y="2030932"/>
            <a:ext cx="0" cy="584391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3" name="Shape 11"/>
          <p:cNvSpPr/>
          <p:nvPr/>
        </p:nvSpPr>
        <p:spPr>
          <a:xfrm flipV="1">
            <a:off x="6853631" y="1752222"/>
            <a:ext cx="694877" cy="1006952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4" name="Shape 12"/>
          <p:cNvSpPr/>
          <p:nvPr/>
        </p:nvSpPr>
        <p:spPr>
          <a:xfrm flipV="1">
            <a:off x="6853630" y="2865186"/>
            <a:ext cx="766280" cy="280584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815603" y="3586312"/>
            <a:ext cx="0" cy="1717211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853630" y="3190724"/>
            <a:ext cx="2779510" cy="584391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576802" y="4098778"/>
            <a:ext cx="0" cy="1204745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853630" y="5627185"/>
            <a:ext cx="2779510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1333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 sz="200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8361" y="1383606"/>
            <a:ext cx="1561330" cy="6473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제품유형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automotive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68361" y="2822107"/>
            <a:ext cx="1561330" cy="6832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파트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auto_lamp_G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68361" y="4404459"/>
            <a:ext cx="1561330" cy="6473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표준산업분류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KSIC · ISIC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701521" y="1383606"/>
            <a:ext cx="1561330" cy="6473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표준화학분류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ISO 1043 · JIS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701521" y="2822107"/>
            <a:ext cx="1561330" cy="6832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도메인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metals · plastics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701521" y="4404459"/>
            <a:ext cx="1561330" cy="6473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구성요소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리플렉터 · 히트싱크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777575" y="1383606"/>
            <a:ext cx="2076054" cy="6473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CAS 번호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7429-90-5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777575" y="2615323"/>
            <a:ext cx="2076054" cy="97098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물질개념 (concept)
</a:t>
            </a:r>
            <a:r>
              <a:rPr lang="en-US" sz="1050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concept_id · identity_type</a:t>
            </a:r>
            <a:endParaRPr lang="en-US" sz="1600" dirty="0"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domain · cas · spec_codes</a:t>
            </a:r>
            <a:endParaRPr lang="en-US" sz="1800" dirty="0">
              <a:solidFill>
                <a:schemeClr val="bg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777575" y="5303523"/>
            <a:ext cx="2076054" cy="6473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BOM 행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물질 · 공정 · 질량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548507" y="1320671"/>
            <a:ext cx="1561330" cy="6473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표현 · 라벨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약어 · 관용어 · 번역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548507" y="2327623"/>
            <a:ext cx="1561330" cy="6473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공정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다이캐스팅 · 증착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633141" y="3451452"/>
            <a:ext cx="1887322" cy="6473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참조제품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reference product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633141" y="5303523"/>
            <a:ext cx="1887322" cy="64732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bg1">
                <a:lumMod val="50000"/>
              </a:scheme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LCI 엔트리
</a:t>
            </a:r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ref_id · 활동 · 지역</a:t>
            </a:r>
            <a:endParaRPr 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320345" y="2102856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</a:p>
        </p:txBody>
      </p:sp>
      <p:sp>
        <p:nvSpPr>
          <p:cNvPr id="33" name="Text 31"/>
          <p:cNvSpPr/>
          <p:nvPr/>
        </p:nvSpPr>
        <p:spPr>
          <a:xfrm>
            <a:off x="1320345" y="2543398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</a:p>
        </p:txBody>
      </p:sp>
      <p:sp>
        <p:nvSpPr>
          <p:cNvPr id="34" name="Text 32"/>
          <p:cNvSpPr/>
          <p:nvPr/>
        </p:nvSpPr>
        <p:spPr>
          <a:xfrm>
            <a:off x="1320345" y="3577321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  <a:endParaRPr lang="en-US" sz="105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320345" y="4125750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</a:p>
        </p:txBody>
      </p:sp>
      <p:sp>
        <p:nvSpPr>
          <p:cNvPr id="36" name="Text 34"/>
          <p:cNvSpPr/>
          <p:nvPr/>
        </p:nvSpPr>
        <p:spPr>
          <a:xfrm>
            <a:off x="2255427" y="2992930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m</a:t>
            </a:r>
          </a:p>
        </p:txBody>
      </p:sp>
      <p:sp>
        <p:nvSpPr>
          <p:cNvPr id="37" name="Text 35"/>
          <p:cNvSpPr/>
          <p:nvPr/>
        </p:nvSpPr>
        <p:spPr>
          <a:xfrm>
            <a:off x="2418423" y="3190723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  <a:endParaRPr lang="en-US" sz="105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353505" y="2102856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  <a:endParaRPr lang="en-US" sz="105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353505" y="2543398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</a:p>
        </p:txBody>
      </p:sp>
      <p:sp>
        <p:nvSpPr>
          <p:cNvPr id="40" name="Text 38"/>
          <p:cNvSpPr/>
          <p:nvPr/>
        </p:nvSpPr>
        <p:spPr>
          <a:xfrm>
            <a:off x="4305745" y="1707269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</a:p>
        </p:txBody>
      </p:sp>
      <p:sp>
        <p:nvSpPr>
          <p:cNvPr id="41" name="Text 39"/>
          <p:cNvSpPr/>
          <p:nvPr/>
        </p:nvSpPr>
        <p:spPr>
          <a:xfrm>
            <a:off x="4485898" y="2399548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</a:p>
        </p:txBody>
      </p:sp>
      <p:sp>
        <p:nvSpPr>
          <p:cNvPr id="42" name="Text 40"/>
          <p:cNvSpPr/>
          <p:nvPr/>
        </p:nvSpPr>
        <p:spPr>
          <a:xfrm>
            <a:off x="4134170" y="2956967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</a:p>
        </p:txBody>
      </p:sp>
      <p:sp>
        <p:nvSpPr>
          <p:cNvPr id="43" name="Text 41"/>
          <p:cNvSpPr/>
          <p:nvPr/>
        </p:nvSpPr>
        <p:spPr>
          <a:xfrm>
            <a:off x="4583592" y="2938986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</a:p>
        </p:txBody>
      </p:sp>
      <p:sp>
        <p:nvSpPr>
          <p:cNvPr id="44" name="Text 42"/>
          <p:cNvSpPr/>
          <p:nvPr/>
        </p:nvSpPr>
        <p:spPr>
          <a:xfrm>
            <a:off x="2203954" y="3631265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</a:p>
        </p:txBody>
      </p:sp>
      <p:sp>
        <p:nvSpPr>
          <p:cNvPr id="45" name="Text 43"/>
          <p:cNvSpPr/>
          <p:nvPr/>
        </p:nvSpPr>
        <p:spPr>
          <a:xfrm>
            <a:off x="3027827" y="4161712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</a:p>
        </p:txBody>
      </p:sp>
      <p:sp>
        <p:nvSpPr>
          <p:cNvPr id="46" name="Text 44"/>
          <p:cNvSpPr/>
          <p:nvPr/>
        </p:nvSpPr>
        <p:spPr>
          <a:xfrm>
            <a:off x="4189775" y="4575280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m</a:t>
            </a:r>
          </a:p>
        </p:txBody>
      </p:sp>
      <p:sp>
        <p:nvSpPr>
          <p:cNvPr id="47" name="Text 45"/>
          <p:cNvSpPr/>
          <p:nvPr/>
        </p:nvSpPr>
        <p:spPr>
          <a:xfrm>
            <a:off x="4737108" y="3451452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</a:p>
        </p:txBody>
      </p:sp>
      <p:sp>
        <p:nvSpPr>
          <p:cNvPr id="48" name="Text 46"/>
          <p:cNvSpPr/>
          <p:nvPr/>
        </p:nvSpPr>
        <p:spPr>
          <a:xfrm>
            <a:off x="5686922" y="2102856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  <a:endParaRPr lang="en-US" sz="105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686922" y="2336613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  <a:endParaRPr lang="en-US" sz="105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789290" y="2435510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</a:p>
        </p:txBody>
      </p:sp>
      <p:sp>
        <p:nvSpPr>
          <p:cNvPr id="51" name="Text 49"/>
          <p:cNvSpPr/>
          <p:nvPr/>
        </p:nvSpPr>
        <p:spPr>
          <a:xfrm>
            <a:off x="7205359" y="1858234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  <a:endParaRPr lang="en-US" sz="105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853630" y="2903023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m</a:t>
            </a:r>
          </a:p>
        </p:txBody>
      </p:sp>
      <p:sp>
        <p:nvSpPr>
          <p:cNvPr id="53" name="Text 51"/>
          <p:cNvSpPr/>
          <p:nvPr/>
        </p:nvSpPr>
        <p:spPr>
          <a:xfrm>
            <a:off x="7368354" y="2642295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  <a:endParaRPr lang="en-US" sz="105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686922" y="3721171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  <a:endParaRPr lang="en-US" sz="105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686922" y="5024812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</a:p>
        </p:txBody>
      </p:sp>
      <p:sp>
        <p:nvSpPr>
          <p:cNvPr id="56" name="Text 54"/>
          <p:cNvSpPr/>
          <p:nvPr/>
        </p:nvSpPr>
        <p:spPr>
          <a:xfrm>
            <a:off x="6853629" y="3231217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m</a:t>
            </a:r>
            <a:endParaRPr lang="en-US" sz="105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9281412" y="3676218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</a:p>
        </p:txBody>
      </p:sp>
      <p:sp>
        <p:nvSpPr>
          <p:cNvPr id="58" name="Text 56"/>
          <p:cNvSpPr/>
          <p:nvPr/>
        </p:nvSpPr>
        <p:spPr>
          <a:xfrm>
            <a:off x="10448120" y="4260609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  <a:endParaRPr lang="en-US" sz="105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0448120" y="5024812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</a:p>
        </p:txBody>
      </p:sp>
      <p:sp>
        <p:nvSpPr>
          <p:cNvPr id="60" name="Text 58"/>
          <p:cNvSpPr/>
          <p:nvPr/>
        </p:nvSpPr>
        <p:spPr>
          <a:xfrm>
            <a:off x="7900235" y="5528288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</a:t>
            </a:r>
          </a:p>
        </p:txBody>
      </p:sp>
      <p:sp>
        <p:nvSpPr>
          <p:cNvPr id="61" name="Text 59"/>
          <p:cNvSpPr/>
          <p:nvPr/>
        </p:nvSpPr>
        <p:spPr>
          <a:xfrm>
            <a:off x="9281412" y="5528288"/>
            <a:ext cx="257363" cy="197794"/>
          </a:xfrm>
          <a:prstGeom prst="roundRect">
            <a:avLst/>
          </a:prstGeom>
          <a:solidFill>
            <a:schemeClr val="bg1"/>
          </a:solidFill>
          <a:ln w="6985">
            <a:solidFill>
              <a:schemeClr val="bg1">
                <a:lumMod val="65000"/>
              </a:schemeClr>
            </a:solidFill>
          </a:ln>
        </p:spPr>
        <p:txBody>
          <a:bodyPr wrap="square" lIns="64" tIns="64" rIns="64" bIns="64" rtlCol="0" anchor="ctr">
            <a:norm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</a:p>
        </p:txBody>
      </p:sp>
      <p:sp>
        <p:nvSpPr>
          <p:cNvPr id="62" name="Text 60"/>
          <p:cNvSpPr/>
          <p:nvPr/>
        </p:nvSpPr>
        <p:spPr>
          <a:xfrm>
            <a:off x="728412" y="6076540"/>
            <a:ext cx="240204" cy="179812"/>
          </a:xfrm>
          <a:prstGeom prst="roundRect">
            <a:avLst/>
          </a:prstGeom>
          <a:noFill/>
          <a:ln w="6985">
            <a:noFill/>
          </a:ln>
        </p:spPr>
        <p:txBody>
          <a:bodyPr wrap="square" lIns="64" tIns="64" rIns="64" bIns="64" rtlCol="0" anchor="ctr">
            <a:no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1</a:t>
            </a:r>
            <a:endParaRPr lang="en-US" sz="11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1028668" y="6094521"/>
            <a:ext cx="386043" cy="14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1건</a:t>
            </a:r>
            <a:endParaRPr lang="en-US" sz="11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1543392" y="6076540"/>
            <a:ext cx="240204" cy="179812"/>
          </a:xfrm>
          <a:prstGeom prst="roundRect">
            <a:avLst/>
          </a:prstGeom>
          <a:noFill/>
          <a:ln w="6985">
            <a:noFill/>
          </a:ln>
        </p:spPr>
        <p:txBody>
          <a:bodyPr wrap="square" lIns="64" tIns="64" rIns="64" bIns="64" rtlCol="0" anchor="ctr">
            <a:no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n</a:t>
            </a:r>
            <a:endParaRPr lang="en-US" sz="11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1843648" y="6094521"/>
            <a:ext cx="600511" cy="14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여러 건</a:t>
            </a:r>
            <a:endParaRPr lang="en-US" sz="11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2615735" y="6076540"/>
            <a:ext cx="240204" cy="179812"/>
          </a:xfrm>
          <a:prstGeom prst="roundRect">
            <a:avLst/>
          </a:prstGeom>
          <a:noFill/>
          <a:ln w="6985">
            <a:noFill/>
          </a:ln>
        </p:spPr>
        <p:txBody>
          <a:bodyPr wrap="square" lIns="64" tIns="64" rIns="64" bIns="64" rtlCol="0" anchor="ctr">
            <a:no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m</a:t>
            </a:r>
            <a:endParaRPr lang="en-US" sz="11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2915990" y="6094521"/>
            <a:ext cx="1098078" cy="14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m:n의 다른 다수</a:t>
            </a:r>
            <a:endParaRPr lang="en-US" sz="11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6133016" y="6085530"/>
            <a:ext cx="5104348" cy="1977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※ m과 n은 모두 “여러 개”이며, 서로 다른 다수 집합을 구분하기 위한 기호입니다.</a:t>
            </a:r>
            <a:endParaRPr lang="en-US" sz="1100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2E10506-0B14-01EC-A218-6F89C81105D4}"/>
              </a:ext>
            </a:extLst>
          </p:cNvPr>
          <p:cNvSpPr txBox="1"/>
          <p:nvPr/>
        </p:nvSpPr>
        <p:spPr>
          <a:xfrm>
            <a:off x="438615" y="163552"/>
            <a:ext cx="1527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3.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항목간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관계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49AB168-8070-1595-F66A-ED8CA55B63FC}"/>
              </a:ext>
            </a:extLst>
          </p:cNvPr>
          <p:cNvSpPr txBox="1"/>
          <p:nvPr/>
        </p:nvSpPr>
        <p:spPr>
          <a:xfrm>
            <a:off x="9746150" y="0"/>
            <a:ext cx="211836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참고자료</a:t>
            </a:r>
            <a:r>
              <a:rPr lang="ko-KR" altLang="en-US" sz="24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Ⅰ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CD44428-0A56-813A-8EB4-67A814304E10}"/>
              </a:ext>
            </a:extLst>
          </p:cNvPr>
          <p:cNvSpPr txBox="1"/>
          <p:nvPr/>
        </p:nvSpPr>
        <p:spPr>
          <a:xfrm>
            <a:off x="9206484" y="2109146"/>
            <a:ext cx="258275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켐토피아</a:t>
            </a:r>
            <a:r>
              <a:rPr lang="ko-KR" altLang="en-US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LCI DB</a:t>
            </a:r>
            <a:r>
              <a:rPr lang="ko-KR" altLang="en-US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기준으로 </a:t>
            </a:r>
            <a:r>
              <a:rPr lang="ko-KR" altLang="en-US" dirty="0" err="1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선작업</a:t>
            </a:r>
            <a:endParaRPr lang="en-US" altLang="ko-KR" dirty="0">
              <a:solidFill>
                <a:srgbClr val="C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 </a:t>
            </a:r>
            <a:r>
              <a:rPr lang="ko-KR" altLang="en-US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용도</a:t>
            </a:r>
            <a:r>
              <a:rPr lang="en-US" altLang="ko-KR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, </a:t>
            </a:r>
            <a:r>
              <a:rPr lang="ko-KR" altLang="en-US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주생산국가 등 추가</a:t>
            </a:r>
            <a:endParaRPr lang="en-US" altLang="ko-KR" dirty="0">
              <a:solidFill>
                <a:srgbClr val="C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 </a:t>
            </a:r>
            <a:r>
              <a:rPr lang="en-US" altLang="ko-KR" dirty="0" err="1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ref_id</a:t>
            </a:r>
            <a:r>
              <a:rPr lang="en-US" altLang="ko-KR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매핑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1174312-370F-D3E2-96D7-6003981F8435}"/>
              </a:ext>
            </a:extLst>
          </p:cNvPr>
          <p:cNvSpPr txBox="1"/>
          <p:nvPr/>
        </p:nvSpPr>
        <p:spPr>
          <a:xfrm>
            <a:off x="597626" y="5158234"/>
            <a:ext cx="23807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2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프로젝트 단위로 미리 작업가능</a:t>
            </a:r>
          </a:p>
        </p:txBody>
      </p:sp>
      <p:sp>
        <p:nvSpPr>
          <p:cNvPr id="78" name="자유형: 도형 77">
            <a:extLst>
              <a:ext uri="{FF2B5EF4-FFF2-40B4-BE49-F238E27FC236}">
                <a16:creationId xmlns:a16="http://schemas.microsoft.com/office/drawing/2014/main" id="{5D611EC3-42A4-C829-6522-A7BD599C057E}"/>
              </a:ext>
            </a:extLst>
          </p:cNvPr>
          <p:cNvSpPr/>
          <p:nvPr/>
        </p:nvSpPr>
        <p:spPr>
          <a:xfrm>
            <a:off x="6072966" y="3452329"/>
            <a:ext cx="5338373" cy="2075957"/>
          </a:xfrm>
          <a:custGeom>
            <a:avLst/>
            <a:gdLst>
              <a:gd name="csX0" fmla="*/ 0 w 5019870"/>
              <a:gd name="csY0" fmla="*/ 2174033 h 2481943"/>
              <a:gd name="csX1" fmla="*/ 0 w 5019870"/>
              <a:gd name="csY1" fmla="*/ 0 h 2481943"/>
              <a:gd name="csX2" fmla="*/ 3498980 w 5019870"/>
              <a:gd name="csY2" fmla="*/ 457200 h 2481943"/>
              <a:gd name="csX3" fmla="*/ 3498980 w 5019870"/>
              <a:gd name="csY3" fmla="*/ 2481943 h 2481943"/>
              <a:gd name="csX4" fmla="*/ 3853543 w 5019870"/>
              <a:gd name="csY4" fmla="*/ 2481943 h 2481943"/>
              <a:gd name="csX5" fmla="*/ 3853543 w 5019870"/>
              <a:gd name="csY5" fmla="*/ 2388637 h 2481943"/>
              <a:gd name="csX6" fmla="*/ 5019870 w 5019870"/>
              <a:gd name="csY6" fmla="*/ 2388637 h 24819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5019870" h="2481943">
                <a:moveTo>
                  <a:pt x="0" y="2174033"/>
                </a:moveTo>
                <a:lnTo>
                  <a:pt x="0" y="0"/>
                </a:lnTo>
                <a:lnTo>
                  <a:pt x="3498980" y="457200"/>
                </a:lnTo>
                <a:lnTo>
                  <a:pt x="3498980" y="2481943"/>
                </a:lnTo>
                <a:lnTo>
                  <a:pt x="3853543" y="2481943"/>
                </a:lnTo>
                <a:lnTo>
                  <a:pt x="3853543" y="2388637"/>
                </a:lnTo>
                <a:lnTo>
                  <a:pt x="5019870" y="2388637"/>
                </a:lnTo>
              </a:path>
            </a:pathLst>
          </a:custGeom>
          <a:noFill/>
          <a:ln>
            <a:solidFill>
              <a:schemeClr val="accent3">
                <a:lumMod val="50000"/>
              </a:schemeClr>
            </a:solidFill>
            <a:headEnd type="oval"/>
            <a:tailEnd type="arrow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5E9FD75-DAD3-FD80-6E22-67C8D9C3071D}"/>
              </a:ext>
            </a:extLst>
          </p:cNvPr>
          <p:cNvSpPr txBox="1"/>
          <p:nvPr/>
        </p:nvSpPr>
        <p:spPr>
          <a:xfrm>
            <a:off x="6213269" y="4695206"/>
            <a:ext cx="3171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3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BOM/</a:t>
            </a:r>
            <a:r>
              <a:rPr lang="ko-KR" altLang="en-US" dirty="0">
                <a:solidFill>
                  <a:schemeClr val="accent3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투입물질명을 가지고 </a:t>
            </a:r>
            <a:r>
              <a:rPr lang="en-US" altLang="ko-KR" dirty="0">
                <a:solidFill>
                  <a:schemeClr val="accent3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DB </a:t>
            </a:r>
            <a:r>
              <a:rPr lang="ko-KR" altLang="en-US" dirty="0">
                <a:solidFill>
                  <a:schemeClr val="accent3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매칭 처리</a:t>
            </a:r>
            <a:endParaRPr lang="en-US" altLang="ko-KR" dirty="0">
              <a:solidFill>
                <a:schemeClr val="accent3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80" name="오른쪽 대괄호 79">
            <a:extLst>
              <a:ext uri="{FF2B5EF4-FFF2-40B4-BE49-F238E27FC236}">
                <a16:creationId xmlns:a16="http://schemas.microsoft.com/office/drawing/2014/main" id="{01627B7E-9C86-6960-76AE-970491B4A1D6}"/>
              </a:ext>
            </a:extLst>
          </p:cNvPr>
          <p:cNvSpPr/>
          <p:nvPr/>
        </p:nvSpPr>
        <p:spPr>
          <a:xfrm rot="16200000">
            <a:off x="6132315" y="-4422488"/>
            <a:ext cx="114933" cy="11085719"/>
          </a:xfrm>
          <a:prstGeom prst="rightBracket">
            <a:avLst/>
          </a:prstGeom>
          <a:ln w="222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9F8D290-B305-678F-8F9C-F8EB2D25AC3F}"/>
              </a:ext>
            </a:extLst>
          </p:cNvPr>
          <p:cNvSpPr txBox="1"/>
          <p:nvPr/>
        </p:nvSpPr>
        <p:spPr>
          <a:xfrm>
            <a:off x="4753536" y="809750"/>
            <a:ext cx="2614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LLM Wiki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범위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(JSON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으로 저장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8C21E-8BA9-1DAF-E281-E54ABCF8F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70">
            <a:extLst>
              <a:ext uri="{FF2B5EF4-FFF2-40B4-BE49-F238E27FC236}">
                <a16:creationId xmlns:a16="http://schemas.microsoft.com/office/drawing/2014/main" id="{D57147DF-2FDD-BEDE-CB17-D8BD3A111821}"/>
              </a:ext>
            </a:extLst>
          </p:cNvPr>
          <p:cNvSpPr txBox="1"/>
          <p:nvPr/>
        </p:nvSpPr>
        <p:spPr>
          <a:xfrm>
            <a:off x="438615" y="163552"/>
            <a:ext cx="2999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3.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항목간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관계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–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노드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(</a:t>
            </a:r>
            <a:r>
              <a:rPr lang="ko-KR" altLang="en-US" sz="1800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엔터티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)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C400065-4A3B-0887-52B0-E1AE65037391}"/>
              </a:ext>
            </a:extLst>
          </p:cNvPr>
          <p:cNvSpPr txBox="1"/>
          <p:nvPr/>
        </p:nvSpPr>
        <p:spPr>
          <a:xfrm>
            <a:off x="9746150" y="0"/>
            <a:ext cx="211836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참고자료</a:t>
            </a:r>
            <a:r>
              <a:rPr lang="ko-KR" altLang="en-US" sz="24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Ⅰ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83AF497-9437-3F39-DE84-A906506C93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647315"/>
              </p:ext>
            </p:extLst>
          </p:nvPr>
        </p:nvGraphicFramePr>
        <p:xfrm>
          <a:off x="552449" y="876300"/>
          <a:ext cx="11068048" cy="5029312"/>
        </p:xfrm>
        <a:graphic>
          <a:graphicData uri="http://schemas.openxmlformats.org/drawingml/2006/table">
            <a:tbl>
              <a:tblPr>
                <a:tableStyleId>{C1FDD0C3-F311-486D-AA3B-C831FA89247B}</a:tableStyleId>
              </a:tblPr>
              <a:tblGrid>
                <a:gridCol w="664083">
                  <a:extLst>
                    <a:ext uri="{9D8B030D-6E8A-4147-A177-3AD203B41FA5}">
                      <a16:colId xmlns:a16="http://schemas.microsoft.com/office/drawing/2014/main" val="814560590"/>
                    </a:ext>
                  </a:extLst>
                </a:gridCol>
                <a:gridCol w="1033017">
                  <a:extLst>
                    <a:ext uri="{9D8B030D-6E8A-4147-A177-3AD203B41FA5}">
                      <a16:colId xmlns:a16="http://schemas.microsoft.com/office/drawing/2014/main" val="3724770880"/>
                    </a:ext>
                  </a:extLst>
                </a:gridCol>
                <a:gridCol w="1328166">
                  <a:extLst>
                    <a:ext uri="{9D8B030D-6E8A-4147-A177-3AD203B41FA5}">
                      <a16:colId xmlns:a16="http://schemas.microsoft.com/office/drawing/2014/main" val="291433106"/>
                    </a:ext>
                  </a:extLst>
                </a:gridCol>
                <a:gridCol w="811657">
                  <a:extLst>
                    <a:ext uri="{9D8B030D-6E8A-4147-A177-3AD203B41FA5}">
                      <a16:colId xmlns:a16="http://schemas.microsoft.com/office/drawing/2014/main" val="1320215062"/>
                    </a:ext>
                  </a:extLst>
                </a:gridCol>
                <a:gridCol w="3394203">
                  <a:extLst>
                    <a:ext uri="{9D8B030D-6E8A-4147-A177-3AD203B41FA5}">
                      <a16:colId xmlns:a16="http://schemas.microsoft.com/office/drawing/2014/main" val="951041186"/>
                    </a:ext>
                  </a:extLst>
                </a:gridCol>
                <a:gridCol w="3836922">
                  <a:extLst>
                    <a:ext uri="{9D8B030D-6E8A-4147-A177-3AD203B41FA5}">
                      <a16:colId xmlns:a16="http://schemas.microsoft.com/office/drawing/2014/main" val="3461551804"/>
                    </a:ext>
                  </a:extLst>
                </a:gridCol>
              </a:tblGrid>
              <a:tr h="22999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 err="1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노드ID</a:t>
                      </a:r>
                      <a:endParaRPr 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엔터티</a:t>
                      </a:r>
                      <a:endParaRPr lang="ko-KR" sz="1100" b="1" i="0" u="none" strike="noStrike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 err="1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물리명</a:t>
                      </a:r>
                      <a:endParaRPr 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계층</a:t>
                      </a:r>
                      <a:endParaRPr lang="ko-KR" sz="1100" b="1" i="0" u="none" strike="noStrike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역할</a:t>
                      </a:r>
                      <a:endParaRPr lang="ko-KR" sz="1100" b="1" i="0" u="none" strike="noStrike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주요 속성</a:t>
                      </a:r>
                      <a:endParaRPr lang="ko-KR" sz="11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873761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N01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제품유형</a:t>
                      </a:r>
                      <a:endParaRPr lang="ko-KR" sz="1100" b="1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product_type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컨텍스트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사전 적용 범위의 최상위 단위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product_type_id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name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6004562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N02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파트</a:t>
                      </a:r>
                      <a:endParaRPr lang="ko-KR" sz="1100" b="1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part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컨텍스트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LCA 산정 대상 부품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part_id, name, product_type_id, industry_code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8396689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N03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표준산업분류</a:t>
                      </a:r>
                      <a:endParaRPr lang="ko-KR" sz="1100" b="1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industry_class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컨텍스트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파트의 산업 스코프 (KSIC · ISIC)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code, system, name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6939794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N04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구성요소</a:t>
                      </a:r>
                      <a:endParaRPr lang="ko-KR" sz="1100" b="1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component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컨텍스트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파트를 이루는 부품 단위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component_id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part_id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name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1040640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N05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BOM 행</a:t>
                      </a:r>
                      <a:endParaRPr lang="ko-KR" sz="1100" b="1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bom_row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컨텍스트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정규화 전 원시 1행. 원문 표기를 그대로 보존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bom_row_id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raw_name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mass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unit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process_id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concept_id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479838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N06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물질개념</a:t>
                      </a:r>
                      <a:endParaRPr lang="ko-KR" sz="1100" b="1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concept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허브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모든 표기 · 식별자 · 한정자가 수렴하는 정규화 단위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concept_id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pref_name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domain_id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93595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N07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식별자</a:t>
                      </a:r>
                      <a:endParaRPr lang="ko-KR" sz="1100" b="1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identifier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정체성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이름이 아닌 키. 일치하면 최우선 매칭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id_type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(CAS · EC ·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InChIKey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· KE),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value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is_primary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0455994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N08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라벨</a:t>
                      </a:r>
                      <a:endParaRPr lang="ko-KR" sz="1100" b="1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label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정체성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같은 물질의 다른 이름 — 언어적 관계 축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label_type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text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lang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source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5872908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N09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표기변형</a:t>
                      </a:r>
                      <a:endParaRPr lang="ko-KR" sz="1100" b="1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surface_form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정체성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같은 라벨의 문자열 변형 — 언어 관계와 분리된 축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variant_type, text, normalized_key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6306542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N10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한정자</a:t>
                      </a:r>
                      <a:endParaRPr lang="ko-KR" sz="1100" b="1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qualifier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정체성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이름이 같아도 LCI 값이 갈리는 조건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qual_type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value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467275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N11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설명문</a:t>
                      </a:r>
                      <a:endParaRPr lang="ko-KR" sz="1100" b="1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description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정체성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임베딩 · 리랭킹 · 매칭 근거용 자유텍스트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text, lang, source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6894920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N12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도메인</a:t>
                      </a:r>
                      <a:endParaRPr lang="ko-KR" sz="1100" b="1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domain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정체성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1차 검색 스코프 (metals · plastics …)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domain_id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name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1329919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N13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규격코드</a:t>
                      </a:r>
                      <a:endParaRPr lang="ko-KR" sz="1100" b="1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spec_code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산업실무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공인 규격 코드. 국가별 상호대응 포함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system(KS · JIS · ASTM · EN · ISO 1043), code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541431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N14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실무품명</a:t>
                      </a:r>
                      <a:endParaRPr lang="ko-KR" sz="1100" b="1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vendor_item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산업실무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BOM에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실제로 적히는 상품명 · 사내코드 · 공급사 품명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term_type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text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vendor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5396734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N15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조성관계</a:t>
                      </a:r>
                      <a:endParaRPr lang="ko-KR" sz="1100" b="1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composition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관계실체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혼합물 · 합금과 성분의 부분–전체 (자기참조)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parent_id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child_id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ratio_min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ratio_max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028384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N16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혼동쌍</a:t>
                      </a:r>
                      <a:endParaRPr lang="ko-KR" sz="1100" b="1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disambiguation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관계실체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혼동하기 쉬운 개념쌍. 검색 네거티브로 사용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concept_a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concept_b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reason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6714142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N17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매핑</a:t>
                      </a:r>
                      <a:endParaRPr lang="ko-KR" sz="1100" b="1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mapping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관계실체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개념 → LCI 연결 실체. 정확 · 유사 · 프록시를 구분해 기록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match_type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confidence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rationale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is_selected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047058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N18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공정</a:t>
                      </a:r>
                      <a:endParaRPr lang="ko-KR" sz="1100" b="1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process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정체성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물질이 투입되는 공정. 공정이 다르면 LCI도 달라짐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process_id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name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5109346"/>
                  </a:ext>
                </a:extLst>
              </a:tr>
              <a:tr h="2520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N19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LCI 엔트리</a:t>
                      </a:r>
                      <a:endParaRPr lang="ko-KR" sz="1100" b="1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lci_entry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1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LCI DB</a:t>
                      </a:r>
                      <a:endParaRPr lang="ko-KR" sz="1100" b="0" i="0" u="none" strike="noStrike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ecoinvent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데이터셋 1건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ref_id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activity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geo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system_model</a:t>
                      </a:r>
                      <a:r>
                        <a:rPr lang="ko-KR" sz="11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1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unit</a:t>
                      </a:r>
                      <a:endParaRPr lang="ko-KR" sz="1100" b="0" i="0" u="none" strike="noStrike" dirty="0">
                        <a:solidFill>
                          <a:srgbClr val="16332B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6523166"/>
                  </a:ext>
                </a:extLst>
              </a:tr>
            </a:tbl>
          </a:graphicData>
        </a:graphic>
      </p:graphicFrame>
      <p:sp>
        <p:nvSpPr>
          <p:cNvPr id="5" name="사각형: 둥근 대각선 방향 모서리 4">
            <a:extLst>
              <a:ext uri="{FF2B5EF4-FFF2-40B4-BE49-F238E27FC236}">
                <a16:creationId xmlns:a16="http://schemas.microsoft.com/office/drawing/2014/main" id="{32B5643A-BAC6-4478-9DCD-DC0320AD5EAF}"/>
              </a:ext>
            </a:extLst>
          </p:cNvPr>
          <p:cNvSpPr/>
          <p:nvPr/>
        </p:nvSpPr>
        <p:spPr>
          <a:xfrm>
            <a:off x="514350" y="6134100"/>
            <a:ext cx="390525" cy="209550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F4C4A9-B8E5-A313-2A80-773046CEEC33}"/>
              </a:ext>
            </a:extLst>
          </p:cNvPr>
          <p:cNvSpPr txBox="1"/>
          <p:nvPr/>
        </p:nvSpPr>
        <p:spPr>
          <a:xfrm>
            <a:off x="904875" y="6095139"/>
            <a:ext cx="49167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미리 구성되어 있지 않고</a:t>
            </a:r>
            <a:r>
              <a:rPr lang="en-US" altLang="ko-KR" sz="1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LCI DB </a:t>
            </a:r>
            <a:r>
              <a:rPr lang="ko-KR" altLang="en-US" sz="1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매칭 요청이 오거나 처리되는 과정에서 생성처리됨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1B1171F-FA3B-0C46-2E85-E189F69BAC0B}"/>
              </a:ext>
            </a:extLst>
          </p:cNvPr>
          <p:cNvSpPr/>
          <p:nvPr/>
        </p:nvSpPr>
        <p:spPr>
          <a:xfrm rot="1611898">
            <a:off x="8881588" y="1142199"/>
            <a:ext cx="2864498" cy="702390"/>
          </a:xfrm>
          <a:prstGeom prst="roundRect">
            <a:avLst/>
          </a:prstGeom>
          <a:solidFill>
            <a:schemeClr val="bg1">
              <a:alpha val="7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고객사 불필요</a:t>
            </a:r>
            <a:r>
              <a:rPr lang="en-US" altLang="ko-KR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항목</a:t>
            </a:r>
            <a:r>
              <a:rPr lang="en-US" altLang="ko-KR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확인</a:t>
            </a:r>
            <a:r>
              <a:rPr lang="en-US" altLang="ko-KR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필요</a:t>
            </a:r>
          </a:p>
        </p:txBody>
      </p:sp>
    </p:spTree>
    <p:extLst>
      <p:ext uri="{BB962C8B-B14F-4D97-AF65-F5344CB8AC3E}">
        <p14:creationId xmlns:p14="http://schemas.microsoft.com/office/powerpoint/2010/main" val="530521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06A89-99BC-362F-E415-CE51A0F34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70">
            <a:extLst>
              <a:ext uri="{FF2B5EF4-FFF2-40B4-BE49-F238E27FC236}">
                <a16:creationId xmlns:a16="http://schemas.microsoft.com/office/drawing/2014/main" id="{40F02DC7-32C5-57DB-3C94-361F44A9F982}"/>
              </a:ext>
            </a:extLst>
          </p:cNvPr>
          <p:cNvSpPr txBox="1"/>
          <p:nvPr/>
        </p:nvSpPr>
        <p:spPr>
          <a:xfrm>
            <a:off x="438615" y="163552"/>
            <a:ext cx="2797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3.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항목간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관계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– </a:t>
            </a:r>
            <a:r>
              <a:rPr lang="ko-KR" altLang="en-US" sz="1800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엣지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(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관계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)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FF482FA-6A2F-997A-BE54-412AAB92EDC6}"/>
              </a:ext>
            </a:extLst>
          </p:cNvPr>
          <p:cNvSpPr txBox="1"/>
          <p:nvPr/>
        </p:nvSpPr>
        <p:spPr>
          <a:xfrm>
            <a:off x="9746150" y="0"/>
            <a:ext cx="211836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참고자료</a:t>
            </a:r>
            <a:r>
              <a:rPr lang="ko-KR" altLang="en-US" sz="24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Ⅰ</a:t>
            </a:r>
          </a:p>
        </p:txBody>
      </p:sp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1E64452E-E264-7872-D012-D288942192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715864"/>
              </p:ext>
            </p:extLst>
          </p:nvPr>
        </p:nvGraphicFramePr>
        <p:xfrm>
          <a:off x="559427" y="889796"/>
          <a:ext cx="11068050" cy="5109800"/>
        </p:xfrm>
        <a:graphic>
          <a:graphicData uri="http://schemas.openxmlformats.org/drawingml/2006/table">
            <a:tbl>
              <a:tblPr>
                <a:tableStyleId>{C1FDD0C3-F311-486D-AA3B-C831FA89247B}</a:tableStyleId>
              </a:tblPr>
              <a:tblGrid>
                <a:gridCol w="837079">
                  <a:extLst>
                    <a:ext uri="{9D8B030D-6E8A-4147-A177-3AD203B41FA5}">
                      <a16:colId xmlns:a16="http://schemas.microsoft.com/office/drawing/2014/main" val="2607404618"/>
                    </a:ext>
                  </a:extLst>
                </a:gridCol>
                <a:gridCol w="1395132">
                  <a:extLst>
                    <a:ext uri="{9D8B030D-6E8A-4147-A177-3AD203B41FA5}">
                      <a16:colId xmlns:a16="http://schemas.microsoft.com/office/drawing/2014/main" val="1593649216"/>
                    </a:ext>
                  </a:extLst>
                </a:gridCol>
                <a:gridCol w="651063">
                  <a:extLst>
                    <a:ext uri="{9D8B030D-6E8A-4147-A177-3AD203B41FA5}">
                      <a16:colId xmlns:a16="http://schemas.microsoft.com/office/drawing/2014/main" val="3133422888"/>
                    </a:ext>
                  </a:extLst>
                </a:gridCol>
                <a:gridCol w="1395132">
                  <a:extLst>
                    <a:ext uri="{9D8B030D-6E8A-4147-A177-3AD203B41FA5}">
                      <a16:colId xmlns:a16="http://schemas.microsoft.com/office/drawing/2014/main" val="3367773850"/>
                    </a:ext>
                  </a:extLst>
                </a:gridCol>
                <a:gridCol w="651063">
                  <a:extLst>
                    <a:ext uri="{9D8B030D-6E8A-4147-A177-3AD203B41FA5}">
                      <a16:colId xmlns:a16="http://schemas.microsoft.com/office/drawing/2014/main" val="667989544"/>
                    </a:ext>
                  </a:extLst>
                </a:gridCol>
                <a:gridCol w="744069">
                  <a:extLst>
                    <a:ext uri="{9D8B030D-6E8A-4147-A177-3AD203B41FA5}">
                      <a16:colId xmlns:a16="http://schemas.microsoft.com/office/drawing/2014/main" val="3549810383"/>
                    </a:ext>
                  </a:extLst>
                </a:gridCol>
                <a:gridCol w="5394512">
                  <a:extLst>
                    <a:ext uri="{9D8B030D-6E8A-4147-A177-3AD203B41FA5}">
                      <a16:colId xmlns:a16="http://schemas.microsoft.com/office/drawing/2014/main" val="89533216"/>
                    </a:ext>
                  </a:extLst>
                </a:gridCol>
              </a:tblGrid>
              <a:tr h="21454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 err="1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엣지</a:t>
                      </a:r>
                      <a:r>
                        <a:rPr lang="en-US" altLang="ko-KR" sz="1100" b="0" i="0" u="none" strike="noStrike" cap="none" dirty="0" err="1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ID</a:t>
                      </a:r>
                      <a:endParaRPr lang="ko-KR" altLang="en-US" sz="1100" b="0" i="0" u="none" strike="noStrike" cap="non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시작 노드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시작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종료 노드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종료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유형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관계 설명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831492"/>
                  </a:ext>
                </a:extLst>
              </a:tr>
              <a:tr h="1882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E01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제품유형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파트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1:n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제품유형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건에 파트 여러 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8187484"/>
                  </a:ext>
                </a:extLst>
              </a:tr>
              <a:tr h="1882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E02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파트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표준산업분류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n:1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여러 파트가 같은 산업분류 코드를 공유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2459836"/>
                  </a:ext>
                </a:extLst>
              </a:tr>
              <a:tr h="1882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E03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파트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구성요소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1:n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파트를 구성요소로 전개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195591"/>
                  </a:ext>
                </a:extLst>
              </a:tr>
              <a:tr h="1882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E04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파트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도메인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m:n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한 파트가 금속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플라스틱 등 복수 도메인에 걸침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5175067"/>
                  </a:ext>
                </a:extLst>
              </a:tr>
              <a:tr h="1882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E05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구성요소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물질개념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m:n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구성요소는 여러 물질로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,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한 물질은 여러 구성요소에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2541780"/>
                  </a:ext>
                </a:extLst>
              </a:tr>
              <a:tr h="1882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E06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도메인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물질개념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1:n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검색 후보군을 좁히는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차 필터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6013611"/>
                  </a:ext>
                </a:extLst>
              </a:tr>
              <a:tr h="1882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E07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물질개념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식별자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1:n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CAS · EC · InChIKey.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일치 시 최우선 채택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0806605"/>
                  </a:ext>
                </a:extLst>
              </a:tr>
              <a:tr h="1882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E08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물질개념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라벨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1:n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약어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상위어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하위어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관용어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대체어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번역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8383531"/>
                  </a:ext>
                </a:extLst>
              </a:tr>
              <a:tr h="1882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E09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라벨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표기변형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1:n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하이픈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대소문자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접두어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오타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.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라벨과 별개 축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4064358"/>
                  </a:ext>
                </a:extLst>
              </a:tr>
              <a:tr h="1882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E10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물질개념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한정자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1:n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농도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등급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수화물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물리형태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1963785"/>
                  </a:ext>
                </a:extLst>
              </a:tr>
              <a:tr h="1882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E11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물질개념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설명문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1:n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국문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영문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출처별 설명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.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임베딩 검색의 본문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977536"/>
                  </a:ext>
                </a:extLst>
              </a:tr>
              <a:tr h="1882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E12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물질개념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규격코드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m:n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국가별 상호대응 규격은 같은 개념으로 수렴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233699"/>
                  </a:ext>
                </a:extLst>
              </a:tr>
              <a:tr h="1882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E13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실무품명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물질개념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n:1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상품명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사내코드를 개념으로 정규화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4769973"/>
                  </a:ext>
                </a:extLst>
              </a:tr>
              <a:tr h="1882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E14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물질개념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조성관계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1:n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상위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(parent)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방향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—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혼합물 쪽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898691"/>
                  </a:ext>
                </a:extLst>
              </a:tr>
              <a:tr h="1882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E15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조성관계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물질개념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n:1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성분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(child)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방향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—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자기참조 두 번째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FK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5377609"/>
                  </a:ext>
                </a:extLst>
              </a:tr>
              <a:tr h="1882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E16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물질개념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혼동쌍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1:n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A</a:t>
                      </a:r>
                      <a:r>
                        <a:rPr lang="ko-KR" altLang="en-US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측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9830097"/>
                  </a:ext>
                </a:extLst>
              </a:tr>
              <a:tr h="1882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E17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혼동쌍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물질개념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n:1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B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측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—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자기참조 두 번째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FK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584115"/>
                  </a:ext>
                </a:extLst>
              </a:tr>
              <a:tr h="1882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E18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물질개념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공정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m:n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같은 물질도 공정이 다르면 다른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LCI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로 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7557412"/>
                  </a:ext>
                </a:extLst>
              </a:tr>
              <a:tr h="1882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E19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물질개념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용도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m:n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자연어 형태로 기술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827185"/>
                  </a:ext>
                </a:extLst>
              </a:tr>
              <a:tr h="1882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E20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물질개념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주요국가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m:n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자연어 형태로 기술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374054"/>
                  </a:ext>
                </a:extLst>
              </a:tr>
              <a:tr h="1882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E21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물질개념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매핑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1:n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지역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경로별 후보가 여러 건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,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그중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건 채택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37071"/>
                  </a:ext>
                </a:extLst>
              </a:tr>
              <a:tr h="1882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E22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매핑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LCI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엔트리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n:1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프록시 대체일 때도 근거를 여기에 기록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710772"/>
                  </a:ext>
                </a:extLst>
              </a:tr>
              <a:tr h="1882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E23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BOM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행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물질개념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n:1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원시 표기를 개념으로 </a:t>
                      </a:r>
                      <a:r>
                        <a:rPr lang="ko-KR" altLang="en-US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정규화한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결과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205597"/>
                  </a:ext>
                </a:extLst>
              </a:tr>
              <a:tr h="1882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E24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BOM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행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공정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n:1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BOM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행이 명시한 공정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181207"/>
                  </a:ext>
                </a:extLst>
              </a:tr>
              <a:tr h="1882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E23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BOM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행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실무품명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n:1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원문 품명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자재코드 보존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900627"/>
                  </a:ext>
                </a:extLst>
              </a:tr>
              <a:tr h="1882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E24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BOM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행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LCI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엔트리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n:1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검증 확정 후 채워지는 파생 링크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</a:t>
                      </a:r>
                      <a:r>
                        <a:rPr lang="en-US" altLang="ko-KR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nullable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)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850587"/>
                  </a:ext>
                </a:extLst>
              </a:tr>
            </a:tbl>
          </a:graphicData>
        </a:graphic>
      </p:graphicFrame>
      <p:sp>
        <p:nvSpPr>
          <p:cNvPr id="76" name="사각형: 둥근 대각선 방향 모서리 75">
            <a:extLst>
              <a:ext uri="{FF2B5EF4-FFF2-40B4-BE49-F238E27FC236}">
                <a16:creationId xmlns:a16="http://schemas.microsoft.com/office/drawing/2014/main" id="{860D1692-9566-7821-73DC-70404B31E948}"/>
              </a:ext>
            </a:extLst>
          </p:cNvPr>
          <p:cNvSpPr/>
          <p:nvPr/>
        </p:nvSpPr>
        <p:spPr>
          <a:xfrm>
            <a:off x="514350" y="6134100"/>
            <a:ext cx="390525" cy="209550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99E47E9-7484-803F-4AE9-61F72E1F6F23}"/>
              </a:ext>
            </a:extLst>
          </p:cNvPr>
          <p:cNvSpPr txBox="1"/>
          <p:nvPr/>
        </p:nvSpPr>
        <p:spPr>
          <a:xfrm>
            <a:off x="904875" y="6095139"/>
            <a:ext cx="49167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미리 구성되어 있지 않고</a:t>
            </a:r>
            <a:r>
              <a:rPr lang="en-US" altLang="ko-KR" sz="1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LCI DB </a:t>
            </a:r>
            <a:r>
              <a:rPr lang="ko-KR" altLang="en-US" sz="1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매칭 요청이 오거나 처리되는 과정에서 생성처리됨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3CB4F24-8B88-98B7-72A6-0734CEB03905}"/>
              </a:ext>
            </a:extLst>
          </p:cNvPr>
          <p:cNvSpPr/>
          <p:nvPr/>
        </p:nvSpPr>
        <p:spPr>
          <a:xfrm rot="1611898">
            <a:off x="8881588" y="1142199"/>
            <a:ext cx="2864498" cy="702390"/>
          </a:xfrm>
          <a:prstGeom prst="roundRect">
            <a:avLst/>
          </a:prstGeom>
          <a:solidFill>
            <a:schemeClr val="bg1">
              <a:alpha val="7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고객사 불필요</a:t>
            </a:r>
            <a:r>
              <a:rPr lang="en-US" altLang="ko-KR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항목</a:t>
            </a:r>
            <a:r>
              <a:rPr lang="en-US" altLang="ko-KR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확인</a:t>
            </a:r>
            <a:r>
              <a:rPr lang="en-US" altLang="ko-KR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필요</a:t>
            </a:r>
          </a:p>
        </p:txBody>
      </p:sp>
    </p:spTree>
    <p:extLst>
      <p:ext uri="{BB962C8B-B14F-4D97-AF65-F5344CB8AC3E}">
        <p14:creationId xmlns:p14="http://schemas.microsoft.com/office/powerpoint/2010/main" val="3392774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5E0F7-4D60-6070-233F-03DEB8C45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70">
            <a:extLst>
              <a:ext uri="{FF2B5EF4-FFF2-40B4-BE49-F238E27FC236}">
                <a16:creationId xmlns:a16="http://schemas.microsoft.com/office/drawing/2014/main" id="{3ABC0109-DDB0-5683-C1B9-F4FF035D359F}"/>
              </a:ext>
            </a:extLst>
          </p:cNvPr>
          <p:cNvSpPr txBox="1"/>
          <p:nvPr/>
        </p:nvSpPr>
        <p:spPr>
          <a:xfrm>
            <a:off x="438615" y="163552"/>
            <a:ext cx="2182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3.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항목간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관계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–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코드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14714B9-A204-DCC7-1073-5BF022F14D84}"/>
              </a:ext>
            </a:extLst>
          </p:cNvPr>
          <p:cNvSpPr txBox="1"/>
          <p:nvPr/>
        </p:nvSpPr>
        <p:spPr>
          <a:xfrm>
            <a:off x="9746150" y="0"/>
            <a:ext cx="211836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참고자료</a:t>
            </a:r>
            <a:r>
              <a:rPr lang="ko-KR" altLang="en-US" sz="24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Ⅰ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6B21E32-87F1-B1B1-11B0-14561FA844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670003"/>
              </p:ext>
            </p:extLst>
          </p:nvPr>
        </p:nvGraphicFramePr>
        <p:xfrm>
          <a:off x="560387" y="952500"/>
          <a:ext cx="11068050" cy="5000629"/>
        </p:xfrm>
        <a:graphic>
          <a:graphicData uri="http://schemas.openxmlformats.org/drawingml/2006/table">
            <a:tbl>
              <a:tblPr>
                <a:tableStyleId>{C1FDD0C3-F311-486D-AA3B-C831FA89247B}</a:tableStyleId>
              </a:tblPr>
              <a:tblGrid>
                <a:gridCol w="2289941">
                  <a:extLst>
                    <a:ext uri="{9D8B030D-6E8A-4147-A177-3AD203B41FA5}">
                      <a16:colId xmlns:a16="http://schemas.microsoft.com/office/drawing/2014/main" val="4001905545"/>
                    </a:ext>
                  </a:extLst>
                </a:gridCol>
                <a:gridCol w="2480770">
                  <a:extLst>
                    <a:ext uri="{9D8B030D-6E8A-4147-A177-3AD203B41FA5}">
                      <a16:colId xmlns:a16="http://schemas.microsoft.com/office/drawing/2014/main" val="2419252526"/>
                    </a:ext>
                  </a:extLst>
                </a:gridCol>
                <a:gridCol w="6297339">
                  <a:extLst>
                    <a:ext uri="{9D8B030D-6E8A-4147-A177-3AD203B41FA5}">
                      <a16:colId xmlns:a16="http://schemas.microsoft.com/office/drawing/2014/main" val="1398142053"/>
                    </a:ext>
                  </a:extLst>
                </a:gridCol>
              </a:tblGrid>
              <a:tr h="2105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구분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값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의미 </a:t>
                      </a:r>
                      <a:r>
                        <a:rPr lang="en-US" altLang="ko-KR" sz="11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예시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582492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라벨유형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(N08)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약어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PP =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폴리프로필렌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466320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라벨유형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(N08)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상위어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하위어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열가소성수지 ↔ 폴리아미드 ↔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PA66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5958098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라벨유형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(N08)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관용어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가성소다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=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수산화나트륨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1416738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라벨유형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(N08)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대체어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같은 물질의 다른 이름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.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정체성은 동일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6030719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라벨유형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(N08)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상품명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Teflon = PTFE (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등록상표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6063882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라벨유형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(N08)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번역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Acetone /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아세톤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/ </a:t>
                      </a:r>
                      <a:r>
                        <a:rPr lang="ko-KR" altLang="en-US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アセトン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8656927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표기변형 유형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(N09)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대소문자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공백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하이픈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sodium chloride / Sodium-Chloride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8425651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표기변형 유형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(N09)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구조 접두어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- · </a:t>
                      </a:r>
                      <a:r>
                        <a:rPr lang="en-US" altLang="ko-KR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iso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- · </a:t>
                      </a:r>
                      <a:r>
                        <a:rPr lang="en-US" altLang="ko-KR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tert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- · </a:t>
                      </a:r>
                      <a:r>
                        <a:rPr lang="en-US" altLang="ko-KR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o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/</a:t>
                      </a:r>
                      <a:r>
                        <a:rPr lang="en-US" altLang="ko-KR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/</a:t>
                      </a:r>
                      <a:r>
                        <a:rPr lang="en-US" altLang="ko-KR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p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- · α → </a:t>
                      </a:r>
                      <a:r>
                        <a:rPr lang="en-US" altLang="ko-KR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alpha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386312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표기변형 유형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(N09)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첨자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특수문자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H₂SO₄ / H2SO4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3923403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표기변형 유형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(N09)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오타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OCR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오류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폴리프로파일렌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, ALDC12,1 —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편집거리 </a:t>
                      </a:r>
                      <a:r>
                        <a:rPr lang="ko-KR" altLang="en-US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후보용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9674308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한정자 유형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(N10)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농도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순도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NaOH 50%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용액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vs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고체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0606016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한정자 유형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(N10)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등급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industrial / technical / electronic grade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2961017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한정자 유형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(N10)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염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수화물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무수물 </a:t>
                      </a:r>
                      <a:r>
                        <a:rPr lang="en-US" altLang="ko-KR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vs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5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수염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, </a:t>
                      </a:r>
                      <a:r>
                        <a:rPr lang="ko-KR" altLang="en-US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나트륨염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</a:t>
                      </a:r>
                      <a:r>
                        <a:rPr lang="en-US" altLang="ko-KR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vs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</a:t>
                      </a:r>
                      <a:r>
                        <a:rPr lang="ko-KR" altLang="en-US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유리산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2112854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한정자 유형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(N10)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물리형태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분말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펠릿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용액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기체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8406039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한정자 유형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(N10)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이성질체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중합도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LDPE / HDPE, PA6 / PA66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9641097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규격체계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(N13)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KS · JIS · ASTM · EN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ALDC12.1 = ADC12 = A383 = AC-46000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5984225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규격체계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(N13)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ISO 1043 · IMDS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플라스틱 약호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자동차 재질분류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460356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실무품명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유형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(N14)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상품명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사내코드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공급사 품명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BOM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에 실제로 적히는 문자열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382542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혼동쌍 사유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(N16)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약어 충돌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PE ↔ PET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4144693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혼동쌍 사유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(N16)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이름 유사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소다회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</a:t>
                      </a:r>
                      <a:r>
                        <a:rPr lang="en-US" altLang="ko-KR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Na₂CO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₃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) ↔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가성소다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</a:t>
                      </a:r>
                      <a:r>
                        <a:rPr lang="en-US" altLang="ko-KR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NaOH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)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340278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매칭유형 </a:t>
                      </a:r>
                      <a:r>
                        <a:rPr lang="en-US" altLang="ko-KR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(N17)</a:t>
                      </a:r>
                      <a:endParaRPr lang="ko-KR" altLang="en-US" sz="11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정확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식별자 또는 규격코드가 일치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1960471"/>
                  </a:ext>
                </a:extLst>
              </a:tr>
              <a:tr h="206190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매칭유형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(N17)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유사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개념은 일치하나 한정자 일부가 불일치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1982674"/>
                  </a:ext>
                </a:extLst>
              </a:tr>
              <a:tr h="253865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매칭유형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(N17)</a:t>
                      </a:r>
                      <a:endParaRPr lang="ko-KR" altLang="en-US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프록시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해당 물질 데이터셋이 없어 유사 물질로 대체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.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선정 근거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보수성 방향 </a:t>
                      </a:r>
                      <a:r>
                        <a:rPr lang="en-US" altLang="ko-KR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불확실성 코멘트 필수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951563"/>
                  </a:ext>
                </a:extLst>
              </a:tr>
            </a:tbl>
          </a:graphicData>
        </a:graphic>
      </p:graphicFrame>
      <p:sp>
        <p:nvSpPr>
          <p:cNvPr id="6" name="사각형: 둥근 대각선 방향 모서리 5">
            <a:extLst>
              <a:ext uri="{FF2B5EF4-FFF2-40B4-BE49-F238E27FC236}">
                <a16:creationId xmlns:a16="http://schemas.microsoft.com/office/drawing/2014/main" id="{0AF7308D-54C6-A0B6-62CC-FD5F422074A4}"/>
              </a:ext>
            </a:extLst>
          </p:cNvPr>
          <p:cNvSpPr/>
          <p:nvPr/>
        </p:nvSpPr>
        <p:spPr>
          <a:xfrm>
            <a:off x="514350" y="6134100"/>
            <a:ext cx="390525" cy="209550"/>
          </a:xfrm>
          <a:prstGeom prst="round2Diag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A257DF-2D30-9DAD-D2D5-E8B2C7A5F358}"/>
              </a:ext>
            </a:extLst>
          </p:cNvPr>
          <p:cNvSpPr txBox="1"/>
          <p:nvPr/>
        </p:nvSpPr>
        <p:spPr>
          <a:xfrm>
            <a:off x="904875" y="6095139"/>
            <a:ext cx="49167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미리 구성되어 있지 않고</a:t>
            </a:r>
            <a:r>
              <a:rPr lang="en-US" altLang="ko-KR" sz="1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LCI DB </a:t>
            </a:r>
            <a:r>
              <a:rPr lang="ko-KR" altLang="en-US" sz="1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매칭 요청이 오거나 처리되는 과정에서 생성처리됨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C809A15-B59E-D0DB-0BF5-304509B6D528}"/>
              </a:ext>
            </a:extLst>
          </p:cNvPr>
          <p:cNvSpPr/>
          <p:nvPr/>
        </p:nvSpPr>
        <p:spPr>
          <a:xfrm rot="1611898">
            <a:off x="8881588" y="1142199"/>
            <a:ext cx="2864498" cy="702390"/>
          </a:xfrm>
          <a:prstGeom prst="roundRect">
            <a:avLst/>
          </a:prstGeom>
          <a:solidFill>
            <a:schemeClr val="bg1">
              <a:alpha val="7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고객사 불필요</a:t>
            </a:r>
            <a:r>
              <a:rPr lang="en-US" altLang="ko-KR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항목</a:t>
            </a:r>
            <a:r>
              <a:rPr lang="en-US" altLang="ko-KR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확인</a:t>
            </a:r>
            <a:r>
              <a:rPr lang="en-US" altLang="ko-KR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필요</a:t>
            </a:r>
          </a:p>
        </p:txBody>
      </p:sp>
    </p:spTree>
    <p:extLst>
      <p:ext uri="{BB962C8B-B14F-4D97-AF65-F5344CB8AC3E}">
        <p14:creationId xmlns:p14="http://schemas.microsoft.com/office/powerpoint/2010/main" val="727989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07277-5AC4-A85B-4E61-62D11888E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D29B133-A275-7DB8-D3C5-EC76A122C3A1}"/>
              </a:ext>
            </a:extLst>
          </p:cNvPr>
          <p:cNvSpPr txBox="1"/>
          <p:nvPr/>
        </p:nvSpPr>
        <p:spPr>
          <a:xfrm>
            <a:off x="438615" y="163552"/>
            <a:ext cx="3310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4. LLM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Wiki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화면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UI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예시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(1/2)</a:t>
            </a:r>
            <a:endParaRPr lang="ko-KR" altLang="en-US" sz="1800" dirty="0">
              <a:solidFill>
                <a:srgbClr val="C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Inter Extra Bold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502F6A-DADF-1BC4-F7E7-ED3A1B6AC0D1}"/>
              </a:ext>
            </a:extLst>
          </p:cNvPr>
          <p:cNvSpPr txBox="1"/>
          <p:nvPr/>
        </p:nvSpPr>
        <p:spPr>
          <a:xfrm>
            <a:off x="9746150" y="0"/>
            <a:ext cx="211836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참고자료</a:t>
            </a:r>
            <a:r>
              <a:rPr lang="ko-KR" altLang="en-US" sz="24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Ⅰ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874B0D5-D00E-4F16-BF5B-4722E2C7B1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61" r="2292"/>
          <a:stretch>
            <a:fillRect/>
          </a:stretch>
        </p:blipFill>
        <p:spPr>
          <a:xfrm>
            <a:off x="1182600" y="903912"/>
            <a:ext cx="9221034" cy="548755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6F5561B-A868-749D-60A4-A632175F2E5C}"/>
              </a:ext>
            </a:extLst>
          </p:cNvPr>
          <p:cNvSpPr/>
          <p:nvPr/>
        </p:nvSpPr>
        <p:spPr>
          <a:xfrm rot="1611898">
            <a:off x="8827206" y="1129210"/>
            <a:ext cx="2864498" cy="943077"/>
          </a:xfrm>
          <a:prstGeom prst="roundRect">
            <a:avLst/>
          </a:prstGeom>
          <a:solidFill>
            <a:schemeClr val="bg1">
              <a:alpha val="7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UI</a:t>
            </a:r>
            <a:r>
              <a:rPr lang="ko-KR" altLang="en-US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상세 구성 및</a:t>
            </a:r>
            <a:endParaRPr lang="en-US" altLang="ko-KR" dirty="0">
              <a:solidFill>
                <a:srgbClr val="C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신규추가</a:t>
            </a:r>
            <a:r>
              <a:rPr lang="en-US" altLang="ko-KR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/</a:t>
            </a:r>
            <a:r>
              <a:rPr lang="ko-KR" altLang="en-US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수정</a:t>
            </a:r>
            <a:r>
              <a:rPr lang="en-US" altLang="ko-KR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/</a:t>
            </a:r>
            <a:r>
              <a:rPr lang="ko-KR" altLang="en-US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이력관리 방안은 별도 협의 예정</a:t>
            </a:r>
            <a:endParaRPr lang="ko-KR" altLang="en-US" dirty="0">
              <a:solidFill>
                <a:srgbClr val="C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2997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EE192-FE10-F3FE-E00A-884824A36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C8A6B96-007C-F411-115B-790BA7892F59}"/>
              </a:ext>
            </a:extLst>
          </p:cNvPr>
          <p:cNvSpPr txBox="1"/>
          <p:nvPr/>
        </p:nvSpPr>
        <p:spPr>
          <a:xfrm>
            <a:off x="438615" y="163552"/>
            <a:ext cx="3310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4. LLM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Wiki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화면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UI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예시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(2/2)</a:t>
            </a:r>
            <a:endParaRPr lang="ko-KR" altLang="en-US" sz="1800" dirty="0">
              <a:solidFill>
                <a:srgbClr val="C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Inter Extra Bold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B461A6-D375-1138-A774-80E9549E0B95}"/>
              </a:ext>
            </a:extLst>
          </p:cNvPr>
          <p:cNvSpPr txBox="1"/>
          <p:nvPr/>
        </p:nvSpPr>
        <p:spPr>
          <a:xfrm>
            <a:off x="9746150" y="0"/>
            <a:ext cx="211836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참고자료</a:t>
            </a:r>
            <a:r>
              <a:rPr lang="ko-KR" altLang="en-US" sz="24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6003EE5-3E79-2FF6-82E7-B279E0BD50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209"/>
          <a:stretch>
            <a:fillRect/>
          </a:stretch>
        </p:blipFill>
        <p:spPr>
          <a:xfrm>
            <a:off x="1313754" y="874005"/>
            <a:ext cx="9724360" cy="545111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C288C8C-4A42-9696-AB50-FFC838BD8851}"/>
              </a:ext>
            </a:extLst>
          </p:cNvPr>
          <p:cNvSpPr/>
          <p:nvPr/>
        </p:nvSpPr>
        <p:spPr>
          <a:xfrm rot="1611898">
            <a:off x="8827206" y="1129210"/>
            <a:ext cx="2864498" cy="943077"/>
          </a:xfrm>
          <a:prstGeom prst="roundRect">
            <a:avLst/>
          </a:prstGeom>
          <a:solidFill>
            <a:schemeClr val="bg1">
              <a:alpha val="7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UI</a:t>
            </a:r>
            <a:r>
              <a:rPr lang="ko-KR" altLang="en-US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상세 구성 및</a:t>
            </a:r>
            <a:endParaRPr lang="en-US" altLang="ko-KR" dirty="0">
              <a:solidFill>
                <a:srgbClr val="C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algn="ctr"/>
            <a:r>
              <a:rPr lang="ko-KR" altLang="en-US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신규추가</a:t>
            </a:r>
            <a:r>
              <a:rPr lang="en-US" altLang="ko-KR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/</a:t>
            </a:r>
            <a:r>
              <a:rPr lang="ko-KR" altLang="en-US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수정</a:t>
            </a:r>
            <a:r>
              <a:rPr lang="en-US" altLang="ko-KR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/</a:t>
            </a:r>
            <a:r>
              <a:rPr lang="ko-KR" altLang="en-US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이력관리 방안은 별도 협의 예정</a:t>
            </a:r>
            <a:endParaRPr lang="ko-KR" altLang="en-US" dirty="0">
              <a:solidFill>
                <a:srgbClr val="C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9187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D82BA-71FD-61D0-8A0C-5D59D0861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64E7B5A-C2E3-1A64-0643-8D543AA97CA6}"/>
              </a:ext>
            </a:extLst>
          </p:cNvPr>
          <p:cNvSpPr txBox="1"/>
          <p:nvPr/>
        </p:nvSpPr>
        <p:spPr>
          <a:xfrm>
            <a:off x="438615" y="163552"/>
            <a:ext cx="2396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5. LCI DB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명 확인 사항</a:t>
            </a:r>
            <a:endParaRPr lang="ko-KR" altLang="en-US" sz="1800" dirty="0">
              <a:solidFill>
                <a:srgbClr val="C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Inter Extra Bold" panose="02000503000000020004" pitchFamily="2" charset="0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0A4C241-36FB-F22F-D39A-ECF03ECA61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961402"/>
              </p:ext>
            </p:extLst>
          </p:nvPr>
        </p:nvGraphicFramePr>
        <p:xfrm>
          <a:off x="8350024" y="1539551"/>
          <a:ext cx="3285212" cy="2230020"/>
        </p:xfrm>
        <a:graphic>
          <a:graphicData uri="http://schemas.openxmlformats.org/drawingml/2006/table">
            <a:tbl>
              <a:tblPr>
                <a:tableStyleId>{C1FDD0C3-F311-486D-AA3B-C831FA89247B}</a:tableStyleId>
              </a:tblPr>
              <a:tblGrid>
                <a:gridCol w="3285212">
                  <a:extLst>
                    <a:ext uri="{9D8B030D-6E8A-4147-A177-3AD203B41FA5}">
                      <a16:colId xmlns:a16="http://schemas.microsoft.com/office/drawing/2014/main" val="1753208496"/>
                    </a:ext>
                  </a:extLst>
                </a:gridCol>
              </a:tblGrid>
              <a:tr h="2477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production</a:t>
                      </a:r>
                      <a:endParaRPr lang="ko-KR" alt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4071735"/>
                  </a:ext>
                </a:extLst>
              </a:tr>
              <a:tr h="2477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market</a:t>
                      </a:r>
                      <a:r>
                        <a:rPr lang="ko-KR" alt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</a:t>
                      </a:r>
                      <a:r>
                        <a:rPr lang="en-US" altLang="ko-KR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for</a:t>
                      </a:r>
                      <a:r>
                        <a:rPr lang="ko-KR" alt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로 시작</a:t>
                      </a:r>
                    </a:p>
                  </a:txBody>
                  <a:tcPr marL="36000" marR="3600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0618888"/>
                  </a:ext>
                </a:extLst>
              </a:tr>
              <a:tr h="2477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market</a:t>
                      </a:r>
                      <a:r>
                        <a:rPr lang="ko-KR" alt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</a:t>
                      </a:r>
                      <a:r>
                        <a:rPr lang="en-US" altLang="ko-KR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for</a:t>
                      </a:r>
                      <a:r>
                        <a:rPr lang="ko-KR" alt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가 중간에 있음</a:t>
                      </a:r>
                    </a:p>
                  </a:txBody>
                  <a:tcPr marL="36000" marR="3600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929357"/>
                  </a:ext>
                </a:extLst>
              </a:tr>
              <a:tr h="2477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treatment</a:t>
                      </a:r>
                      <a:r>
                        <a:rPr lang="ko-KR" alt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</a:t>
                      </a:r>
                      <a:r>
                        <a:rPr lang="en-US" altLang="ko-KR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of</a:t>
                      </a:r>
                      <a:endParaRPr lang="ko-KR" alt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4561578"/>
                  </a:ext>
                </a:extLst>
              </a:tr>
              <a:tr h="2477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Recycled</a:t>
                      </a:r>
                      <a:r>
                        <a:rPr lang="ko-KR" alt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</a:t>
                      </a:r>
                      <a:r>
                        <a:rPr lang="en-US" altLang="ko-KR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Content</a:t>
                      </a:r>
                      <a:r>
                        <a:rPr lang="ko-KR" alt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</a:t>
                      </a:r>
                      <a:r>
                        <a:rPr lang="en-US" altLang="ko-KR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cut-off</a:t>
                      </a:r>
                      <a:endParaRPr lang="ko-KR" alt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7649000"/>
                  </a:ext>
                </a:extLst>
              </a:tr>
              <a:tr h="2477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market group for </a:t>
                      </a:r>
                      <a:endParaRPr lang="ko-KR" alt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9377730"/>
                  </a:ext>
                </a:extLst>
              </a:tr>
              <a:tr h="2477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for</a:t>
                      </a:r>
                      <a:r>
                        <a:rPr lang="ko-KR" alt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</a:t>
                      </a:r>
                      <a:r>
                        <a:rPr lang="en-US" altLang="ko-KR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recovery</a:t>
                      </a:r>
                      <a:endParaRPr lang="ko-KR" alt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0572258"/>
                  </a:ext>
                </a:extLst>
              </a:tr>
              <a:tr h="2477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market</a:t>
                      </a:r>
                      <a:r>
                        <a:rPr lang="ko-KR" alt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</a:t>
                      </a:r>
                      <a:r>
                        <a:rPr lang="en-US" altLang="ko-KR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for</a:t>
                      </a:r>
                      <a:endParaRPr lang="ko-KR" alt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0835789"/>
                  </a:ext>
                </a:extLst>
              </a:tr>
              <a:tr h="2477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waste</a:t>
                      </a:r>
                      <a:endParaRPr lang="ko-KR" alt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08692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AA93BA3-B35D-6E4E-B475-4E20D9AAA68B}"/>
              </a:ext>
            </a:extLst>
          </p:cNvPr>
          <p:cNvSpPr txBox="1"/>
          <p:nvPr/>
        </p:nvSpPr>
        <p:spPr>
          <a:xfrm>
            <a:off x="9364980" y="0"/>
            <a:ext cx="249953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DB </a:t>
            </a: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매칭방안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Ⅱ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3B59809-9C75-2C74-D624-D587D2D30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749105"/>
              </p:ext>
            </p:extLst>
          </p:nvPr>
        </p:nvGraphicFramePr>
        <p:xfrm>
          <a:off x="553588" y="1539551"/>
          <a:ext cx="7472811" cy="4786614"/>
        </p:xfrm>
        <a:graphic>
          <a:graphicData uri="http://schemas.openxmlformats.org/drawingml/2006/table">
            <a:tbl>
              <a:tblPr>
                <a:tableStyleId>{C1FDD0C3-F311-486D-AA3B-C831FA89247B}</a:tableStyleId>
              </a:tblPr>
              <a:tblGrid>
                <a:gridCol w="438334">
                  <a:extLst>
                    <a:ext uri="{9D8B030D-6E8A-4147-A177-3AD203B41FA5}">
                      <a16:colId xmlns:a16="http://schemas.microsoft.com/office/drawing/2014/main" val="2438719900"/>
                    </a:ext>
                  </a:extLst>
                </a:gridCol>
                <a:gridCol w="5422897">
                  <a:extLst>
                    <a:ext uri="{9D8B030D-6E8A-4147-A177-3AD203B41FA5}">
                      <a16:colId xmlns:a16="http://schemas.microsoft.com/office/drawing/2014/main" val="3952790511"/>
                    </a:ext>
                  </a:extLst>
                </a:gridCol>
                <a:gridCol w="1611580">
                  <a:extLst>
                    <a:ext uri="{9D8B030D-6E8A-4147-A177-3AD203B41FA5}">
                      <a16:colId xmlns:a16="http://schemas.microsoft.com/office/drawing/2014/main" val="857176707"/>
                    </a:ext>
                  </a:extLst>
                </a:gridCol>
              </a:tblGrid>
              <a:tr h="2279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 err="1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ref_id</a:t>
                      </a:r>
                      <a:endParaRPr 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 err="1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ref_name</a:t>
                      </a:r>
                      <a:endParaRPr 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dirty="0">
                          <a:solidFill>
                            <a:schemeClr val="bg1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대상여부</a:t>
                      </a:r>
                      <a:endParaRPr lang="ko-KR" sz="1000" b="0" i="0" u="none" strike="noStrike" dirty="0">
                        <a:solidFill>
                          <a:schemeClr val="bg1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356112"/>
                  </a:ext>
                </a:extLst>
              </a:tr>
              <a:tr h="22793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140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aluminium oxide, metallurgical, import from Northern America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확인필요(지역)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767608"/>
                  </a:ext>
                </a:extLst>
              </a:tr>
              <a:tr h="22793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141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aluminium oxide, metallurgical, import from Rest of Europe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확인필요(지역)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3839153"/>
                  </a:ext>
                </a:extLst>
              </a:tr>
              <a:tr h="22793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142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aluminium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oxide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metallurgical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import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from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South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America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확인필요(지역)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665403"/>
                  </a:ext>
                </a:extLst>
              </a:tr>
              <a:tr h="22793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160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aluminium, ingot, primary, import from Africa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확인필요(지역)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9294345"/>
                  </a:ext>
                </a:extLst>
              </a:tr>
              <a:tr h="22793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161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aluminium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ingot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primary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import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from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Asia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(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excluding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China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확인필요(지역)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248062"/>
                  </a:ext>
                </a:extLst>
              </a:tr>
              <a:tr h="22793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162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aluminium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ingot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primary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import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from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EU27 &amp; EFTA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확인필요(지역)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8819089"/>
                  </a:ext>
                </a:extLst>
              </a:tr>
              <a:tr h="22793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163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aluminium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ingot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primary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import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from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Middle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East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(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Gulf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cooperation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Council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확인필요(지역)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792109"/>
                  </a:ext>
                </a:extLst>
              </a:tr>
              <a:tr h="22793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164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aluminium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ingot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primary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import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from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Northern America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확인필요(지역)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2959785"/>
                  </a:ext>
                </a:extLst>
              </a:tr>
              <a:tr h="22793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165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aluminium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ingot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primary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, 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import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from</a:t>
                      </a: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0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Oceania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확인필요(지역)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1939022"/>
                  </a:ext>
                </a:extLst>
              </a:tr>
              <a:tr h="22793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166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aluminium, ingot, primary, import from Rest of Europe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확인필요(지역)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331208"/>
                  </a:ext>
                </a:extLst>
              </a:tr>
              <a:tr h="22793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167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aluminium, ingot, primary, import from South America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확인필요(지역)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150807"/>
                  </a:ext>
                </a:extLst>
              </a:tr>
              <a:tr h="22793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168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aluminium, ingot, primary, import from unspecified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확인필요(지역)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7831473"/>
                  </a:ext>
                </a:extLst>
              </a:tr>
              <a:tr h="22793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571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cement, unspecified, import from Europe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확인필요(지역)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781842"/>
                  </a:ext>
                </a:extLst>
              </a:tr>
              <a:tr h="22793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676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coke production, dry quenching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확인필요(공정)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7303216"/>
                  </a:ext>
                </a:extLst>
              </a:tr>
              <a:tr h="22793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678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coke, import from CN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확인필요(지역)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0549633"/>
                  </a:ext>
                </a:extLst>
              </a:tr>
              <a:tr h="22793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677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coke production, wet quenching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확인필요(공정)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3657191"/>
                  </a:ext>
                </a:extLst>
              </a:tr>
              <a:tr h="22793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6211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market group for concrete, medium strength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확인필요(우선순위)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164479"/>
                  </a:ext>
                </a:extLst>
              </a:tr>
              <a:tr h="22793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3059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market for concrete, medium strength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확인필요(우선순위)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2518101"/>
                  </a:ext>
                </a:extLst>
              </a:tr>
              <a:tr h="22793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6212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market group for concrete, normal strength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확인필요(우선순위)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925673"/>
                  </a:ext>
                </a:extLst>
              </a:tr>
              <a:tr h="227934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3060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market for concrete, normal strength</a:t>
                      </a: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확인필요(우선순위)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4098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3369691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2FF25E1-3384-47A2-7876-8F4A178020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020342"/>
              </p:ext>
            </p:extLst>
          </p:nvPr>
        </p:nvGraphicFramePr>
        <p:xfrm>
          <a:off x="8350024" y="3932858"/>
          <a:ext cx="3285212" cy="1964731"/>
        </p:xfrm>
        <a:graphic>
          <a:graphicData uri="http://schemas.openxmlformats.org/drawingml/2006/table">
            <a:tbl>
              <a:tblPr>
                <a:tableStyleId>{C1FDD0C3-F311-486D-AA3B-C831FA89247B}</a:tableStyleId>
              </a:tblPr>
              <a:tblGrid>
                <a:gridCol w="1642606">
                  <a:extLst>
                    <a:ext uri="{9D8B030D-6E8A-4147-A177-3AD203B41FA5}">
                      <a16:colId xmlns:a16="http://schemas.microsoft.com/office/drawing/2014/main" val="2785734241"/>
                    </a:ext>
                  </a:extLst>
                </a:gridCol>
                <a:gridCol w="1642606">
                  <a:extLst>
                    <a:ext uri="{9D8B030D-6E8A-4147-A177-3AD203B41FA5}">
                      <a16:colId xmlns:a16="http://schemas.microsoft.com/office/drawing/2014/main" val="1008705746"/>
                    </a:ext>
                  </a:extLst>
                </a:gridCol>
              </a:tblGrid>
              <a:tr h="214818"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kg</a:t>
                      </a:r>
                      <a:endParaRPr lang="ko-KR" alt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hour</a:t>
                      </a:r>
                      <a:endParaRPr lang="ko-KR" alt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4307838"/>
                  </a:ext>
                </a:extLst>
              </a:tr>
              <a:tr h="214818"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m2</a:t>
                      </a:r>
                      <a:endParaRPr lang="ko-KR" alt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m*year</a:t>
                      </a:r>
                      <a:endParaRPr lang="ko-KR" alt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2721016"/>
                  </a:ext>
                </a:extLst>
              </a:tr>
              <a:tr h="214818"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unit</a:t>
                      </a:r>
                      <a:endParaRPr lang="ko-KR" alt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km</a:t>
                      </a:r>
                      <a:endParaRPr lang="ko-KR" alt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795458"/>
                  </a:ext>
                </a:extLst>
              </a:tr>
              <a:tr h="214818"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</a:t>
                      </a:r>
                      <a:endParaRPr lang="ko-KR" alt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l</a:t>
                      </a:r>
                      <a:endParaRPr lang="ko-KR" alt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4830700"/>
                  </a:ext>
                </a:extLst>
              </a:tr>
              <a:tr h="214818"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m3</a:t>
                      </a:r>
                      <a:endParaRPr lang="ko-KR" alt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m2*</a:t>
                      </a:r>
                      <a:r>
                        <a:rPr lang="en-US" altLang="ko-KR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year</a:t>
                      </a:r>
                      <a:endParaRPr lang="ko-KR" alt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464265"/>
                  </a:ext>
                </a:extLst>
              </a:tr>
              <a:tr h="246187"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ha</a:t>
                      </a:r>
                      <a:endParaRPr lang="ko-KR" alt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km*year</a:t>
                      </a:r>
                      <a:endParaRPr lang="ko-KR" alt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7640551"/>
                  </a:ext>
                </a:extLst>
              </a:tr>
              <a:tr h="214818"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kWh</a:t>
                      </a:r>
                      <a:endParaRPr lang="ko-KR" altLang="en-US" sz="10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metric ton*km</a:t>
                      </a:r>
                      <a:endParaRPr lang="ko-KR" alt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5476042"/>
                  </a:ext>
                </a:extLst>
              </a:tr>
              <a:tr h="214818"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MJ</a:t>
                      </a:r>
                      <a:endParaRPr lang="ko-KR" alt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kg</a:t>
                      </a:r>
                      <a:r>
                        <a:rPr lang="ko-KR" alt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*</a:t>
                      </a:r>
                      <a:r>
                        <a:rPr lang="en-US" altLang="ko-KR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day</a:t>
                      </a:r>
                      <a:endParaRPr lang="ko-KR" alt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0492800"/>
                  </a:ext>
                </a:extLst>
              </a:tr>
              <a:tr h="214818"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guest night</a:t>
                      </a:r>
                      <a:endParaRPr lang="ko-KR" alt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algn="l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ko-KR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person</a:t>
                      </a:r>
                      <a:r>
                        <a:rPr lang="ko-KR" altLang="en-US" sz="1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*</a:t>
                      </a:r>
                      <a:r>
                        <a:rPr lang="en-US" altLang="ko-KR" sz="10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km</a:t>
                      </a:r>
                      <a:endParaRPr lang="ko-KR" altLang="en-US" sz="10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860063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DB77164-FCF5-F366-E229-C69019B8B4BF}"/>
              </a:ext>
            </a:extLst>
          </p:cNvPr>
          <p:cNvSpPr txBox="1"/>
          <p:nvPr/>
        </p:nvSpPr>
        <p:spPr>
          <a:xfrm>
            <a:off x="438615" y="852226"/>
            <a:ext cx="11345948" cy="521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참조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DB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명에 지역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공정이 있는 경우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우선순위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아무것도 없는 경우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production, market for or market group for, 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제외되어야 하는 경우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(treatment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of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외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단위가 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개 밖에 없는데 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unit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등인 경우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), 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혼합물질인 경우 등등에 대한 의사결정 필요 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 9,000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여개 </a:t>
            </a:r>
            <a:r>
              <a:rPr lang="ko-KR" altLang="en-US" sz="1300" dirty="0" err="1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물질명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 중에서 확실하게 제외되는 경우 엑셀에서 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X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표시 필요</a:t>
            </a:r>
            <a:endParaRPr lang="ko-KR" altLang="en-US" sz="13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5929B3-5A2D-D7FE-C7CF-EEA939742A7F}"/>
              </a:ext>
            </a:extLst>
          </p:cNvPr>
          <p:cNvSpPr txBox="1"/>
          <p:nvPr/>
        </p:nvSpPr>
        <p:spPr>
          <a:xfrm>
            <a:off x="8350024" y="6060876"/>
            <a:ext cx="314493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ref_db_name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.xlsx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파일 참조</a:t>
            </a:r>
          </a:p>
        </p:txBody>
      </p:sp>
    </p:spTree>
    <p:extLst>
      <p:ext uri="{BB962C8B-B14F-4D97-AF65-F5344CB8AC3E}">
        <p14:creationId xmlns:p14="http://schemas.microsoft.com/office/powerpoint/2010/main" val="329287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9BE4F-BC18-EA89-C09F-336E1B3A0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09311AB-A4C9-1BB8-717F-E92C8077FB2C}"/>
              </a:ext>
            </a:extLst>
          </p:cNvPr>
          <p:cNvSpPr txBox="1"/>
          <p:nvPr/>
        </p:nvSpPr>
        <p:spPr>
          <a:xfrm>
            <a:off x="438615" y="163552"/>
            <a:ext cx="183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1.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전제요건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(1/2)</a:t>
            </a:r>
            <a:endParaRPr lang="ko-KR" altLang="en-US" sz="1800" dirty="0">
              <a:solidFill>
                <a:srgbClr val="1A1A1A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Inter Extra Bold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646F84-66D3-93A2-583F-A7E8828B98FF}"/>
              </a:ext>
            </a:extLst>
          </p:cNvPr>
          <p:cNvSpPr txBox="1"/>
          <p:nvPr/>
        </p:nvSpPr>
        <p:spPr>
          <a:xfrm>
            <a:off x="9364980" y="0"/>
            <a:ext cx="249953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DB </a:t>
            </a: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매칭방안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Ⅱ</a:t>
            </a: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DDCD713F-DFCF-6C50-5B55-C57D42A5C3F8}"/>
              </a:ext>
            </a:extLst>
          </p:cNvPr>
          <p:cNvSpPr txBox="1"/>
          <p:nvPr/>
        </p:nvSpPr>
        <p:spPr>
          <a:xfrm>
            <a:off x="521208" y="914400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세 가지 입력 자산을 전제로 매칭 </a:t>
            </a:r>
            <a:r>
              <a:rPr lang="en-US" sz="1300" dirty="0" err="1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파이프라인을</a:t>
            </a:r>
            <a:r>
              <a:rPr lang="en-US" sz="1300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구성</a:t>
            </a:r>
            <a:endParaRPr lang="en-US" sz="13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917A9E0F-B05F-B75A-2E5A-67668F81DE58}"/>
              </a:ext>
            </a:extLst>
          </p:cNvPr>
          <p:cNvSpPr/>
          <p:nvPr/>
        </p:nvSpPr>
        <p:spPr>
          <a:xfrm>
            <a:off x="502920" y="1344168"/>
            <a:ext cx="3566160" cy="3913632"/>
          </a:xfrm>
          <a:prstGeom prst="roundRect">
            <a:avLst>
              <a:gd name="adj" fmla="val 1282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A8204D62-958E-7DF6-3781-57FAC9A74E8C}"/>
              </a:ext>
            </a:extLst>
          </p:cNvPr>
          <p:cNvSpPr/>
          <p:nvPr/>
        </p:nvSpPr>
        <p:spPr>
          <a:xfrm>
            <a:off x="758952" y="1486662"/>
            <a:ext cx="402336" cy="402336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</a:t>
            </a:r>
            <a:endParaRPr lang="ko-KR" altLang="en-US" sz="1600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B3F8B7A0-5056-3633-8D5F-230629385D33}"/>
              </a:ext>
            </a:extLst>
          </p:cNvPr>
          <p:cNvSpPr txBox="1"/>
          <p:nvPr/>
        </p:nvSpPr>
        <p:spPr>
          <a:xfrm>
            <a:off x="758952" y="203530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E2A2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Malgun Gothic" pitchFamily="34" charset="-120"/>
              </a:rPr>
              <a:t>Local LCI DB</a:t>
            </a:r>
            <a:endParaRPr lang="en-US" sz="18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4340FCB3-6F78-DD3C-1808-86EBE962E8A9}"/>
              </a:ext>
            </a:extLst>
          </p:cNvPr>
          <p:cNvSpPr txBox="1"/>
          <p:nvPr/>
        </p:nvSpPr>
        <p:spPr>
          <a:xfrm>
            <a:off x="758952" y="258394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ecoinvent 기반 · key = ref_id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FA0C5F7E-898D-CF5C-58D5-E411C2BEF3E1}"/>
              </a:ext>
            </a:extLst>
          </p:cNvPr>
          <p:cNvSpPr/>
          <p:nvPr/>
        </p:nvSpPr>
        <p:spPr>
          <a:xfrm>
            <a:off x="758952" y="3169158"/>
            <a:ext cx="1005840" cy="0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97E62F14-46B9-FE76-C641-694E3138A5A5}"/>
              </a:ext>
            </a:extLst>
          </p:cNvPr>
          <p:cNvSpPr txBox="1"/>
          <p:nvPr/>
        </p:nvSpPr>
        <p:spPr>
          <a:xfrm>
            <a:off x="758952" y="3315462"/>
            <a:ext cx="3108960" cy="1580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92075" indent="-92075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메타정보 보유하나 coverage 부족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92075" indent="-92075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정확 엔트리 부재 시 </a:t>
            </a:r>
            <a:r>
              <a:rPr lang="en-US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유사</a:t>
            </a:r>
            <a:r>
              <a:rPr 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 대체 필요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92075" indent="-92075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ref_id 단위로 최종 </a:t>
            </a:r>
            <a:r>
              <a:rPr lang="en-US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결과</a:t>
            </a:r>
            <a:r>
              <a:rPr 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 </a:t>
            </a:r>
            <a:r>
              <a:rPr lang="en-US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확정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35F83EF6-24E5-39D7-E648-2ED8E4045C87}"/>
              </a:ext>
            </a:extLst>
          </p:cNvPr>
          <p:cNvSpPr/>
          <p:nvPr/>
        </p:nvSpPr>
        <p:spPr>
          <a:xfrm>
            <a:off x="4306824" y="1344168"/>
            <a:ext cx="3566160" cy="3913632"/>
          </a:xfrm>
          <a:prstGeom prst="roundRect">
            <a:avLst>
              <a:gd name="adj" fmla="val 1282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92846671-34B8-3012-EE73-7AE118B8006D}"/>
              </a:ext>
            </a:extLst>
          </p:cNvPr>
          <p:cNvSpPr/>
          <p:nvPr/>
        </p:nvSpPr>
        <p:spPr>
          <a:xfrm>
            <a:off x="4562856" y="1486662"/>
            <a:ext cx="402336" cy="402336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</a:t>
            </a:r>
            <a:endParaRPr lang="ko-KR" altLang="en-US" sz="1600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A8189F5E-1416-6CB6-5BC7-B482B365464E}"/>
              </a:ext>
            </a:extLst>
          </p:cNvPr>
          <p:cNvSpPr txBox="1"/>
          <p:nvPr/>
        </p:nvSpPr>
        <p:spPr>
          <a:xfrm>
            <a:off x="4562856" y="203530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1E2A2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LLM Wiki (도메인 / </a:t>
            </a:r>
            <a:r>
              <a:rPr lang="en-US" sz="1550" dirty="0" err="1">
                <a:solidFill>
                  <a:srgbClr val="1E2A2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파트별</a:t>
            </a:r>
            <a:r>
              <a:rPr lang="en-US" sz="1550" dirty="0">
                <a:solidFill>
                  <a:srgbClr val="1E2A2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42032A04-26B8-FE7B-9069-B70D2954AF44}"/>
              </a:ext>
            </a:extLst>
          </p:cNvPr>
          <p:cNvSpPr txBox="1"/>
          <p:nvPr/>
        </p:nvSpPr>
        <p:spPr>
          <a:xfrm>
            <a:off x="4562856" y="258394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약어 · 유사어 · 관용어 · 상하위어 · 번역어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3E7487FB-1FF7-6A53-2E88-F67B17ADC0ED}"/>
              </a:ext>
            </a:extLst>
          </p:cNvPr>
          <p:cNvSpPr/>
          <p:nvPr/>
        </p:nvSpPr>
        <p:spPr>
          <a:xfrm>
            <a:off x="4562856" y="3169158"/>
            <a:ext cx="1005840" cy="0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03F61308-E8B3-B750-4BDB-DC9A3B4647AD}"/>
              </a:ext>
            </a:extLst>
          </p:cNvPr>
          <p:cNvSpPr txBox="1"/>
          <p:nvPr/>
        </p:nvSpPr>
        <p:spPr>
          <a:xfrm>
            <a:off x="4562856" y="3315462"/>
            <a:ext cx="3108960" cy="133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2563" indent="-182563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도메인 · 파트 단위로 사전 구성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82563" indent="-182563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LCI DB와 사전 매핑(브리지) 가능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82563" indent="-182563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필요 항목 추출 후 임베딩 사전 생성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82563" indent="-182563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GitHub 브랜치 · 커밋 </a:t>
            </a:r>
            <a:r>
              <a:rPr lang="en-US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기반</a:t>
            </a:r>
            <a:r>
              <a:rPr 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 </a:t>
            </a:r>
            <a:r>
              <a:rPr lang="en-US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관리</a:t>
            </a:r>
            <a:r>
              <a:rPr 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(UI</a:t>
            </a:r>
            <a:r>
              <a:rPr lang="ko-KR" altLang="en-US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제공</a:t>
            </a:r>
            <a:r>
              <a:rPr lang="en-US" altLang="ko-KR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)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8" name="Shape 16">
            <a:extLst>
              <a:ext uri="{FF2B5EF4-FFF2-40B4-BE49-F238E27FC236}">
                <a16:creationId xmlns:a16="http://schemas.microsoft.com/office/drawing/2014/main" id="{0D1D6B2B-D648-CBC8-F5D4-EC8973CAB0B2}"/>
              </a:ext>
            </a:extLst>
          </p:cNvPr>
          <p:cNvSpPr/>
          <p:nvPr/>
        </p:nvSpPr>
        <p:spPr>
          <a:xfrm>
            <a:off x="8110728" y="1344168"/>
            <a:ext cx="3566160" cy="3913632"/>
          </a:xfrm>
          <a:prstGeom prst="roundRect">
            <a:avLst>
              <a:gd name="adj" fmla="val 1282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433C7DAC-88A4-B8F2-F47E-9BA8BB3B76B3}"/>
              </a:ext>
            </a:extLst>
          </p:cNvPr>
          <p:cNvSpPr/>
          <p:nvPr/>
        </p:nvSpPr>
        <p:spPr>
          <a:xfrm>
            <a:off x="8366760" y="1486662"/>
            <a:ext cx="402336" cy="402336"/>
          </a:xfrm>
          <a:prstGeom prst="ellipse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  <a:prstDash val="solid"/>
          </a:ln>
        </p:spPr>
        <p:txBody>
          <a:bodyPr lIns="0" tIns="0" rIns="0" bIns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</a:t>
            </a:r>
            <a:endParaRPr lang="ko-KR" altLang="en-US" sz="1600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B13F5A10-5CFE-55D2-AA17-084F07F511D4}"/>
              </a:ext>
            </a:extLst>
          </p:cNvPr>
          <p:cNvSpPr txBox="1"/>
          <p:nvPr/>
        </p:nvSpPr>
        <p:spPr>
          <a:xfrm>
            <a:off x="8366760" y="203530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50" dirty="0">
                <a:solidFill>
                  <a:srgbClr val="1E2A2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BOM </a:t>
            </a:r>
            <a:r>
              <a:rPr lang="en-US" sz="1550" dirty="0" err="1">
                <a:solidFill>
                  <a:srgbClr val="1E2A2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입력</a:t>
            </a:r>
            <a:endParaRPr lang="en-US" sz="1550" dirty="0">
              <a:solidFill>
                <a:srgbClr val="1E2A26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04C00753-FCD0-F610-6ADF-2E7750B5D084}"/>
              </a:ext>
            </a:extLst>
          </p:cNvPr>
          <p:cNvSpPr txBox="1"/>
          <p:nvPr/>
        </p:nvSpPr>
        <p:spPr>
          <a:xfrm>
            <a:off x="8366760" y="2583942"/>
            <a:ext cx="3081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물질 · CAS · 공정 · 도메인 · </a:t>
            </a:r>
            <a:r>
              <a:rPr lang="en-US" dirty="0" err="1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파트</a:t>
            </a:r>
            <a:endParaRPr lang="en-US" dirty="0">
              <a:solidFill>
                <a:srgbClr val="6B7C76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48" name="Shape 21">
            <a:extLst>
              <a:ext uri="{FF2B5EF4-FFF2-40B4-BE49-F238E27FC236}">
                <a16:creationId xmlns:a16="http://schemas.microsoft.com/office/drawing/2014/main" id="{F4C2DF7A-65D1-91F2-0CD2-4F1818C174AF}"/>
              </a:ext>
            </a:extLst>
          </p:cNvPr>
          <p:cNvSpPr/>
          <p:nvPr/>
        </p:nvSpPr>
        <p:spPr>
          <a:xfrm>
            <a:off x="8366760" y="3169158"/>
            <a:ext cx="1005840" cy="0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A7C1E5E4-CD40-31C6-1374-9E183757EF4A}"/>
              </a:ext>
            </a:extLst>
          </p:cNvPr>
          <p:cNvSpPr txBox="1"/>
          <p:nvPr/>
        </p:nvSpPr>
        <p:spPr>
          <a:xfrm>
            <a:off x="8366760" y="3315462"/>
            <a:ext cx="3108960" cy="987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182563" indent="-182563">
              <a:lnSpc>
                <a:spcPts val="1600"/>
              </a:lnSpc>
              <a:spcAft>
                <a:spcPts val="500"/>
              </a:spcAft>
              <a:buSzPct val="100000"/>
              <a:buChar char="•"/>
              <a:defRPr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defRPr>
            </a:lvl1pPr>
          </a:lstStyle>
          <a:p>
            <a:r>
              <a:rPr lang="en-US" dirty="0"/>
              <a:t>우선순위 높은 </a:t>
            </a:r>
            <a:r>
              <a:rPr lang="en-US" dirty="0" err="1"/>
              <a:t>경로부터</a:t>
            </a:r>
            <a:r>
              <a:rPr lang="en-US" dirty="0"/>
              <a:t> </a:t>
            </a:r>
            <a:r>
              <a:rPr lang="en-US" dirty="0" err="1"/>
              <a:t>조회</a:t>
            </a:r>
            <a:endParaRPr lang="en-US" dirty="0"/>
          </a:p>
          <a:p>
            <a:r>
              <a:rPr lang="en-US" dirty="0"/>
              <a:t>미발견 시 용어 확장 후 </a:t>
            </a:r>
            <a:r>
              <a:rPr lang="en-US" dirty="0" err="1"/>
              <a:t>재조회</a:t>
            </a:r>
            <a:endParaRPr lang="en-US" dirty="0"/>
          </a:p>
          <a:p>
            <a:r>
              <a:rPr lang="en-US" dirty="0" err="1"/>
              <a:t>도메인은</a:t>
            </a:r>
            <a:r>
              <a:rPr lang="en-US" dirty="0"/>
              <a:t> 파트 </a:t>
            </a:r>
            <a:r>
              <a:rPr lang="en-US" dirty="0" err="1"/>
              <a:t>프로파일에서</a:t>
            </a:r>
            <a:r>
              <a:rPr lang="en-US" dirty="0"/>
              <a:t> </a:t>
            </a:r>
            <a:r>
              <a:rPr lang="en-US" dirty="0" err="1"/>
              <a:t>파생</a:t>
            </a:r>
            <a:endParaRPr lang="en-US" dirty="0"/>
          </a:p>
        </p:txBody>
      </p:sp>
      <p:sp>
        <p:nvSpPr>
          <p:cNvPr id="52" name="Shape 23">
            <a:extLst>
              <a:ext uri="{FF2B5EF4-FFF2-40B4-BE49-F238E27FC236}">
                <a16:creationId xmlns:a16="http://schemas.microsoft.com/office/drawing/2014/main" id="{3BA37197-08E7-1899-6198-2F1C40E41CEA}"/>
              </a:ext>
            </a:extLst>
          </p:cNvPr>
          <p:cNvSpPr/>
          <p:nvPr/>
        </p:nvSpPr>
        <p:spPr>
          <a:xfrm>
            <a:off x="502920" y="5586687"/>
            <a:ext cx="11201400" cy="667809"/>
          </a:xfrm>
          <a:prstGeom prst="roundRect">
            <a:avLst>
              <a:gd name="adj" fmla="val 8065"/>
            </a:avLst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도메인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정보는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고객사가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제공하지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않음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—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파트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프로파일에서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파생하거나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공정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정보로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 err="1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유추</a:t>
            </a:r>
            <a:endParaRPr lang="en-US" altLang="ko-KR" sz="1300" dirty="0">
              <a:solidFill>
                <a:srgbClr val="1E2A26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/>
            <a:r>
              <a:rPr lang="ko-KR" altLang="en-US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필터조건이 아닌 전부 보면서 순서를 매기는 방식을 취할 예정</a:t>
            </a:r>
            <a:endParaRPr lang="en-US" altLang="ko-KR" sz="1300" dirty="0">
              <a:solidFill>
                <a:srgbClr val="1E2A26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/>
            <a:r>
              <a:rPr lang="ko-KR" altLang="en-US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현재 </a:t>
            </a:r>
            <a:r>
              <a:rPr lang="en-US" altLang="ko-KR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LLM Wiki</a:t>
            </a:r>
            <a:r>
              <a:rPr lang="ko-KR" altLang="en-US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를</a:t>
            </a:r>
            <a:r>
              <a:rPr lang="en-US" altLang="ko-KR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통해서 물질명을 찾아내는데</a:t>
            </a:r>
            <a:r>
              <a:rPr lang="en-US" altLang="ko-KR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Wiki</a:t>
            </a:r>
            <a:r>
              <a:rPr lang="ko-KR" altLang="en-US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없이도 </a:t>
            </a:r>
            <a:r>
              <a:rPr lang="en-US" altLang="ko-KR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LLM</a:t>
            </a:r>
            <a:r>
              <a:rPr lang="ko-KR" altLang="en-US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이 </a:t>
            </a:r>
            <a:r>
              <a:rPr lang="en-US" altLang="ko-KR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skill</a:t>
            </a:r>
            <a:r>
              <a:rPr lang="ko-KR" altLang="en-US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에 의하여 찾아낼 수도 있는 것으로 보임</a:t>
            </a:r>
            <a:r>
              <a:rPr lang="en-US" altLang="ko-KR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ko-KR" altLang="en-US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오히려 </a:t>
            </a:r>
            <a:r>
              <a:rPr lang="ko-KR" altLang="en-US" sz="1300" dirty="0" err="1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오탈자</a:t>
            </a:r>
            <a:r>
              <a:rPr lang="ko-KR" altLang="en-US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등도 알아서 인지하고 찾아냄</a:t>
            </a:r>
            <a:r>
              <a:rPr lang="en-US" altLang="ko-KR" sz="1300" dirty="0">
                <a:solidFill>
                  <a:srgbClr val="C0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  <a:endParaRPr lang="ko-KR" altLang="en-US" sz="1300" dirty="0">
              <a:solidFill>
                <a:srgbClr val="C00000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6" name="Shape 25">
            <a:extLst>
              <a:ext uri="{FF2B5EF4-FFF2-40B4-BE49-F238E27FC236}">
                <a16:creationId xmlns:a16="http://schemas.microsoft.com/office/drawing/2014/main" id="{14BFE209-E108-DCE0-7E30-B2B370F808CD}"/>
              </a:ext>
            </a:extLst>
          </p:cNvPr>
          <p:cNvSpPr/>
          <p:nvPr/>
        </p:nvSpPr>
        <p:spPr>
          <a:xfrm>
            <a:off x="11356848" y="6428232"/>
            <a:ext cx="91440" cy="91440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  <p:txBody>
          <a:bodyPr/>
          <a:lstStyle/>
          <a:p>
            <a:endParaRPr lang="ko-KR" altLang="en-US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F861A33-A487-5B4D-A2F1-1E32B46CF96B}"/>
              </a:ext>
            </a:extLst>
          </p:cNvPr>
          <p:cNvSpPr txBox="1"/>
          <p:nvPr/>
        </p:nvSpPr>
        <p:spPr>
          <a:xfrm>
            <a:off x="9245591" y="4795542"/>
            <a:ext cx="15536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투입물질명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비표준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E7E5740-3CA7-345C-EA12-F365B0708441}"/>
              </a:ext>
            </a:extLst>
          </p:cNvPr>
          <p:cNvSpPr txBox="1"/>
          <p:nvPr/>
        </p:nvSpPr>
        <p:spPr>
          <a:xfrm>
            <a:off x="5576162" y="4827305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물질명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표준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013B131-8F96-D546-D527-A4C6724D47A3}"/>
              </a:ext>
            </a:extLst>
          </p:cNvPr>
          <p:cNvSpPr txBox="1"/>
          <p:nvPr/>
        </p:nvSpPr>
        <p:spPr>
          <a:xfrm>
            <a:off x="1359642" y="4849143"/>
            <a:ext cx="1649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LCI DB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명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섞여있음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65" name="Text 6">
            <a:extLst>
              <a:ext uri="{FF2B5EF4-FFF2-40B4-BE49-F238E27FC236}">
                <a16:creationId xmlns:a16="http://schemas.microsoft.com/office/drawing/2014/main" id="{0D3372FB-9628-8EC5-E30B-1E927CFB6EFB}"/>
              </a:ext>
            </a:extLst>
          </p:cNvPr>
          <p:cNvSpPr txBox="1"/>
          <p:nvPr/>
        </p:nvSpPr>
        <p:spPr>
          <a:xfrm>
            <a:off x="557784" y="4493512"/>
            <a:ext cx="1005840" cy="254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output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6" name="Text 6">
            <a:extLst>
              <a:ext uri="{FF2B5EF4-FFF2-40B4-BE49-F238E27FC236}">
                <a16:creationId xmlns:a16="http://schemas.microsoft.com/office/drawing/2014/main" id="{4952C99C-6F7D-59C4-D0DF-CB34C0C188A6}"/>
              </a:ext>
            </a:extLst>
          </p:cNvPr>
          <p:cNvSpPr txBox="1"/>
          <p:nvPr/>
        </p:nvSpPr>
        <p:spPr>
          <a:xfrm>
            <a:off x="4387633" y="4543562"/>
            <a:ext cx="1005840" cy="254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output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68" name="Text 6">
            <a:extLst>
              <a:ext uri="{FF2B5EF4-FFF2-40B4-BE49-F238E27FC236}">
                <a16:creationId xmlns:a16="http://schemas.microsoft.com/office/drawing/2014/main" id="{827158C5-FD74-43DC-861A-F4E9A478A09D}"/>
              </a:ext>
            </a:extLst>
          </p:cNvPr>
          <p:cNvSpPr txBox="1"/>
          <p:nvPr/>
        </p:nvSpPr>
        <p:spPr>
          <a:xfrm>
            <a:off x="8239751" y="4493512"/>
            <a:ext cx="1005840" cy="254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6B7C7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Malgun Gothic" pitchFamily="34" charset="-120"/>
              </a:rPr>
              <a:t>output</a:t>
            </a:r>
            <a:endParaRPr lang="en-US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582BD8EB-ADFB-C56E-3431-4AD02105C5E6}"/>
              </a:ext>
            </a:extLst>
          </p:cNvPr>
          <p:cNvCxnSpPr>
            <a:cxnSpLocks/>
          </p:cNvCxnSpPr>
          <p:nvPr/>
        </p:nvCxnSpPr>
        <p:spPr>
          <a:xfrm flipH="1">
            <a:off x="6762750" y="4949430"/>
            <a:ext cx="2400300" cy="3214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ABF5BBCF-3610-FE17-60DE-C6B5C60C3DD6}"/>
              </a:ext>
            </a:extLst>
          </p:cNvPr>
          <p:cNvCxnSpPr>
            <a:cxnSpLocks/>
          </p:cNvCxnSpPr>
          <p:nvPr/>
        </p:nvCxnSpPr>
        <p:spPr>
          <a:xfrm flipH="1">
            <a:off x="3009453" y="5010006"/>
            <a:ext cx="2400300" cy="3214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9569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EFFDC-1704-F5DF-2985-EE4FCD638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5706786-26AB-2940-A5BB-97CADE2E4703}"/>
              </a:ext>
            </a:extLst>
          </p:cNvPr>
          <p:cNvSpPr txBox="1"/>
          <p:nvPr/>
        </p:nvSpPr>
        <p:spPr>
          <a:xfrm>
            <a:off x="438615" y="163552"/>
            <a:ext cx="183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1.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전제요건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(2/2)</a:t>
            </a:r>
            <a:endParaRPr lang="ko-KR" altLang="en-US" sz="1800" dirty="0">
              <a:solidFill>
                <a:srgbClr val="1A1A1A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Inter Extra Bold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D149BC-725B-D0C1-BB59-9D1FEC8169DA}"/>
              </a:ext>
            </a:extLst>
          </p:cNvPr>
          <p:cNvSpPr txBox="1"/>
          <p:nvPr/>
        </p:nvSpPr>
        <p:spPr>
          <a:xfrm>
            <a:off x="9364980" y="0"/>
            <a:ext cx="249953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DB </a:t>
            </a: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매칭방안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Ⅱ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AB843D3-ED03-5549-B60E-1F68205317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808"/>
          <a:stretch>
            <a:fillRect/>
          </a:stretch>
        </p:blipFill>
        <p:spPr>
          <a:xfrm>
            <a:off x="3926925" y="1416000"/>
            <a:ext cx="7026825" cy="18766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0F2DF3-E054-741E-567E-E49C3428C5F7}"/>
              </a:ext>
            </a:extLst>
          </p:cNvPr>
          <p:cNvSpPr txBox="1"/>
          <p:nvPr/>
        </p:nvSpPr>
        <p:spPr>
          <a:xfrm>
            <a:off x="958850" y="1416000"/>
            <a:ext cx="24128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ref_id</a:t>
            </a:r>
            <a:r>
              <a:rPr lang="en-US" altLang="ko-KR" sz="16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: </a:t>
            </a:r>
            <a:r>
              <a:rPr lang="en-US" altLang="ko-KR" sz="1600" dirty="0" err="1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lci_db</a:t>
            </a:r>
            <a:r>
              <a:rPr lang="ko-KR" altLang="en-US" sz="16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명 </a:t>
            </a:r>
            <a:r>
              <a:rPr lang="en-US" altLang="ko-KR" sz="16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= 1:1</a:t>
            </a:r>
          </a:p>
          <a:p>
            <a:r>
              <a:rPr lang="en-US" altLang="ko-KR" sz="1600" dirty="0" err="1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ref_id</a:t>
            </a:r>
            <a:r>
              <a:rPr lang="en-US" altLang="ko-KR" sz="16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sz="16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지역</a:t>
            </a:r>
            <a:r>
              <a:rPr lang="en-US" altLang="ko-KR" sz="16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</a:t>
            </a:r>
            <a:r>
              <a:rPr lang="ko-KR" altLang="en-US" sz="16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년도 등 </a:t>
            </a:r>
            <a:r>
              <a:rPr lang="en-US" altLang="ko-KR" sz="16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= 1:n</a:t>
            </a:r>
          </a:p>
        </p:txBody>
      </p:sp>
    </p:spTree>
    <p:extLst>
      <p:ext uri="{BB962C8B-B14F-4D97-AF65-F5344CB8AC3E}">
        <p14:creationId xmlns:p14="http://schemas.microsoft.com/office/powerpoint/2010/main" val="702206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74161-A9D8-61CC-8FB7-763B59473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AD33506-8D3B-3A13-6D43-27647FC07B6A}"/>
              </a:ext>
            </a:extLst>
          </p:cNvPr>
          <p:cNvSpPr txBox="1"/>
          <p:nvPr/>
        </p:nvSpPr>
        <p:spPr>
          <a:xfrm>
            <a:off x="438615" y="163552"/>
            <a:ext cx="2977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2. </a:t>
            </a:r>
            <a:r>
              <a:rPr lang="ko-KR" altLang="en-US" sz="1800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매칭 우선순위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(1/2)</a:t>
            </a:r>
            <a:endParaRPr lang="ko-KR" altLang="en-US" sz="1800" dirty="0">
              <a:solidFill>
                <a:srgbClr val="1A1A1A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Inter Extra Bold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A8C870-1D8A-4B03-E927-7E20A2BFC2C4}"/>
              </a:ext>
            </a:extLst>
          </p:cNvPr>
          <p:cNvSpPr txBox="1"/>
          <p:nvPr/>
        </p:nvSpPr>
        <p:spPr>
          <a:xfrm>
            <a:off x="9364980" y="0"/>
            <a:ext cx="249953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DB </a:t>
            </a: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매칭방안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Ⅱ</a:t>
            </a:r>
          </a:p>
        </p:txBody>
      </p:sp>
      <p:sp>
        <p:nvSpPr>
          <p:cNvPr id="170" name="Shape 23">
            <a:extLst>
              <a:ext uri="{FF2B5EF4-FFF2-40B4-BE49-F238E27FC236}">
                <a16:creationId xmlns:a16="http://schemas.microsoft.com/office/drawing/2014/main" id="{74B49D3B-8021-9FFC-4F8C-F302F282E56E}"/>
              </a:ext>
            </a:extLst>
          </p:cNvPr>
          <p:cNvSpPr/>
          <p:nvPr/>
        </p:nvSpPr>
        <p:spPr>
          <a:xfrm>
            <a:off x="451484" y="857250"/>
            <a:ext cx="11254741" cy="542925"/>
          </a:xfrm>
          <a:prstGeom prst="roundRect">
            <a:avLst>
              <a:gd name="adj" fmla="val 19100"/>
            </a:avLst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우선 순위가 높은 순으로 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top k</a:t>
            </a:r>
            <a:r>
              <a:rPr lang="ko-KR" altLang="en-US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가 식별되면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후순위는 진행하지 않음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</a:p>
          <a:p>
            <a:pPr algn="ctr"/>
            <a:r>
              <a:rPr lang="ko-KR" altLang="en-US" sz="13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사전에 </a:t>
            </a:r>
            <a:r>
              <a:rPr lang="en-US" altLang="ko-KR" sz="13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(1)LLM Wiki (2)</a:t>
            </a:r>
            <a:r>
              <a:rPr lang="ko-KR" altLang="en-US" sz="13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300" dirty="0" err="1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물질명</a:t>
            </a:r>
            <a:r>
              <a:rPr lang="en-US" altLang="ko-KR" sz="13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-&gt;LCI DB</a:t>
            </a:r>
            <a:r>
              <a:rPr lang="ko-KR" altLang="en-US" sz="13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명 매핑</a:t>
            </a:r>
            <a:r>
              <a:rPr lang="en-US" altLang="ko-KR" sz="13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(Bridge), (3) </a:t>
            </a:r>
            <a:r>
              <a:rPr lang="ko-KR" altLang="en-US" sz="1300" dirty="0" err="1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임베딩</a:t>
            </a:r>
            <a:r>
              <a:rPr lang="ko-KR" altLang="en-US" sz="1300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작업 필요</a:t>
            </a:r>
          </a:p>
        </p:txBody>
      </p:sp>
      <p:graphicFrame>
        <p:nvGraphicFramePr>
          <p:cNvPr id="171" name="표 170">
            <a:extLst>
              <a:ext uri="{FF2B5EF4-FFF2-40B4-BE49-F238E27FC236}">
                <a16:creationId xmlns:a16="http://schemas.microsoft.com/office/drawing/2014/main" id="{0A76735D-9EE0-B337-15D9-A550D8174B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511506"/>
              </p:ext>
            </p:extLst>
          </p:nvPr>
        </p:nvGraphicFramePr>
        <p:xfrm>
          <a:off x="451485" y="1641872"/>
          <a:ext cx="11254739" cy="4508180"/>
        </p:xfrm>
        <a:graphic>
          <a:graphicData uri="http://schemas.openxmlformats.org/drawingml/2006/table">
            <a:tbl>
              <a:tblPr>
                <a:tableStyleId>{C1FDD0C3-F311-486D-AA3B-C831FA89247B}</a:tableStyleId>
              </a:tblPr>
              <a:tblGrid>
                <a:gridCol w="353551">
                  <a:extLst>
                    <a:ext uri="{9D8B030D-6E8A-4147-A177-3AD203B41FA5}">
                      <a16:colId xmlns:a16="http://schemas.microsoft.com/office/drawing/2014/main" val="1980148355"/>
                    </a:ext>
                  </a:extLst>
                </a:gridCol>
                <a:gridCol w="1178506">
                  <a:extLst>
                    <a:ext uri="{9D8B030D-6E8A-4147-A177-3AD203B41FA5}">
                      <a16:colId xmlns:a16="http://schemas.microsoft.com/office/drawing/2014/main" val="2097613689"/>
                    </a:ext>
                  </a:extLst>
                </a:gridCol>
                <a:gridCol w="942806">
                  <a:extLst>
                    <a:ext uri="{9D8B030D-6E8A-4147-A177-3AD203B41FA5}">
                      <a16:colId xmlns:a16="http://schemas.microsoft.com/office/drawing/2014/main" val="4014856189"/>
                    </a:ext>
                  </a:extLst>
                </a:gridCol>
                <a:gridCol w="2357014">
                  <a:extLst>
                    <a:ext uri="{9D8B030D-6E8A-4147-A177-3AD203B41FA5}">
                      <a16:colId xmlns:a16="http://schemas.microsoft.com/office/drawing/2014/main" val="3917862594"/>
                    </a:ext>
                  </a:extLst>
                </a:gridCol>
                <a:gridCol w="1060655">
                  <a:extLst>
                    <a:ext uri="{9D8B030D-6E8A-4147-A177-3AD203B41FA5}">
                      <a16:colId xmlns:a16="http://schemas.microsoft.com/office/drawing/2014/main" val="1777661029"/>
                    </a:ext>
                  </a:extLst>
                </a:gridCol>
                <a:gridCol w="530328">
                  <a:extLst>
                    <a:ext uri="{9D8B030D-6E8A-4147-A177-3AD203B41FA5}">
                      <a16:colId xmlns:a16="http://schemas.microsoft.com/office/drawing/2014/main" val="2057394217"/>
                    </a:ext>
                  </a:extLst>
                </a:gridCol>
                <a:gridCol w="530328">
                  <a:extLst>
                    <a:ext uri="{9D8B030D-6E8A-4147-A177-3AD203B41FA5}">
                      <a16:colId xmlns:a16="http://schemas.microsoft.com/office/drawing/2014/main" val="3629391646"/>
                    </a:ext>
                  </a:extLst>
                </a:gridCol>
                <a:gridCol w="766030">
                  <a:extLst>
                    <a:ext uri="{9D8B030D-6E8A-4147-A177-3AD203B41FA5}">
                      <a16:colId xmlns:a16="http://schemas.microsoft.com/office/drawing/2014/main" val="1227364360"/>
                    </a:ext>
                  </a:extLst>
                </a:gridCol>
                <a:gridCol w="3535521">
                  <a:extLst>
                    <a:ext uri="{9D8B030D-6E8A-4147-A177-3AD203B41FA5}">
                      <a16:colId xmlns:a16="http://schemas.microsoft.com/office/drawing/2014/main" val="2931331032"/>
                    </a:ext>
                  </a:extLst>
                </a:gridCol>
              </a:tblGrid>
              <a:tr h="2714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순위</a:t>
                      </a:r>
                      <a:endParaRPr 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제목</a:t>
                      </a:r>
                      <a:endParaRPr 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비교 대상</a:t>
                      </a:r>
                      <a:endParaRPr lang="ko-KR" sz="1200" b="1" i="0" u="none" strike="noStrike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내용</a:t>
                      </a:r>
                      <a:endParaRPr 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산출물</a:t>
                      </a:r>
                      <a:endParaRPr lang="ko-KR" sz="1200" b="1" i="0" u="none" strike="noStrike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브리지</a:t>
                      </a:r>
                      <a:endParaRPr lang="ko-KR" sz="1200" b="1" i="0" u="none" strike="noStrike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 err="1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임베딩</a:t>
                      </a:r>
                      <a:endParaRPr 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신뢰 등급</a:t>
                      </a:r>
                      <a:endParaRPr lang="ko-KR" sz="1200" b="1" i="0" u="none" strike="noStrike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기타 검토사항</a:t>
                      </a:r>
                      <a:endParaRPr 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132701"/>
                  </a:ext>
                </a:extLst>
              </a:tr>
              <a:tr h="6608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1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확정 매핑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축적 이력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정규화 표기 완전일치 → 저장된 결과 반환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LCI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DB명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</a:t>
                      </a:r>
                      <a:endParaRPr lang="ko-KR" sz="1200" b="0" i="0" u="none" strike="noStrike" dirty="0">
                        <a:solidFill>
                          <a:srgbClr val="FF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확정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첫 회차에는 비어 있고 운영하며 누적된다. 2회차부터 대부분 여기서 종료.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ecoinvent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버전이 바뀌면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재검증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대상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1084649"/>
                  </a:ext>
                </a:extLst>
              </a:tr>
              <a:tr h="4661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2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확정 매핑 (별칭 경유)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축적 이력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별칭·약어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전개 →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concept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확정 → 이력 조회. 결정론적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LCI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DB명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</a:t>
                      </a:r>
                      <a:endParaRPr lang="ko-KR" sz="1200" b="0" i="0" u="none" strike="noStrike">
                        <a:solidFill>
                          <a:srgbClr val="FF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확정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표기 편차(EDPM/EPDM, ALDC 12.1/ALDC12.1)를 여기서 흡수. 5순위와 전개 로직 동일, 조회 대상만 다름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762326"/>
                  </a:ext>
                </a:extLst>
              </a:tr>
              <a:tr h="6608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3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CAS 완전일치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사전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identity_type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=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pure일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때만 게이트.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합금·컴파운드는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경고 후 4순위 병행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concept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필요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</a:t>
                      </a:r>
                      <a:endParaRPr lang="ko-KR" sz="1200" b="0" i="0" u="none" strike="noStrike">
                        <a:solidFill>
                          <a:srgbClr val="FF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높음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CAS→concept가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1:n이라 단독 확정 불가.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체크디지트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검증 필수.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합금·컴파운드는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기재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CAS만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붙는 경우가 있어 CAS_COMPOSITE 경고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3370982"/>
                  </a:ext>
                </a:extLst>
              </a:tr>
              <a:tr h="4661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4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정규화 표기 완전일치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사전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표준용어 변환 후 </a:t>
                      </a:r>
                      <a:r>
                        <a:rPr lang="ko-KR" sz="1200" u="none" strike="noStrike" dirty="0" err="1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pref_label</a:t>
                      </a: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일치. 결과 항상 1건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concept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필요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</a:t>
                      </a:r>
                      <a:endParaRPr lang="ko-KR" sz="1200" b="0" i="0" u="none" strike="noStrike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높음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대표어는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concept당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유일. 정규화 규칙이 색인 시점과 질의 시점에 동일해야 함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1091462"/>
                  </a:ext>
                </a:extLst>
              </a:tr>
              <a:tr h="6608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5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사전 별칭 조회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사전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약어 · 관용어 · </a:t>
                      </a:r>
                      <a:r>
                        <a:rPr lang="ko-KR" sz="1200" u="none" strike="noStrike" dirty="0" err="1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이표기</a:t>
                      </a: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· 번역어 · 규격코드 · 사내코드 → </a:t>
                      </a:r>
                      <a:r>
                        <a:rPr lang="ko-KR" sz="1200" u="none" strike="noStrike" dirty="0" err="1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concept</a:t>
                      </a: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200" u="none" strike="noStrike" dirty="0" err="1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역조회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concept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필요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</a:t>
                      </a:r>
                      <a:endParaRPr lang="ko-KR" sz="1200" b="0" i="0" u="none" strike="noStrike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highlight>
                            <a:srgbClr val="FFFF00"/>
                          </a:highlight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높음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임베딩 아님 — 등록된 라벨의 완전일치. 결과 n건 가능(중의어) → 스코프 적용 후 judge. 사내코드(M1252 등)는 고객사 문의로만 채워짐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77386"/>
                  </a:ext>
                </a:extLst>
              </a:tr>
              <a:tr h="6608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6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이력 유사도 매칭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축적 이력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사람이 검증한 좁은 집합 대상 벡터 +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리랭커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LCI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DB명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필요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유추 · 확인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규격코드는 유사도 대상에서 제외(ADC12↔A380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오매칭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). 자동 확정 금지.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resolution_status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=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inherited_similar로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분리 기록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0901351"/>
                  </a:ext>
                </a:extLst>
              </a:tr>
              <a:tr h="6608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7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런타임 용어 확장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사전 · LCI 인덱스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오타 교정 ·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컴파운드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분해 · 영문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정식명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확장 후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재조회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concept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또는 LCI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물질명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조건부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필요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중간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사전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재조회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경로는 브리지 필요, LCI 인덱스 직접 조회 경로는 불필요.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시그니처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단위 호출. 확정 3회 이상이면 5순위 사전으로 승격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3235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2319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80E80-9F1D-520A-4721-931739469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D9D29DD-6E36-83E4-8105-1A0D4778023B}"/>
              </a:ext>
            </a:extLst>
          </p:cNvPr>
          <p:cNvSpPr txBox="1"/>
          <p:nvPr/>
        </p:nvSpPr>
        <p:spPr>
          <a:xfrm>
            <a:off x="438615" y="163552"/>
            <a:ext cx="2977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2. </a:t>
            </a:r>
            <a:r>
              <a:rPr lang="ko-KR" altLang="en-US" sz="1800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매칭 우선순위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(2/2)</a:t>
            </a:r>
            <a:endParaRPr lang="ko-KR" altLang="en-US" sz="1800" dirty="0">
              <a:solidFill>
                <a:srgbClr val="1A1A1A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Inter Extra Bold" panose="020005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CC6FC1-39DB-E04E-68F4-C9D132144D60}"/>
              </a:ext>
            </a:extLst>
          </p:cNvPr>
          <p:cNvSpPr txBox="1"/>
          <p:nvPr/>
        </p:nvSpPr>
        <p:spPr>
          <a:xfrm>
            <a:off x="9364980" y="0"/>
            <a:ext cx="249953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DB </a:t>
            </a: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매칭방안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Ⅱ</a:t>
            </a:r>
          </a:p>
        </p:txBody>
      </p:sp>
      <p:graphicFrame>
        <p:nvGraphicFramePr>
          <p:cNvPr id="171" name="표 170">
            <a:extLst>
              <a:ext uri="{FF2B5EF4-FFF2-40B4-BE49-F238E27FC236}">
                <a16:creationId xmlns:a16="http://schemas.microsoft.com/office/drawing/2014/main" id="{769C5770-0D9B-88B7-2844-09FF92B0DD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327105"/>
              </p:ext>
            </p:extLst>
          </p:nvPr>
        </p:nvGraphicFramePr>
        <p:xfrm>
          <a:off x="467042" y="908447"/>
          <a:ext cx="11254739" cy="1620129"/>
        </p:xfrm>
        <a:graphic>
          <a:graphicData uri="http://schemas.openxmlformats.org/drawingml/2006/table">
            <a:tbl>
              <a:tblPr>
                <a:tableStyleId>{C1FDD0C3-F311-486D-AA3B-C831FA89247B}</a:tableStyleId>
              </a:tblPr>
              <a:tblGrid>
                <a:gridCol w="353551">
                  <a:extLst>
                    <a:ext uri="{9D8B030D-6E8A-4147-A177-3AD203B41FA5}">
                      <a16:colId xmlns:a16="http://schemas.microsoft.com/office/drawing/2014/main" val="1980148355"/>
                    </a:ext>
                  </a:extLst>
                </a:gridCol>
                <a:gridCol w="1178506">
                  <a:extLst>
                    <a:ext uri="{9D8B030D-6E8A-4147-A177-3AD203B41FA5}">
                      <a16:colId xmlns:a16="http://schemas.microsoft.com/office/drawing/2014/main" val="2097613689"/>
                    </a:ext>
                  </a:extLst>
                </a:gridCol>
                <a:gridCol w="942806">
                  <a:extLst>
                    <a:ext uri="{9D8B030D-6E8A-4147-A177-3AD203B41FA5}">
                      <a16:colId xmlns:a16="http://schemas.microsoft.com/office/drawing/2014/main" val="4014856189"/>
                    </a:ext>
                  </a:extLst>
                </a:gridCol>
                <a:gridCol w="2357014">
                  <a:extLst>
                    <a:ext uri="{9D8B030D-6E8A-4147-A177-3AD203B41FA5}">
                      <a16:colId xmlns:a16="http://schemas.microsoft.com/office/drawing/2014/main" val="3917862594"/>
                    </a:ext>
                  </a:extLst>
                </a:gridCol>
                <a:gridCol w="1060655">
                  <a:extLst>
                    <a:ext uri="{9D8B030D-6E8A-4147-A177-3AD203B41FA5}">
                      <a16:colId xmlns:a16="http://schemas.microsoft.com/office/drawing/2014/main" val="1777661029"/>
                    </a:ext>
                  </a:extLst>
                </a:gridCol>
                <a:gridCol w="530328">
                  <a:extLst>
                    <a:ext uri="{9D8B030D-6E8A-4147-A177-3AD203B41FA5}">
                      <a16:colId xmlns:a16="http://schemas.microsoft.com/office/drawing/2014/main" val="2057394217"/>
                    </a:ext>
                  </a:extLst>
                </a:gridCol>
                <a:gridCol w="530328">
                  <a:extLst>
                    <a:ext uri="{9D8B030D-6E8A-4147-A177-3AD203B41FA5}">
                      <a16:colId xmlns:a16="http://schemas.microsoft.com/office/drawing/2014/main" val="3629391646"/>
                    </a:ext>
                  </a:extLst>
                </a:gridCol>
                <a:gridCol w="766030">
                  <a:extLst>
                    <a:ext uri="{9D8B030D-6E8A-4147-A177-3AD203B41FA5}">
                      <a16:colId xmlns:a16="http://schemas.microsoft.com/office/drawing/2014/main" val="1227364360"/>
                    </a:ext>
                  </a:extLst>
                </a:gridCol>
                <a:gridCol w="3535521">
                  <a:extLst>
                    <a:ext uri="{9D8B030D-6E8A-4147-A177-3AD203B41FA5}">
                      <a16:colId xmlns:a16="http://schemas.microsoft.com/office/drawing/2014/main" val="2931331032"/>
                    </a:ext>
                  </a:extLst>
                </a:gridCol>
              </a:tblGrid>
              <a:tr h="3144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순위</a:t>
                      </a:r>
                      <a:endParaRPr 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제목</a:t>
                      </a:r>
                      <a:endParaRPr 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비교 대상</a:t>
                      </a:r>
                      <a:endParaRPr lang="ko-KR" sz="1200" b="1" i="0" u="none" strike="noStrike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내용</a:t>
                      </a:r>
                      <a:endParaRPr 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산출물</a:t>
                      </a:r>
                      <a:endParaRPr lang="ko-KR" sz="1200" b="1" i="0" u="none" strike="noStrike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브리지</a:t>
                      </a:r>
                      <a:endParaRPr 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 err="1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임베딩</a:t>
                      </a:r>
                      <a:endParaRPr 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신뢰 등급</a:t>
                      </a:r>
                      <a:endParaRPr lang="ko-KR" sz="1200" b="1" i="0" u="none" strike="noStrike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기타 검토사항</a:t>
                      </a:r>
                      <a:endParaRPr 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132701"/>
                  </a:ext>
                </a:extLst>
              </a:tr>
              <a:tr h="7656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8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상위어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폴백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LCI DB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Wiki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broader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재귀 → 상위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재질군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영문명으로 LCI 직접 조회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LCI 물질명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solidFill>
                            <a:srgbClr val="FF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</a:t>
                      </a:r>
                      <a:endParaRPr lang="ko-KR" sz="1200" b="0" i="0" u="none" strike="noStrike" dirty="0">
                        <a:solidFill>
                          <a:srgbClr val="FF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낮음 · 프록시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이 데이터셋에서는 예외가 아니라 기본 경로(EPDM →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synthetic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rubber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).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상위어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체인의 각 단계에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chem_name_en이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없으면 여기서 끊김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7675336"/>
                  </a:ext>
                </a:extLst>
              </a:tr>
              <a:tr h="5400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9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전수 유사도 + 분포 판정</a:t>
                      </a:r>
                      <a:endParaRPr 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LCI DB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벡터 +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trigram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.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spread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평탄 시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not_found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LCI </a:t>
                      </a: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물질명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불필요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필요</a:t>
                      </a:r>
                      <a:endParaRPr lang="ko-KR" sz="1200" b="0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200" u="none" strike="noStrike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근거 없음</a:t>
                      </a:r>
                      <a:endParaRPr lang="ko-KR" sz="1200" b="1" i="0" u="none" strike="noStrik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u="none" strike="noStrike" dirty="0" err="1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spread</a:t>
                      </a:r>
                      <a:r>
                        <a:rPr lang="ko-KR" sz="1200" u="none" strike="noStrike" dirty="0"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</a:rPr>
                        <a:t> &lt; 0.08이면 순위 목록 대신 카테고리 브라우저 제시. 자동 확정 금지. 실패 시 프록시 결정 요청 큐로</a:t>
                      </a:r>
                      <a:endParaRPr 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2298396"/>
                  </a:ext>
                </a:extLst>
              </a:tr>
            </a:tbl>
          </a:graphicData>
        </a:graphic>
      </p:graphicFrame>
      <p:sp>
        <p:nvSpPr>
          <p:cNvPr id="172" name="TextBox 171">
            <a:extLst>
              <a:ext uri="{FF2B5EF4-FFF2-40B4-BE49-F238E27FC236}">
                <a16:creationId xmlns:a16="http://schemas.microsoft.com/office/drawing/2014/main" id="{D5A269BF-E0D9-AA14-A48F-3E8ACDC53462}"/>
              </a:ext>
            </a:extLst>
          </p:cNvPr>
          <p:cNvSpPr txBox="1"/>
          <p:nvPr/>
        </p:nvSpPr>
        <p:spPr>
          <a:xfrm>
            <a:off x="438615" y="2528576"/>
            <a:ext cx="40366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※</a:t>
            </a:r>
            <a:r>
              <a:rPr lang="ko-KR" altLang="en-US" sz="1200" dirty="0">
                <a:solidFill>
                  <a:srgbClr val="FF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200" dirty="0" err="1">
                <a:solidFill>
                  <a:srgbClr val="FF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임베딩</a:t>
            </a:r>
            <a:r>
              <a:rPr lang="ko-KR" altLang="en-US" sz="1200" dirty="0">
                <a:solidFill>
                  <a:srgbClr val="FF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불필요인 경우 검토 필요</a:t>
            </a:r>
            <a:r>
              <a:rPr lang="en-US" altLang="ko-KR" sz="1200" dirty="0">
                <a:solidFill>
                  <a:srgbClr val="FF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LLM</a:t>
            </a:r>
            <a:r>
              <a:rPr lang="ko-KR" altLang="en-US" sz="1200" dirty="0">
                <a:solidFill>
                  <a:srgbClr val="FF0000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도 활용시점 식별 필요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BA83BB51-B81F-D525-9EF7-E79D0AE82C72}"/>
              </a:ext>
            </a:extLst>
          </p:cNvPr>
          <p:cNvSpPr txBox="1"/>
          <p:nvPr/>
        </p:nvSpPr>
        <p:spPr>
          <a:xfrm>
            <a:off x="352742" y="3005146"/>
            <a:ext cx="62341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브리지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] </a:t>
            </a:r>
            <a:r>
              <a:rPr lang="ko-KR" altLang="en-US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물질명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  <a:sym typeface="Wingdings" panose="05000000000000000000" pitchFamily="2" charset="2"/>
              </a:rPr>
              <a:t> 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LCI </a:t>
            </a:r>
            <a:r>
              <a:rPr lang="ko-KR" altLang="en-US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DB명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선택</a:t>
            </a:r>
          </a:p>
        </p:txBody>
      </p:sp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74402EE0-CC1C-25BA-4AF2-6259AA676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251220"/>
              </p:ext>
            </p:extLst>
          </p:nvPr>
        </p:nvGraphicFramePr>
        <p:xfrm>
          <a:off x="467043" y="3312923"/>
          <a:ext cx="11254741" cy="2752300"/>
        </p:xfrm>
        <a:graphic>
          <a:graphicData uri="http://schemas.openxmlformats.org/drawingml/2006/table">
            <a:tbl>
              <a:tblPr>
                <a:tableStyleId>{C1FDD0C3-F311-486D-AA3B-C831FA89247B}</a:tableStyleId>
              </a:tblPr>
              <a:tblGrid>
                <a:gridCol w="529635">
                  <a:extLst>
                    <a:ext uri="{9D8B030D-6E8A-4147-A177-3AD203B41FA5}">
                      <a16:colId xmlns:a16="http://schemas.microsoft.com/office/drawing/2014/main" val="307563239"/>
                    </a:ext>
                  </a:extLst>
                </a:gridCol>
                <a:gridCol w="1324087">
                  <a:extLst>
                    <a:ext uri="{9D8B030D-6E8A-4147-A177-3AD203B41FA5}">
                      <a16:colId xmlns:a16="http://schemas.microsoft.com/office/drawing/2014/main" val="2020293701"/>
                    </a:ext>
                  </a:extLst>
                </a:gridCol>
                <a:gridCol w="2780583">
                  <a:extLst>
                    <a:ext uri="{9D8B030D-6E8A-4147-A177-3AD203B41FA5}">
                      <a16:colId xmlns:a16="http://schemas.microsoft.com/office/drawing/2014/main" val="4134039707"/>
                    </a:ext>
                  </a:extLst>
                </a:gridCol>
                <a:gridCol w="2250948">
                  <a:extLst>
                    <a:ext uri="{9D8B030D-6E8A-4147-A177-3AD203B41FA5}">
                      <a16:colId xmlns:a16="http://schemas.microsoft.com/office/drawing/2014/main" val="1129950461"/>
                    </a:ext>
                  </a:extLst>
                </a:gridCol>
                <a:gridCol w="4369488">
                  <a:extLst>
                    <a:ext uri="{9D8B030D-6E8A-4147-A177-3AD203B41FA5}">
                      <a16:colId xmlns:a16="http://schemas.microsoft.com/office/drawing/2014/main" val="198761285"/>
                    </a:ext>
                  </a:extLst>
                </a:gridCol>
              </a:tblGrid>
              <a:tr h="4769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순위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활동유형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판별 조건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처리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Arial"/>
                          <a:sym typeface="Arial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87845"/>
                  </a:ext>
                </a:extLst>
              </a:tr>
              <a:tr h="3895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1</a:t>
                      </a:r>
                      <a:endParaRPr lang="ko-KR" altLang="en-US" sz="12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접두어 없음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market for · production · treatment of </a:t>
                      </a: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어느 것도 없음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있으면 무조건 채택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순수 </a:t>
                      </a:r>
                      <a:r>
                        <a:rPr lang="ko-KR" altLang="en-US" sz="12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물질명</a:t>
                      </a:r>
                      <a:r>
                        <a:rPr lang="en-US" altLang="ko-KR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. </a:t>
                      </a:r>
                      <a:r>
                        <a:rPr lang="en-US" altLang="ko-KR" sz="12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ecoinvent</a:t>
                      </a: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에서는 </a:t>
                      </a:r>
                      <a:r>
                        <a:rPr lang="ko-KR" altLang="en-US" sz="12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드물</a:t>
                      </a: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수 있으므로 실제 건수 확인 필요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9160909"/>
                  </a:ext>
                </a:extLst>
              </a:tr>
              <a:tr h="3895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2</a:t>
                      </a:r>
                      <a:endParaRPr lang="ko-KR" altLang="en-US" sz="12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production</a:t>
                      </a:r>
                      <a:endParaRPr lang="ko-KR" altLang="en-US" sz="12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문자열에 </a:t>
                      </a: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production </a:t>
                      </a: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포함 </a:t>
                      </a: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</a:t>
                      </a: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위치 무관</a:t>
                      </a: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)</a:t>
                      </a:r>
                      <a:endParaRPr lang="ko-KR" altLang="en-US" sz="12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채택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공장 출하 기준</a:t>
                      </a:r>
                      <a:r>
                        <a:rPr lang="en-US" altLang="ko-KR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. </a:t>
                      </a: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운송 </a:t>
                      </a:r>
                      <a:r>
                        <a:rPr lang="en-US" altLang="ko-KR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유통 미포함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1561491"/>
                  </a:ext>
                </a:extLst>
              </a:tr>
              <a:tr h="3895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3</a:t>
                      </a:r>
                      <a:endParaRPr lang="ko-KR" altLang="en-US" sz="12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market for</a:t>
                      </a:r>
                      <a:endParaRPr lang="ko-KR" altLang="en-US" sz="12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market for </a:t>
                      </a: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로 시작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채택 </a:t>
                      </a: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+ MARKET_TRANSPORT </a:t>
                      </a: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경고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운송 </a:t>
                      </a: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무역 믹스 </a:t>
                      </a: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손실 포함</a:t>
                      </a: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. BOM</a:t>
                      </a: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에서 운송을 별도 계산하면 이중계산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9325147"/>
                  </a:ext>
                </a:extLst>
              </a:tr>
              <a:tr h="3895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4</a:t>
                      </a:r>
                      <a:endParaRPr lang="ko-KR" altLang="en-US" sz="12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market group for</a:t>
                      </a:r>
                      <a:endParaRPr lang="ko-KR" altLang="en-US" sz="12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market</a:t>
                      </a: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</a:t>
                      </a:r>
                      <a:r>
                        <a:rPr lang="en-US" altLang="ko-KR" sz="12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group</a:t>
                      </a: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</a:t>
                      </a:r>
                      <a:r>
                        <a:rPr lang="en-US" altLang="ko-KR" sz="12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for</a:t>
                      </a: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로 시작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채택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지역 집계</a:t>
                      </a: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. </a:t>
                      </a: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국가 </a:t>
                      </a: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· </a:t>
                      </a: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지역 데이터가 없을 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4380507"/>
                  </a:ext>
                </a:extLst>
              </a:tr>
              <a:tr h="5803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제외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treatment of</a:t>
                      </a:r>
                      <a:endParaRPr lang="ko-KR" altLang="en-US" sz="1200" b="0" i="0" u="none" strike="noStrike" cap="none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treatment of </a:t>
                      </a:r>
                      <a:r>
                        <a:rPr lang="ko-KR" alt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로 시작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하드 차단 </a:t>
                      </a:r>
                      <a:r>
                        <a:rPr lang="en-US" altLang="ko-KR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(WHERE </a:t>
                      </a: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절에서 제거</a:t>
                      </a:r>
                      <a:r>
                        <a:rPr lang="en-US" altLang="ko-KR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)</a:t>
                      </a:r>
                      <a:endParaRPr lang="ko-KR" altLang="en-US" sz="1200" b="0" i="0" u="none" strike="noStrike" cap="none" dirty="0">
                        <a:solidFill>
                          <a:srgbClr val="000000"/>
                        </a:solidFill>
                        <a:effectLst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참조흐름이 폐기물 입력이라 자재 투입에 쓰면 부호가 뒤집힌다</a:t>
                      </a:r>
                      <a:r>
                        <a:rPr lang="en-US" altLang="ko-KR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. ORDER BY </a:t>
                      </a: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최하위로 두면 다른 후보가 없을 때 뽑히므로 반드시 </a:t>
                      </a:r>
                      <a:r>
                        <a:rPr lang="en-US" altLang="ko-KR" sz="12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WHERE</a:t>
                      </a:r>
                      <a:r>
                        <a:rPr lang="ko-KR" altLang="en-US" sz="12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에서</a:t>
                      </a:r>
                      <a:r>
                        <a:rPr lang="ko-KR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Arial"/>
                          <a:sym typeface="Arial"/>
                        </a:rPr>
                        <a:t> 제거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5829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7103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D92C7-3F18-5418-EFA7-16580112D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139E472-1AF7-70B2-C8F3-0224E334774B}"/>
              </a:ext>
            </a:extLst>
          </p:cNvPr>
          <p:cNvSpPr txBox="1"/>
          <p:nvPr/>
        </p:nvSpPr>
        <p:spPr>
          <a:xfrm>
            <a:off x="438615" y="163552"/>
            <a:ext cx="2201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3. </a:t>
            </a:r>
            <a:r>
              <a:rPr lang="ko-KR" altLang="en-US" sz="1800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매칭 플로우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CAE2D0-A318-E7CA-3AD4-5E1679E86FD2}"/>
              </a:ext>
            </a:extLst>
          </p:cNvPr>
          <p:cNvSpPr txBox="1"/>
          <p:nvPr/>
        </p:nvSpPr>
        <p:spPr>
          <a:xfrm>
            <a:off x="9364980" y="0"/>
            <a:ext cx="249953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DB </a:t>
            </a: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매칭방안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59AAE0-D9F4-FC86-5BDA-75A6FE45A1B1}"/>
              </a:ext>
            </a:extLst>
          </p:cNvPr>
          <p:cNvSpPr txBox="1"/>
          <p:nvPr/>
        </p:nvSpPr>
        <p:spPr>
          <a:xfrm>
            <a:off x="709612" y="1297197"/>
            <a:ext cx="5423280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파트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13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구성요성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이미 제공</a:t>
            </a:r>
            <a:endParaRPr lang="en-US" altLang="ko-KR" sz="13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도메인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BOM 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데이터를 가지고 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LLM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으로 </a:t>
            </a:r>
            <a:r>
              <a:rPr lang="ko-KR" altLang="en-US" sz="13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만들어냄</a:t>
            </a:r>
            <a:endParaRPr lang="en-US" altLang="ko-KR" sz="13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공정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description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으로는 안될 수 있음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 BOM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데이터를 가지고 </a:t>
            </a:r>
            <a:r>
              <a:rPr lang="ko-KR" altLang="en-US" sz="13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가지고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추정</a:t>
            </a:r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B24D38A2-A2AB-30AD-E444-2743DAD02565}"/>
              </a:ext>
            </a:extLst>
          </p:cNvPr>
          <p:cNvSpPr/>
          <p:nvPr/>
        </p:nvSpPr>
        <p:spPr>
          <a:xfrm>
            <a:off x="1390650" y="1989694"/>
            <a:ext cx="1600200" cy="492443"/>
          </a:xfrm>
          <a:custGeom>
            <a:avLst/>
            <a:gdLst>
              <a:gd name="csX0" fmla="*/ 0 w 1600200"/>
              <a:gd name="csY0" fmla="*/ 0 h 847725"/>
              <a:gd name="csX1" fmla="*/ 0 w 1600200"/>
              <a:gd name="csY1" fmla="*/ 847725 h 847725"/>
              <a:gd name="csX2" fmla="*/ 1600200 w 1600200"/>
              <a:gd name="csY2" fmla="*/ 847725 h 847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00200" h="847725">
                <a:moveTo>
                  <a:pt x="0" y="0"/>
                </a:moveTo>
                <a:lnTo>
                  <a:pt x="0" y="847725"/>
                </a:lnTo>
                <a:lnTo>
                  <a:pt x="1600200" y="847725"/>
                </a:lnTo>
              </a:path>
            </a:pathLst>
          </a:custGeom>
          <a:noFill/>
          <a:ln w="12700">
            <a:solidFill>
              <a:schemeClr val="tx1">
                <a:lumMod val="75000"/>
                <a:lumOff val="25000"/>
              </a:schemeClr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4EB3ED-428B-FAC8-8824-D8BF8D824B9D}"/>
              </a:ext>
            </a:extLst>
          </p:cNvPr>
          <p:cNvSpPr txBox="1"/>
          <p:nvPr/>
        </p:nvSpPr>
        <p:spPr>
          <a:xfrm>
            <a:off x="2933700" y="2629111"/>
            <a:ext cx="495039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85725" indent="-85725">
              <a:buFont typeface="Arial" panose="020B0604020202020204" pitchFamily="34" charset="0"/>
              <a:buChar char="•"/>
              <a:defRPr sz="13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0" indent="0">
              <a:buNone/>
            </a:pPr>
            <a:r>
              <a:rPr lang="en-US" altLang="ko-KR" dirty="0"/>
              <a:t>(</a:t>
            </a:r>
            <a:r>
              <a:rPr lang="ko-KR" altLang="en-US" dirty="0"/>
              <a:t>통상 파트가 한정되어 있으므로 실제 검색대상은 많지 않을 것으로 예상</a:t>
            </a:r>
            <a:r>
              <a:rPr lang="en-US" altLang="ko-KR" dirty="0"/>
              <a:t>)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Where </a:t>
            </a:r>
            <a:r>
              <a:rPr lang="ko-KR" altLang="en-US" dirty="0">
                <a:sym typeface="Wingdings" panose="05000000000000000000" pitchFamily="2" charset="2"/>
              </a:rPr>
              <a:t>조건 검색 </a:t>
            </a:r>
            <a:r>
              <a:rPr lang="en-US" altLang="ko-KR" dirty="0">
                <a:sym typeface="Wingdings" panose="05000000000000000000" pitchFamily="2" charset="2"/>
              </a:rPr>
              <a:t>/ </a:t>
            </a:r>
            <a:r>
              <a:rPr lang="ko-KR" altLang="en-US" dirty="0" err="1">
                <a:sym typeface="Wingdings" panose="05000000000000000000" pitchFamily="2" charset="2"/>
              </a:rPr>
              <a:t>임베딩</a:t>
            </a:r>
            <a:r>
              <a:rPr lang="ko-KR" altLang="en-US" dirty="0">
                <a:sym typeface="Wingdings" panose="05000000000000000000" pitchFamily="2" charset="2"/>
              </a:rPr>
              <a:t> 검색</a:t>
            </a:r>
            <a:endParaRPr lang="ko-KR" altLang="en-US" dirty="0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A232FA40-53A6-4D1B-C25B-13AAABD23E2B}"/>
              </a:ext>
            </a:extLst>
          </p:cNvPr>
          <p:cNvSpPr/>
          <p:nvPr/>
        </p:nvSpPr>
        <p:spPr>
          <a:xfrm>
            <a:off x="3656912" y="3121554"/>
            <a:ext cx="1600200" cy="455661"/>
          </a:xfrm>
          <a:custGeom>
            <a:avLst/>
            <a:gdLst>
              <a:gd name="csX0" fmla="*/ 0 w 1600200"/>
              <a:gd name="csY0" fmla="*/ 0 h 847725"/>
              <a:gd name="csX1" fmla="*/ 0 w 1600200"/>
              <a:gd name="csY1" fmla="*/ 847725 h 847725"/>
              <a:gd name="csX2" fmla="*/ 1600200 w 1600200"/>
              <a:gd name="csY2" fmla="*/ 847725 h 847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00200" h="847725">
                <a:moveTo>
                  <a:pt x="0" y="0"/>
                </a:moveTo>
                <a:lnTo>
                  <a:pt x="0" y="847725"/>
                </a:lnTo>
                <a:lnTo>
                  <a:pt x="1600200" y="847725"/>
                </a:lnTo>
              </a:path>
            </a:pathLst>
          </a:custGeom>
          <a:noFill/>
          <a:ln w="12700">
            <a:solidFill>
              <a:schemeClr val="tx1">
                <a:lumMod val="75000"/>
                <a:lumOff val="25000"/>
              </a:schemeClr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C6BE39-3E00-B5E7-2371-9838DF04E87E}"/>
              </a:ext>
            </a:extLst>
          </p:cNvPr>
          <p:cNvSpPr txBox="1"/>
          <p:nvPr/>
        </p:nvSpPr>
        <p:spPr>
          <a:xfrm>
            <a:off x="4457012" y="3798604"/>
            <a:ext cx="575510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Font typeface="Arial" panose="020B0604020202020204" pitchFamily="34" charset="0"/>
              <a:buNone/>
              <a:defRPr sz="13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r>
              <a:rPr lang="en-US" altLang="ko-KR" dirty="0"/>
              <a:t>(</a:t>
            </a:r>
            <a:r>
              <a:rPr lang="en-US" altLang="ko-KR" dirty="0" err="1"/>
              <a:t>ref_id</a:t>
            </a:r>
            <a:r>
              <a:rPr lang="ko-KR" altLang="en-US" dirty="0"/>
              <a:t>기준 물질명은 </a:t>
            </a:r>
            <a:r>
              <a:rPr lang="en-US" altLang="ko-KR" dirty="0"/>
              <a:t>11,854</a:t>
            </a:r>
            <a:r>
              <a:rPr lang="ko-KR" altLang="en-US" dirty="0"/>
              <a:t>건이고</a:t>
            </a:r>
            <a:r>
              <a:rPr lang="en-US" altLang="ko-KR" dirty="0"/>
              <a:t>, treatment</a:t>
            </a:r>
            <a:r>
              <a:rPr lang="ko-KR" altLang="en-US" dirty="0"/>
              <a:t>를 제외하면 많지 않을 것으로 보임</a:t>
            </a:r>
            <a:r>
              <a:rPr lang="en-US" altLang="ko-KR" dirty="0"/>
              <a:t>)</a:t>
            </a:r>
          </a:p>
          <a:p>
            <a:pPr marL="85725" indent="-85725">
              <a:buFont typeface="Arial" panose="020B0604020202020204" pitchFamily="34" charset="0"/>
              <a:buChar char="•"/>
            </a:pPr>
            <a:r>
              <a:rPr lang="ko-KR" altLang="en-US" dirty="0"/>
              <a:t>물질명에서 </a:t>
            </a:r>
            <a:r>
              <a:rPr lang="en-US" altLang="ko-KR" dirty="0" err="1"/>
              <a:t>ref_id</a:t>
            </a:r>
            <a:r>
              <a:rPr lang="en-US" altLang="ko-KR" dirty="0"/>
              <a:t>(LCI DB</a:t>
            </a:r>
            <a:r>
              <a:rPr lang="ko-KR" altLang="en-US" dirty="0"/>
              <a:t>명</a:t>
            </a:r>
            <a:r>
              <a:rPr lang="en-US" altLang="ko-KR" dirty="0"/>
              <a:t>) </a:t>
            </a:r>
            <a:r>
              <a:rPr lang="ko-KR" altLang="en-US" dirty="0"/>
              <a:t>반환</a:t>
            </a:r>
            <a:endParaRPr lang="en-US" altLang="ko-KR" dirty="0"/>
          </a:p>
          <a:p>
            <a:r>
              <a:rPr lang="en-US" altLang="ko-KR" dirty="0">
                <a:sym typeface="Wingdings" panose="05000000000000000000" pitchFamily="2" charset="2"/>
              </a:rPr>
              <a:t> Where </a:t>
            </a:r>
            <a:r>
              <a:rPr lang="ko-KR" altLang="en-US" dirty="0">
                <a:sym typeface="Wingdings" panose="05000000000000000000" pitchFamily="2" charset="2"/>
              </a:rPr>
              <a:t>조건 검색 </a:t>
            </a:r>
            <a:r>
              <a:rPr lang="en-US" altLang="ko-KR" dirty="0">
                <a:sym typeface="Wingdings" panose="05000000000000000000" pitchFamily="2" charset="2"/>
              </a:rPr>
              <a:t>/ </a:t>
            </a:r>
            <a:r>
              <a:rPr lang="ko-KR" altLang="en-US" dirty="0" err="1">
                <a:sym typeface="Wingdings" panose="05000000000000000000" pitchFamily="2" charset="2"/>
              </a:rPr>
              <a:t>임베딩</a:t>
            </a:r>
            <a:r>
              <a:rPr lang="ko-KR" altLang="en-US" dirty="0">
                <a:sym typeface="Wingdings" panose="05000000000000000000" pitchFamily="2" charset="2"/>
              </a:rPr>
              <a:t> 검색 등</a:t>
            </a:r>
            <a:endParaRPr lang="ko-KR" altLang="en-US" dirty="0"/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504AC9F8-4D01-3687-3C26-FC8AC62DB86E}"/>
              </a:ext>
            </a:extLst>
          </p:cNvPr>
          <p:cNvSpPr/>
          <p:nvPr/>
        </p:nvSpPr>
        <p:spPr>
          <a:xfrm>
            <a:off x="5072474" y="4501273"/>
            <a:ext cx="1936623" cy="692497"/>
          </a:xfrm>
          <a:custGeom>
            <a:avLst/>
            <a:gdLst>
              <a:gd name="csX0" fmla="*/ 0 w 1600200"/>
              <a:gd name="csY0" fmla="*/ 0 h 847725"/>
              <a:gd name="csX1" fmla="*/ 0 w 1600200"/>
              <a:gd name="csY1" fmla="*/ 847725 h 847725"/>
              <a:gd name="csX2" fmla="*/ 1600200 w 1600200"/>
              <a:gd name="csY2" fmla="*/ 847725 h 847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00200" h="847725">
                <a:moveTo>
                  <a:pt x="0" y="0"/>
                </a:moveTo>
                <a:lnTo>
                  <a:pt x="0" y="847725"/>
                </a:lnTo>
                <a:lnTo>
                  <a:pt x="1600200" y="847725"/>
                </a:lnTo>
              </a:path>
            </a:pathLst>
          </a:custGeom>
          <a:noFill/>
          <a:ln w="12700">
            <a:solidFill>
              <a:schemeClr val="tx1">
                <a:lumMod val="75000"/>
                <a:lumOff val="25000"/>
              </a:schemeClr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4A4B38-8115-47A8-1C03-2A8BC77EF7B4}"/>
              </a:ext>
            </a:extLst>
          </p:cNvPr>
          <p:cNvSpPr txBox="1"/>
          <p:nvPr/>
        </p:nvSpPr>
        <p:spPr>
          <a:xfrm>
            <a:off x="6601049" y="5389181"/>
            <a:ext cx="513375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</a:t>
            </a:r>
            <a:r>
              <a:rPr lang="en-US" altLang="ko-KR" sz="13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treatmen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를 제외한 </a:t>
            </a:r>
            <a:r>
              <a:rPr lang="en-US" altLang="ko-KR" sz="13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ref_id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기준 </a:t>
            </a:r>
            <a:r>
              <a:rPr lang="ko-KR" altLang="en-US" sz="13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물질명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대상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</a:p>
          <a:p>
            <a:r>
              <a:rPr lang="ko-KR" altLang="en-US" sz="13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투입물명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확장용어명으로 </a:t>
            </a:r>
            <a:r>
              <a:rPr lang="ko-KR" altLang="en-US" sz="13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임베딩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검색을 한 후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rank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가 </a:t>
            </a:r>
            <a:r>
              <a:rPr lang="ko-KR" altLang="en-US" sz="13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높은것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3</a:t>
            </a:r>
            <a:r>
              <a:rPr lang="ko-KR" altLang="en-US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개 </a:t>
            </a:r>
            <a:r>
              <a:rPr lang="en-US" altLang="ko-KR" sz="13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return</a:t>
            </a:r>
            <a:endParaRPr lang="ko-KR" altLang="en-US" sz="13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7045209-EA91-E433-25D7-E11308BE34DB}"/>
              </a:ext>
            </a:extLst>
          </p:cNvPr>
          <p:cNvSpPr/>
          <p:nvPr/>
        </p:nvSpPr>
        <p:spPr>
          <a:xfrm>
            <a:off x="671512" y="963256"/>
            <a:ext cx="1519238" cy="336352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BOM</a:t>
            </a:r>
            <a:endParaRPr lang="ko-KR" altLang="en-US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08414EA-CD38-9B9C-F207-16CED801FA10}"/>
              </a:ext>
            </a:extLst>
          </p:cNvPr>
          <p:cNvSpPr/>
          <p:nvPr/>
        </p:nvSpPr>
        <p:spPr>
          <a:xfrm>
            <a:off x="2990850" y="2269193"/>
            <a:ext cx="1466162" cy="336352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err="1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물질명</a:t>
            </a:r>
            <a:r>
              <a:rPr lang="ko-KR" altLang="en-US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매핑</a:t>
            </a:r>
            <a:endParaRPr lang="en-US" altLang="ko-KR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9BFDDA9-EE92-AF76-91E9-A35E672CD857}"/>
              </a:ext>
            </a:extLst>
          </p:cNvPr>
          <p:cNvSpPr/>
          <p:nvPr/>
        </p:nvSpPr>
        <p:spPr>
          <a:xfrm>
            <a:off x="5257112" y="3370319"/>
            <a:ext cx="1600200" cy="336352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LCI DB</a:t>
            </a:r>
            <a:r>
              <a:rPr lang="ko-KR" altLang="en-US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명 매핑</a:t>
            </a:r>
            <a:endParaRPr lang="en-US" altLang="ko-KR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8903260-ECBA-0BFA-DE2B-D09E96606095}"/>
              </a:ext>
            </a:extLst>
          </p:cNvPr>
          <p:cNvSpPr/>
          <p:nvPr/>
        </p:nvSpPr>
        <p:spPr>
          <a:xfrm>
            <a:off x="7116351" y="4966136"/>
            <a:ext cx="2750597" cy="336352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LCI DB </a:t>
            </a:r>
            <a:r>
              <a:rPr lang="ko-KR" altLang="en-US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전수 검사</a:t>
            </a:r>
            <a:r>
              <a:rPr lang="en-US" altLang="ko-KR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근거 없음</a:t>
            </a:r>
            <a:r>
              <a:rPr lang="en-US" altLang="ko-KR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</p:txBody>
      </p:sp>
      <p:sp>
        <p:nvSpPr>
          <p:cNvPr id="19" name="오른쪽 대괄호 18">
            <a:extLst>
              <a:ext uri="{FF2B5EF4-FFF2-40B4-BE49-F238E27FC236}">
                <a16:creationId xmlns:a16="http://schemas.microsoft.com/office/drawing/2014/main" id="{874A4DA0-0FA9-CD60-161F-DE64AF103A06}"/>
              </a:ext>
            </a:extLst>
          </p:cNvPr>
          <p:cNvSpPr/>
          <p:nvPr/>
        </p:nvSpPr>
        <p:spPr>
          <a:xfrm>
            <a:off x="5915025" y="1600200"/>
            <a:ext cx="179387" cy="355635"/>
          </a:xfrm>
          <a:prstGeom prst="rightBracke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8504921-3103-DD37-A0EC-6E1068DD886E}"/>
              </a:ext>
            </a:extLst>
          </p:cNvPr>
          <p:cNvSpPr/>
          <p:nvPr/>
        </p:nvSpPr>
        <p:spPr>
          <a:xfrm>
            <a:off x="6324824" y="1495425"/>
            <a:ext cx="4333652" cy="494269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LCI DB</a:t>
            </a:r>
            <a:r>
              <a:rPr lang="ko-KR" altLang="en-US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매칭 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API</a:t>
            </a:r>
            <a:r>
              <a:rPr lang="ko-KR" altLang="en-US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호출 이전에 별도 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UI/API</a:t>
            </a:r>
            <a:r>
              <a:rPr lang="ko-KR" altLang="en-US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에서 처리</a:t>
            </a:r>
            <a:r>
              <a:rPr lang="en-US" altLang="ko-KR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/</a:t>
            </a:r>
            <a:r>
              <a:rPr lang="ko-KR" altLang="en-US" sz="1300" dirty="0">
                <a:solidFill>
                  <a:srgbClr val="1E2A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/>
              </a:rPr>
              <a:t>사용자 확인프로세스 추가 검토 필요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042582-B824-FB1C-0661-2A0EC60E74C7}"/>
              </a:ext>
            </a:extLst>
          </p:cNvPr>
          <p:cNvSpPr txBox="1"/>
          <p:nvPr/>
        </p:nvSpPr>
        <p:spPr>
          <a:xfrm>
            <a:off x="5257112" y="4917420"/>
            <a:ext cx="193059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00" i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  <a:r>
              <a:rPr lang="ko-KR" altLang="en-US" sz="1300" i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건도 없는 경우 </a:t>
            </a:r>
            <a:r>
              <a:rPr lang="en-US" altLang="ko-KR" sz="1300" i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LCI DB</a:t>
            </a:r>
            <a:r>
              <a:rPr lang="ko-KR" altLang="en-US" sz="1300" i="1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전수 검사</a:t>
            </a:r>
            <a:endParaRPr lang="en-US" altLang="ko-KR" sz="1300" i="1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D1651D9-6594-DF98-EE00-39D526DCBDDF}"/>
              </a:ext>
            </a:extLst>
          </p:cNvPr>
          <p:cNvSpPr/>
          <p:nvPr/>
        </p:nvSpPr>
        <p:spPr>
          <a:xfrm>
            <a:off x="1876425" y="2162176"/>
            <a:ext cx="9029700" cy="2507576"/>
          </a:xfrm>
          <a:prstGeom prst="roundRect">
            <a:avLst>
              <a:gd name="adj" fmla="val 4820"/>
            </a:avLst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442D6B-493D-DBE3-E6F4-3D7491F50F61}"/>
              </a:ext>
            </a:extLst>
          </p:cNvPr>
          <p:cNvSpPr txBox="1"/>
          <p:nvPr/>
        </p:nvSpPr>
        <p:spPr>
          <a:xfrm>
            <a:off x="847725" y="3637200"/>
            <a:ext cx="311174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i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1~8</a:t>
            </a:r>
            <a:r>
              <a:rPr lang="ko-KR" altLang="en-US" b="1" i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우선순위에 적용</a:t>
            </a:r>
            <a:endParaRPr lang="en-US" altLang="ko-KR" b="1" i="1" dirty="0">
              <a:solidFill>
                <a:srgbClr val="C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en-US" altLang="ko-KR" b="1" i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b="1" i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일부 순위에서는 </a:t>
            </a:r>
            <a:r>
              <a:rPr lang="en-US" altLang="ko-KR" b="1" i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LCI DB</a:t>
            </a:r>
            <a:r>
              <a:rPr lang="ko-KR" altLang="en-US" b="1" i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명 매핑만 확인</a:t>
            </a:r>
            <a:r>
              <a:rPr lang="en-US" altLang="ko-KR" b="1" i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  <a:p>
            <a:r>
              <a:rPr lang="en-US" altLang="ko-KR" b="1" i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Top K </a:t>
            </a:r>
            <a:r>
              <a:rPr lang="en-US" altLang="ko-KR" b="1" i="1" dirty="0" err="1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ref_id</a:t>
            </a:r>
            <a:r>
              <a:rPr lang="en-US" altLang="ko-KR" b="1" i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return</a:t>
            </a:r>
            <a:r>
              <a:rPr lang="ko-KR" altLang="en-US" b="1" i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시에는 </a:t>
            </a:r>
            <a:r>
              <a:rPr lang="en-US" altLang="ko-KR" b="1" i="1" dirty="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stop</a:t>
            </a:r>
            <a:endParaRPr lang="ko-KR" altLang="en-US" b="1" i="1" dirty="0">
              <a:solidFill>
                <a:srgbClr val="C0000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B454DA4-93FB-C8F6-506F-1907EDA363EE}"/>
              </a:ext>
            </a:extLst>
          </p:cNvPr>
          <p:cNvSpPr/>
          <p:nvPr/>
        </p:nvSpPr>
        <p:spPr>
          <a:xfrm>
            <a:off x="8491649" y="6017033"/>
            <a:ext cx="2750597" cy="336352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나머지 항목 진행</a:t>
            </a:r>
            <a:endParaRPr lang="en-US" altLang="ko-KR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0" name="자유형: 도형 29">
            <a:extLst>
              <a:ext uri="{FF2B5EF4-FFF2-40B4-BE49-F238E27FC236}">
                <a16:creationId xmlns:a16="http://schemas.microsoft.com/office/drawing/2014/main" id="{C9B0805B-1413-6FA7-BE8B-565A0A9E1FAF}"/>
              </a:ext>
            </a:extLst>
          </p:cNvPr>
          <p:cNvSpPr/>
          <p:nvPr/>
        </p:nvSpPr>
        <p:spPr>
          <a:xfrm>
            <a:off x="7644224" y="5730787"/>
            <a:ext cx="847425" cy="492444"/>
          </a:xfrm>
          <a:custGeom>
            <a:avLst/>
            <a:gdLst>
              <a:gd name="csX0" fmla="*/ 0 w 1600200"/>
              <a:gd name="csY0" fmla="*/ 0 h 847725"/>
              <a:gd name="csX1" fmla="*/ 0 w 1600200"/>
              <a:gd name="csY1" fmla="*/ 847725 h 847725"/>
              <a:gd name="csX2" fmla="*/ 1600200 w 1600200"/>
              <a:gd name="csY2" fmla="*/ 847725 h 8477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600200" h="847725">
                <a:moveTo>
                  <a:pt x="0" y="0"/>
                </a:moveTo>
                <a:lnTo>
                  <a:pt x="0" y="847725"/>
                </a:lnTo>
                <a:lnTo>
                  <a:pt x="1600200" y="847725"/>
                </a:lnTo>
              </a:path>
            </a:pathLst>
          </a:custGeom>
          <a:noFill/>
          <a:ln w="12700">
            <a:solidFill>
              <a:schemeClr val="tx1">
                <a:lumMod val="75000"/>
                <a:lumOff val="25000"/>
              </a:schemeClr>
            </a:solidFill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3247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010A6-9AA6-52BB-7A1D-66D4AC6ED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CDA480F-F474-3927-EE64-E1486447F8E8}"/>
              </a:ext>
            </a:extLst>
          </p:cNvPr>
          <p:cNvSpPr txBox="1"/>
          <p:nvPr/>
        </p:nvSpPr>
        <p:spPr>
          <a:xfrm>
            <a:off x="438615" y="163552"/>
            <a:ext cx="7010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4.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할 수 있는 것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vs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할 수 없는 것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vs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고려할 수 있는 것 </a:t>
            </a:r>
            <a:r>
              <a:rPr lang="en-US" altLang="ko-KR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vs </a:t>
            </a:r>
            <a:r>
              <a:rPr lang="ko-KR" altLang="en-US" sz="1800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향후 가능한 것</a:t>
            </a:r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CE2C68DB-4A5F-32C3-EEC7-FA6516A548FF}"/>
              </a:ext>
            </a:extLst>
          </p:cNvPr>
          <p:cNvGraphicFramePr>
            <a:graphicFrameLocks noGrp="1"/>
          </p:cNvGraphicFramePr>
          <p:nvPr/>
        </p:nvGraphicFramePr>
        <p:xfrm>
          <a:off x="9000490" y="1158240"/>
          <a:ext cx="2644140" cy="1848743"/>
        </p:xfrm>
        <a:graphic>
          <a:graphicData uri="http://schemas.openxmlformats.org/drawingml/2006/table">
            <a:tbl>
              <a:tblPr/>
              <a:tblGrid>
                <a:gridCol w="26441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3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향후 가능한 것</a:t>
                      </a:r>
                      <a:endParaRPr lang="en-US" sz="1300" b="0" i="0" u="none" strike="noStrike" cap="none" dirty="0">
                        <a:solidFill>
                          <a:schemeClr val="bg1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Inter Extra Bold" panose="02000503000000020004" pitchFamily="2" charset="0"/>
                        <a:sym typeface="Arial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007">
                <a:tc>
                  <a:txBody>
                    <a:bodyPr/>
                    <a:lstStyle/>
                    <a:p>
                      <a:pPr marL="182563" indent="-182563">
                        <a:buFontTx/>
                        <a:buChar char="-"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BOM 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물질명과 </a:t>
                      </a:r>
                      <a:r>
                        <a:rPr lang="ko-KR" altLang="en-US" sz="1300" b="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확정매핑된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LCI DB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명 이력 정보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(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향후 매핑 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1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순위</a:t>
                      </a:r>
                      <a:r>
                        <a:rPr lang="en-US" altLang="ko-KR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)</a:t>
                      </a:r>
                    </a:p>
                    <a:p>
                      <a:pPr marL="180975" indent="-180975">
                        <a:buFontTx/>
                        <a:buNone/>
                      </a:pP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ko-KR" altLang="en-US" sz="1300" b="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Wingdings" panose="05000000000000000000" pitchFamily="2" charset="2"/>
                        </a:rPr>
                        <a:t>확정매핑된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Wingdings" panose="05000000000000000000" pitchFamily="2" charset="2"/>
                        </a:rPr>
                        <a:t> 것이 진짜 정답이라서 </a:t>
                      </a:r>
                      <a:r>
                        <a:rPr lang="ko-KR" altLang="en-US" sz="1300" b="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Wingdings" panose="05000000000000000000" pitchFamily="2" charset="2"/>
                        </a:rPr>
                        <a:t>그런경우도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Wingdings" panose="05000000000000000000" pitchFamily="2" charset="2"/>
                        </a:rPr>
                        <a:t> 있지만 그나마 유사한 것이라서 </a:t>
                      </a:r>
                      <a:r>
                        <a:rPr lang="ko-KR" altLang="en-US" sz="1300" b="0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Wingdings" panose="05000000000000000000" pitchFamily="2" charset="2"/>
                        </a:rPr>
                        <a:t>확정매핑된</a:t>
                      </a:r>
                      <a:r>
                        <a:rPr lang="ko-KR" altLang="en-US" sz="1300" b="0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Wingdings" panose="05000000000000000000" pitchFamily="2" charset="2"/>
                        </a:rPr>
                        <a:t> 경우도 있을 수 있음</a:t>
                      </a:r>
                      <a:endParaRPr lang="en-US" sz="1300" b="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  <a:p>
                      <a:pPr marL="182563" indent="-182563">
                        <a:buFontTx/>
                        <a:buChar char="-"/>
                      </a:pPr>
                      <a:endParaRPr lang="en-US" sz="1300" b="0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288662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3AB385D-0F50-C056-7D0A-F104A1FAF5E0}"/>
              </a:ext>
            </a:extLst>
          </p:cNvPr>
          <p:cNvGraphicFramePr>
            <a:graphicFrameLocks noGrp="1"/>
          </p:cNvGraphicFramePr>
          <p:nvPr/>
        </p:nvGraphicFramePr>
        <p:xfrm>
          <a:off x="670560" y="1158240"/>
          <a:ext cx="2644140" cy="1143000"/>
        </p:xfrm>
        <a:graphic>
          <a:graphicData uri="http://schemas.openxmlformats.org/drawingml/2006/table">
            <a:tbl>
              <a:tblPr/>
              <a:tblGrid>
                <a:gridCol w="2644140">
                  <a:extLst>
                    <a:ext uri="{9D8B030D-6E8A-4147-A177-3AD203B41FA5}">
                      <a16:colId xmlns:a16="http://schemas.microsoft.com/office/drawing/2014/main" val="4065799814"/>
                    </a:ext>
                  </a:extLst>
                </a:gridCol>
              </a:tblGrid>
              <a:tr h="3603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할 수 있는 것 </a:t>
                      </a:r>
                      <a:endParaRPr lang="en-US" sz="1300" b="0" i="0" u="none" strike="noStrike" cap="none" dirty="0">
                        <a:solidFill>
                          <a:schemeClr val="bg1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Inter Extra Bold" panose="02000503000000020004" pitchFamily="2" charset="0"/>
                        <a:sym typeface="Arial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213455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표준 </a:t>
                      </a:r>
                      <a:r>
                        <a:rPr lang="en-US" altLang="ko-KR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BOM 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양식 데이터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661714"/>
                  </a:ext>
                </a:extLst>
              </a:tr>
              <a:tr h="401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공정</a:t>
                      </a:r>
                      <a:r>
                        <a:rPr lang="en-US" altLang="ko-KR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(description), 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파트정보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939098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5372820-6CE8-3C43-ACC3-905715853521}"/>
              </a:ext>
            </a:extLst>
          </p:cNvPr>
          <p:cNvGraphicFramePr>
            <a:graphicFrameLocks noGrp="1"/>
          </p:cNvGraphicFramePr>
          <p:nvPr/>
        </p:nvGraphicFramePr>
        <p:xfrm>
          <a:off x="3426143" y="1158240"/>
          <a:ext cx="2644140" cy="2549783"/>
        </p:xfrm>
        <a:graphic>
          <a:graphicData uri="http://schemas.openxmlformats.org/drawingml/2006/table">
            <a:tbl>
              <a:tblPr/>
              <a:tblGrid>
                <a:gridCol w="2644140">
                  <a:extLst>
                    <a:ext uri="{9D8B030D-6E8A-4147-A177-3AD203B41FA5}">
                      <a16:colId xmlns:a16="http://schemas.microsoft.com/office/drawing/2014/main" val="734756946"/>
                    </a:ext>
                  </a:extLst>
                </a:gridCol>
              </a:tblGrid>
              <a:tr h="3603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할 수 없는 것 </a:t>
                      </a:r>
                      <a:endParaRPr lang="en-US" sz="1300" b="0" i="0" u="none" strike="noStrike" cap="none" dirty="0">
                        <a:solidFill>
                          <a:schemeClr val="bg1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Inter Extra Bold" panose="02000503000000020004" pitchFamily="2" charset="0"/>
                        <a:sym typeface="Arial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723607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300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미입력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 항목을 </a:t>
                      </a:r>
                      <a:r>
                        <a:rPr lang="en-US" altLang="ko-KR" sz="1300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Cleasing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해서 넣도록 </a:t>
                      </a:r>
                      <a:r>
                        <a:rPr lang="ko-KR" altLang="en-US" sz="1300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하는것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8744592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물질명을 표준명으로 반드시 넣도록 </a:t>
                      </a:r>
                      <a:r>
                        <a:rPr lang="ko-KR" altLang="en-US" sz="1300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하는것</a:t>
                      </a:r>
                      <a:r>
                        <a:rPr lang="en-US" altLang="ko-KR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(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약어</a:t>
                      </a:r>
                      <a:r>
                        <a:rPr lang="en-US" altLang="ko-KR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, 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관용어</a:t>
                      </a:r>
                      <a:r>
                        <a:rPr lang="en-US" altLang="ko-KR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, 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유사어</a:t>
                      </a:r>
                      <a:r>
                        <a:rPr lang="en-US" altLang="ko-KR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, 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번역어</a:t>
                      </a:r>
                      <a:r>
                        <a:rPr lang="en-US" altLang="ko-KR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, </a:t>
                      </a:r>
                      <a:r>
                        <a:rPr lang="ko-KR" altLang="en-US" sz="1300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공장관례용어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 등</a:t>
                      </a:r>
                      <a:r>
                        <a:rPr lang="en-US" altLang="ko-KR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)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272200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300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매핑전용어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 </a:t>
                      </a:r>
                      <a:r>
                        <a:rPr lang="en-US" altLang="ko-KR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&lt;-&gt; LCI DB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명 매핑을 미리 하는 것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419736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공정</a:t>
                      </a:r>
                      <a:r>
                        <a:rPr lang="en-US" altLang="ko-KR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/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도메인 등에 따른 </a:t>
                      </a:r>
                      <a:r>
                        <a:rPr lang="ko-KR" altLang="en-US" sz="1300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매핑정보를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 예상해서 미리 만들어 놓는 것</a:t>
                      </a:r>
                      <a:endParaRPr lang="en-US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432370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F73CD87-A2A7-A9D6-0E79-12E447F099CC}"/>
              </a:ext>
            </a:extLst>
          </p:cNvPr>
          <p:cNvGraphicFramePr>
            <a:graphicFrameLocks noGrp="1"/>
          </p:cNvGraphicFramePr>
          <p:nvPr/>
        </p:nvGraphicFramePr>
        <p:xfrm>
          <a:off x="6206807" y="1158240"/>
          <a:ext cx="2644140" cy="4927223"/>
        </p:xfrm>
        <a:graphic>
          <a:graphicData uri="http://schemas.openxmlformats.org/drawingml/2006/table">
            <a:tbl>
              <a:tblPr/>
              <a:tblGrid>
                <a:gridCol w="2644140">
                  <a:extLst>
                    <a:ext uri="{9D8B030D-6E8A-4147-A177-3AD203B41FA5}">
                      <a16:colId xmlns:a16="http://schemas.microsoft.com/office/drawing/2014/main" val="948950188"/>
                    </a:ext>
                  </a:extLst>
                </a:gridCol>
              </a:tblGrid>
              <a:tr h="3603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300" b="0" i="0" u="none" strike="noStrike" cap="none" dirty="0">
                          <a:solidFill>
                            <a:schemeClr val="bg1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Inter Extra Bold" panose="02000503000000020004" pitchFamily="2" charset="0"/>
                          <a:sym typeface="Arial"/>
                        </a:rPr>
                        <a:t>고려할 수 있는 것 </a:t>
                      </a:r>
                      <a:endParaRPr lang="en-US" sz="1300" b="0" i="0" u="none" strike="noStrike" cap="none" dirty="0">
                        <a:solidFill>
                          <a:schemeClr val="bg1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Inter Extra Bold" panose="02000503000000020004" pitchFamily="2" charset="0"/>
                        <a:sym typeface="Arial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33023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182563" marR="0" indent="-1825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Tx/>
                        <a:buChar char="-"/>
                      </a:pPr>
                      <a:r>
                        <a:rPr lang="ko-KR" altLang="en-US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이미지 등 </a:t>
                      </a:r>
                      <a:r>
                        <a:rPr lang="en-US" altLang="ko-KR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BOM</a:t>
                      </a:r>
                      <a:r>
                        <a:rPr lang="ko-KR" altLang="en-US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데이터를 </a:t>
                      </a:r>
                      <a:r>
                        <a:rPr lang="en-US" altLang="ko-KR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VLM</a:t>
                      </a:r>
                      <a:r>
                        <a:rPr lang="ko-KR" altLang="en-US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으로 텍스트 인식</a:t>
                      </a:r>
                      <a:r>
                        <a:rPr lang="en-US" altLang="ko-KR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(Hugging Face Qwen3.8 </a:t>
                      </a:r>
                      <a:r>
                        <a:rPr lang="ko-KR" altLang="en-US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활용</a:t>
                      </a:r>
                      <a:r>
                        <a:rPr lang="en-US" altLang="ko-KR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) </a:t>
                      </a:r>
                    </a:p>
                    <a:p>
                      <a:pPr marL="182563" marR="0" indent="-1825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Tx/>
                        <a:buChar char="-"/>
                      </a:pPr>
                      <a:r>
                        <a:rPr lang="ko-KR" altLang="en-US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테스트 필요</a:t>
                      </a:r>
                      <a:r>
                        <a:rPr lang="en-US" altLang="ko-KR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, API/UI </a:t>
                      </a:r>
                      <a:r>
                        <a:rPr lang="ko-KR" altLang="en-US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개발필요</a:t>
                      </a:r>
                      <a:endParaRPr lang="en-US" sz="1300" b="0" i="0" u="none" strike="noStrike" cap="none" dirty="0">
                        <a:solidFill>
                          <a:srgbClr val="C00000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402909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182563" marR="0" indent="-1825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Tx/>
                        <a:buChar char="-"/>
                        <a:tabLst>
                          <a:tab pos="92075" algn="l"/>
                        </a:tabLst>
                      </a:pPr>
                      <a:r>
                        <a:rPr lang="ko-KR" altLang="en-US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비표준 형식으로 </a:t>
                      </a:r>
                      <a:r>
                        <a:rPr lang="en-US" altLang="ko-KR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BOM</a:t>
                      </a:r>
                      <a:r>
                        <a:rPr lang="ko-KR" altLang="en-US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데이터가 온 경우 표준항목에 맞게 </a:t>
                      </a:r>
                      <a:r>
                        <a:rPr lang="ko-KR" altLang="en-US" sz="1300" b="0" i="0" u="none" strike="noStrike" cap="none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매핑시키고</a:t>
                      </a:r>
                      <a:r>
                        <a:rPr lang="en-US" altLang="ko-KR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, </a:t>
                      </a:r>
                      <a:r>
                        <a:rPr lang="ko-KR" altLang="en-US" sz="1300" b="0" i="0" u="none" strike="noStrike" cap="none" dirty="0" err="1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오탈자나</a:t>
                      </a:r>
                      <a:r>
                        <a:rPr lang="ko-KR" altLang="en-US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 이상하게 입력된 항목 등을 찾아내는 것 </a:t>
                      </a:r>
                      <a:endParaRPr lang="en-US" altLang="ko-KR" sz="1300" b="0" i="0" u="none" strike="noStrike" cap="none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  <a:p>
                      <a:pPr marL="182563" marR="0" indent="-1825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Tx/>
                        <a:buChar char="-"/>
                        <a:tabLst>
                          <a:tab pos="92075" algn="l"/>
                        </a:tabLst>
                      </a:pPr>
                      <a:r>
                        <a:rPr lang="en-US" altLang="ko-KR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LLM</a:t>
                      </a:r>
                      <a:r>
                        <a:rPr lang="ko-KR" altLang="en-US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으로 테스트 필요</a:t>
                      </a:r>
                      <a:r>
                        <a:rPr lang="en-US" altLang="ko-KR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.  API/UI </a:t>
                      </a:r>
                      <a:r>
                        <a:rPr lang="ko-KR" altLang="en-US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개발필요</a:t>
                      </a:r>
                      <a:endParaRPr lang="en-US" sz="1300" b="0" i="0" u="none" strike="noStrike" cap="none" dirty="0">
                        <a:solidFill>
                          <a:srgbClr val="C00000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180288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182563" indent="-182563">
                        <a:buFontTx/>
                        <a:buChar char="-"/>
                      </a:pP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공장관례에 따른 입력방식 등을 다시 해석해서 변환하고 사용자에게 최종 </a:t>
                      </a:r>
                      <a:r>
                        <a:rPr lang="en-US" altLang="ko-KR" sz="1300" dirty="0" err="1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confir</a:t>
                      </a:r>
                      <a:r>
                        <a:rPr lang="ko-KR" altLang="en-US" sz="1300" dirty="0"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</a:rPr>
                        <a:t>받는 방식 </a:t>
                      </a:r>
                      <a:endParaRPr lang="en-US" altLang="ko-KR" sz="13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</a:endParaRPr>
                    </a:p>
                    <a:p>
                      <a:pPr marL="182563" marR="0" indent="-182563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Tx/>
                        <a:buChar char="-"/>
                        <a:tabLst>
                          <a:tab pos="92075" algn="l"/>
                        </a:tabLst>
                      </a:pPr>
                      <a:r>
                        <a:rPr lang="en-US" altLang="ko-KR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LLM</a:t>
                      </a:r>
                      <a:r>
                        <a:rPr lang="ko-KR" altLang="en-US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으로 테스트 필요</a:t>
                      </a:r>
                      <a:r>
                        <a:rPr lang="en-US" altLang="ko-KR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.  API/UI </a:t>
                      </a:r>
                      <a:r>
                        <a:rPr lang="ko-KR" altLang="en-US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개발필요</a:t>
                      </a:r>
                      <a:endParaRPr lang="en-US" sz="1300" b="0" i="0" u="none" strike="noStrike" cap="none" dirty="0">
                        <a:solidFill>
                          <a:srgbClr val="C00000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038987"/>
                  </a:ext>
                </a:extLst>
              </a:tr>
              <a:tr h="381497">
                <a:tc>
                  <a:txBody>
                    <a:bodyPr/>
                    <a:lstStyle/>
                    <a:p>
                      <a:pPr marL="182563" indent="-182563">
                        <a:buFontTx/>
                        <a:buChar char="-"/>
                      </a:pPr>
                      <a:r>
                        <a:rPr lang="en-US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LLM Wiki</a:t>
                      </a:r>
                      <a:r>
                        <a:rPr lang="ko-KR" altLang="en-US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에서 사용자가 파트를 추가하도록 하고</a:t>
                      </a:r>
                      <a:r>
                        <a:rPr lang="en-US" altLang="ko-KR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, </a:t>
                      </a:r>
                      <a:r>
                        <a:rPr lang="ko-KR" altLang="en-US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검증</a:t>
                      </a:r>
                      <a:r>
                        <a:rPr lang="en-US" altLang="ko-KR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/</a:t>
                      </a:r>
                      <a:r>
                        <a:rPr lang="ko-KR" altLang="en-US" sz="1300" b="0" i="0" u="none" strike="noStrike" cap="none" dirty="0">
                          <a:solidFill>
                            <a:schemeClr val="tx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수정하도록 하는 것</a:t>
                      </a:r>
                      <a:endParaRPr lang="en-US" altLang="ko-KR" sz="1300" b="0" i="0" u="none" strike="noStrike" cap="none" dirty="0">
                        <a:solidFill>
                          <a:schemeClr val="tx1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  <a:p>
                      <a:pPr marL="182563" indent="-182563">
                        <a:buFontTx/>
                        <a:buChar char="-"/>
                      </a:pPr>
                      <a:r>
                        <a:rPr lang="en-US" altLang="ko-KR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UI</a:t>
                      </a:r>
                      <a:r>
                        <a:rPr lang="ko-KR" altLang="en-US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화면 별도개발 및 제공가능</a:t>
                      </a:r>
                      <a:r>
                        <a:rPr lang="en-US" altLang="ko-KR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. </a:t>
                      </a:r>
                      <a:r>
                        <a:rPr lang="ko-KR" altLang="en-US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단</a:t>
                      </a:r>
                      <a:r>
                        <a:rPr lang="en-US" altLang="ko-KR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, </a:t>
                      </a:r>
                      <a:r>
                        <a:rPr lang="ko-KR" altLang="en-US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용어집 구축을 위해서 고객사 </a:t>
                      </a:r>
                      <a:r>
                        <a:rPr lang="en-US" altLang="ko-KR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Claude/Codex</a:t>
                      </a:r>
                      <a:r>
                        <a:rPr lang="ko-KR" altLang="en-US" sz="1300" b="0" i="0" u="none" strike="noStrike" cap="none" dirty="0">
                          <a:solidFill>
                            <a:srgbClr val="C00000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Malgun Gothic" charset="0"/>
                          <a:sym typeface="Arial"/>
                        </a:rPr>
                        <a:t>사용 검토 필요</a:t>
                      </a:r>
                      <a:endParaRPr lang="en-US" sz="1300" b="0" i="0" u="none" strike="noStrike" cap="none" dirty="0">
                        <a:solidFill>
                          <a:srgbClr val="C00000"/>
                        </a:solidFill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Malgun Gothic" charset="0"/>
                        <a:sym typeface="Arial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09186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373ADB9-1659-27E7-FDDE-CC145114640E}"/>
              </a:ext>
            </a:extLst>
          </p:cNvPr>
          <p:cNvSpPr txBox="1"/>
          <p:nvPr/>
        </p:nvSpPr>
        <p:spPr>
          <a:xfrm>
            <a:off x="658971" y="5303241"/>
            <a:ext cx="5311458" cy="793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10000"/>
              </a:lnSpc>
            </a:pPr>
            <a:r>
              <a:rPr lang="en-US" altLang="ko-KR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 </a:t>
            </a:r>
            <a:r>
              <a:rPr lang="ko-KR" alt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본사업에서는 </a:t>
            </a:r>
            <a:r>
              <a:rPr lang="en-US" altLang="ko-KR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LCI DB</a:t>
            </a:r>
            <a:r>
              <a:rPr lang="ko-KR" alt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의 </a:t>
            </a:r>
            <a:r>
              <a:rPr lang="en-US" altLang="ko-KR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Coverage</a:t>
            </a:r>
            <a:r>
              <a:rPr lang="ko-KR" alt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가 낮은 특성상 물질명의 경우 </a:t>
            </a:r>
            <a:r>
              <a:rPr lang="en-US" altLang="ko-KR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Recall</a:t>
            </a:r>
            <a:r>
              <a:rPr lang="ko-KR" alt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을 높이고</a:t>
            </a:r>
            <a:r>
              <a:rPr lang="en-US" altLang="ko-KR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사용자의 자유도를 높여서 선택하도록 함</a:t>
            </a:r>
            <a:r>
              <a:rPr lang="en-US" altLang="ko-KR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단</a:t>
            </a:r>
            <a:r>
              <a:rPr lang="en-US" altLang="ko-KR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무조건 많이 나오게 하는 것이 아니라 합리적 근거 및 우선순위 제공</a:t>
            </a:r>
            <a:r>
              <a:rPr lang="en-US" altLang="ko-KR" dirty="0">
                <a:solidFill>
                  <a:schemeClr val="tx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anose="05000000000000000000" pitchFamily="2" charset="2"/>
              </a:rPr>
              <a:t>)</a:t>
            </a:r>
            <a:endParaRPr lang="ko-KR" altLang="en-US" dirty="0">
              <a:solidFill>
                <a:schemeClr val="tx1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8A8988-7B27-5701-F7E1-1882C6F35DCE}"/>
              </a:ext>
            </a:extLst>
          </p:cNvPr>
          <p:cNvSpPr txBox="1"/>
          <p:nvPr/>
        </p:nvSpPr>
        <p:spPr>
          <a:xfrm>
            <a:off x="9364980" y="0"/>
            <a:ext cx="249953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SzPct val="100000"/>
            </a:pP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물질명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DB </a:t>
            </a:r>
            <a:r>
              <a:rPr lang="ko-KR" altLang="en-US" dirty="0" err="1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매칭방안</a:t>
            </a:r>
            <a:r>
              <a:rPr lang="ko-KR" altLang="en-US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dirty="0">
                <a:solidFill>
                  <a:srgbClr val="1A1A1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Inter Extra Bold" panose="02000503000000020004" pitchFamily="2" charset="0"/>
              </a:rPr>
              <a:t> </a:t>
            </a:r>
            <a:r>
              <a:rPr lang="en-US" altLang="ko-KR" sz="4000" dirty="0">
                <a:solidFill>
                  <a:srgbClr val="1A1A1A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Ⅱ</a:t>
            </a:r>
          </a:p>
        </p:txBody>
      </p:sp>
    </p:spTree>
    <p:extLst>
      <p:ext uri="{BB962C8B-B14F-4D97-AF65-F5344CB8AC3E}">
        <p14:creationId xmlns:p14="http://schemas.microsoft.com/office/powerpoint/2010/main" val="3827809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FE7DF54-95B9-4F80-BA56-37B13567DF53}">
  <we:reference id="f5f369e5-aa35-49d7-ad7b-638152ddb008" version="1.0.0.1" store="EXCatalog" storeType="EXCatalog"/>
  <we:alternateReferences>
    <we:reference id="WA200010001" version="1.0.0.1" store="ko-KR" storeType="OMEX"/>
  </we:alternateReferences>
  <we:properties>
    <we:property name="claude.fileId" value="&quot;d14ae789-d5fa-4494-95f5-c7245ecdcdca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4585F2B4E7E39A42B8EB07FF471ECFD1" ma:contentTypeVersion="9" ma:contentTypeDescription="새 문서를 만듭니다." ma:contentTypeScope="" ma:versionID="d8ec57e69abe3aa48e80a8ef333c3b46">
  <xsd:schema xmlns:xsd="http://www.w3.org/2001/XMLSchema" xmlns:xs="http://www.w3.org/2001/XMLSchema" xmlns:p="http://schemas.microsoft.com/office/2006/metadata/properties" xmlns:ns2="04b45970-a957-41b4-858c-22a4696664d1" targetNamespace="http://schemas.microsoft.com/office/2006/metadata/properties" ma:root="true" ma:fieldsID="cee1b984cb2a4cc3c336de1cd879b012" ns2:_="">
    <xsd:import namespace="04b45970-a957-41b4-858c-22a4696664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b45970-a957-41b4-858c-22a4696664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7ffac9f6-4b98-40ee-80b5-beec5dc617a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4b45970-a957-41b4-858c-22a4696664d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89992FF-0C99-40F6-B34B-E6F95F7578A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2E3E084-1460-4CDF-A665-9E499C085A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b45970-a957-41b4-858c-22a4696664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FE8973C-7CBB-481C-ABA2-80171736E8BF}">
  <ds:schemaRefs>
    <ds:schemaRef ds:uri="http://www.w3.org/XML/1998/namespace"/>
    <ds:schemaRef ds:uri="04b45970-a957-41b4-858c-22a4696664d1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9631</TotalTime>
  <Words>3708</Words>
  <Application>Microsoft Office PowerPoint</Application>
  <PresentationFormat>사용자 지정</PresentationFormat>
  <Paragraphs>921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8" baseType="lpstr">
      <vt:lpstr>Cascadia Mono SemiBold</vt:lpstr>
      <vt:lpstr>Calibri</vt:lpstr>
      <vt:lpstr>Wingdings</vt:lpstr>
      <vt:lpstr>KoPub돋움체 Medium</vt:lpstr>
      <vt:lpstr>맑은 고딕</vt:lpstr>
      <vt:lpstr>KoPub돋움체 Bold</vt:lpstr>
      <vt:lpstr>맑은 고딕</vt:lpstr>
      <vt:lpstr>Inter Light</vt:lpstr>
      <vt:lpstr>Inter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오 민경</cp:lastModifiedBy>
  <cp:revision>1921</cp:revision>
  <dcterms:created xsi:type="dcterms:W3CDTF">2013-01-27T09:14:16Z</dcterms:created>
  <dcterms:modified xsi:type="dcterms:W3CDTF">2026-09-15T05:24:25Z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0x0101004585F2B4E7E39A42B8EB07FF471ECFD1</vt:lpwstr>
  </property>
  <property fmtid="{D5CDD505-2E9C-101B-9397-08002B2CF9AE}" pid="3" name="MediaServiceImageTags">
    <vt:lpwstr/>
  </property>
</Properties>
</file>