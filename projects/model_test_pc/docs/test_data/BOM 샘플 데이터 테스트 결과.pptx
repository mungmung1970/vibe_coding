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62" r:id="rId6"/>
    <p:sldId id="258" r:id="rId7"/>
    <p:sldId id="263" r:id="rId8"/>
    <p:sldId id="259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416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21F7F-777B-A0BC-3533-87EE30ECE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28A7BA-90BB-9521-DCFD-FA6426953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699EC-8A4A-2322-C9CB-61902B0B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98BD69-CD28-A112-8A35-F5D3101D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5FD8B0-73D2-EF06-678A-0CDE7A81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77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B02BA-655F-9591-3379-3337889B1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BC780F-F8D7-8DC6-04AD-792DA3A73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F2BD40-D880-CFA1-12CE-6DF4BE96F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60858A-9F0B-DEF0-C38F-930486DE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DD2FF-5EB6-D32C-C60B-DBD26F08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5293F-1E9F-F2F1-B396-80B4CFC8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841BE3-2CCE-32C2-7A6D-C044F9606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EC4A7C-8792-D498-5C8C-1F571BCE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885A60-2599-59B3-1C3A-8971EE2EB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983B98-79E5-0F31-69D7-F366B094C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00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8FEF9-F53E-36B0-B689-FD5F2F534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73BC31-24B4-8B17-0ED5-F368AEDB2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6E0E79-BD42-3578-C4A7-9AE3EF086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38AE7C-27FE-94E2-2241-874A03D8C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DC809F-A277-4B1E-84E1-99B96BB7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CAA153-9DB2-6D45-09BF-A8911A37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03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BE22F2-6C50-0CA4-0249-B1856A60E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B92233-74C1-815F-A4EB-8129A5F14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30452E-D739-FEF8-BD7F-FC78F8CBC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18F564-8DB2-853E-3F98-2FB069F7D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91AFB4-B82E-6138-C1D4-A7FC2B94B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70EADF-293B-F21D-223D-E0EDB751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9BCBB6-E014-44B1-AD11-FA3C8F2C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DFEE46-51CB-122B-4517-4D334B06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88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10918-85A1-F0EC-80DE-62E73495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F6DA5F-B474-08A7-04B6-655E51E8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164513-63F8-63C2-1964-18250404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D0350-6E22-3FFC-9E82-D3DFA45A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658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2BA2BC-1F72-7085-A6F2-030BEFB1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F772DD-4C98-CD5D-AFD4-58262E36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D9C68-2646-D89C-993B-2E3887921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35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4633C-750C-2CEE-7ECC-AD459E635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B04684-C72B-E7F6-51B2-FAB44D48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39670E-89F6-08A0-15F7-D62480EF5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3C85D9-C2A0-20C4-91FE-43AAE777E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96D6C0-1786-2F99-CA7C-3651D8457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3B774D-8071-23FA-3935-CB890373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57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806DB-5E03-7407-9F9F-474435B5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10CC60-D7E7-9589-3B00-965186866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B5F731-A3F6-6C3F-0D18-73B0B2CBC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5E37AA-40E8-429A-8118-FE306C000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BD1F41-5B9C-70DC-42C3-C8FBF596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8E04BC-37A4-5492-5F36-6E36D6F68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84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F9FD3-F031-C1B4-E11C-9FABFC6C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91C623-192D-4FE5-1361-C927EFF9D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9397BA-7398-57EE-E2F5-ACFE9B6EF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05815C-F4FA-8806-BC6B-53823A80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6651EC-67CA-FF24-FC56-663BA92D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668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3FCF36-7E93-8AEC-DACC-D9380418A9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29B192-277C-6CDC-9EC3-72AD46492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64A3A-4EB2-08D0-F7E0-E864B098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0062A-06E9-C359-E65F-392962E7F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87BDA-F692-968D-4AE8-EAE6C737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43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267C65-CE2F-1B3F-5AD3-FD7154857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173B53-0C0C-3DAB-D5C4-80E1D8886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39F3D6-331E-CBEC-AB8F-9A555BC1F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770C0-9C42-4920-961E-52455B09430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0CCF7-CD13-61F2-2F98-5937AF4FD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1A536C-B2CE-9A28-A92B-6415CD518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336A5-AF49-4072-AB2E-05D59C3B3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991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761EB8-82DB-DB5D-1C47-57069EB042FB}"/>
              </a:ext>
            </a:extLst>
          </p:cNvPr>
          <p:cNvSpPr txBox="1"/>
          <p:nvPr/>
        </p:nvSpPr>
        <p:spPr>
          <a:xfrm>
            <a:off x="692727" y="397317"/>
            <a:ext cx="108273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/>
            <a:r>
              <a:rPr lang="en-US" altLang="ko-KR" sz="1600" b="1" dirty="0">
                <a:latin typeface="+mj-lt"/>
              </a:rPr>
              <a:t>[</a:t>
            </a:r>
            <a:r>
              <a:rPr lang="ko-KR" altLang="en-US" sz="1600" b="1" dirty="0">
                <a:latin typeface="+mj-lt"/>
              </a:rPr>
              <a:t>프롬프트 예시</a:t>
            </a:r>
            <a:r>
              <a:rPr lang="en-US" altLang="ko-KR" sz="1600" b="1" dirty="0">
                <a:latin typeface="+mj-lt"/>
              </a:rPr>
              <a:t>]</a:t>
            </a:r>
          </a:p>
          <a:p>
            <a:pPr latinLnBrk="0"/>
            <a:endParaRPr lang="en-US" altLang="ko-KR" sz="1500" dirty="0">
              <a:latin typeface="+mj-lt"/>
            </a:endParaRPr>
          </a:p>
          <a:p>
            <a:pPr latinLnBrk="0"/>
            <a:r>
              <a:rPr lang="ko-KR" altLang="en-US" sz="1500" dirty="0">
                <a:latin typeface="+mj-lt"/>
              </a:rPr>
              <a:t>저는 CLI </a:t>
            </a:r>
            <a:r>
              <a:rPr lang="ko-KR" altLang="en-US" sz="1500" dirty="0" err="1">
                <a:latin typeface="+mj-lt"/>
              </a:rPr>
              <a:t>DB매칭</a:t>
            </a:r>
            <a:r>
              <a:rPr lang="ko-KR" altLang="en-US" sz="1500" dirty="0">
                <a:latin typeface="+mj-lt"/>
              </a:rPr>
              <a:t> 전문가 입니다.   투입물질명 및 </a:t>
            </a:r>
            <a:r>
              <a:rPr lang="ko-KR" altLang="en-US" sz="1500" dirty="0" err="1">
                <a:latin typeface="+mj-lt"/>
              </a:rPr>
              <a:t>비표준화된</a:t>
            </a:r>
            <a:r>
              <a:rPr lang="ko-KR" altLang="en-US" sz="1500" dirty="0">
                <a:latin typeface="+mj-lt"/>
              </a:rPr>
              <a:t> 물질명을 향후 LCI </a:t>
            </a:r>
            <a:r>
              <a:rPr lang="ko-KR" altLang="en-US" sz="1500" dirty="0" err="1">
                <a:latin typeface="+mj-lt"/>
              </a:rPr>
              <a:t>DB명에</a:t>
            </a:r>
            <a:r>
              <a:rPr lang="ko-KR" altLang="en-US" sz="1500" dirty="0">
                <a:latin typeface="+mj-lt"/>
              </a:rPr>
              <a:t> 매칭될 수 있도록 물질명을 찾아주는 역할을 우선 수행합니다. </a:t>
            </a:r>
            <a:endParaRPr lang="en-US" altLang="ko-KR" sz="1500" dirty="0">
              <a:latin typeface="+mj-lt"/>
            </a:endParaRPr>
          </a:p>
          <a:p>
            <a:pPr latinLnBrk="0"/>
            <a:endParaRPr lang="en-US" altLang="ko-KR" sz="1500" dirty="0">
              <a:latin typeface="+mj-lt"/>
            </a:endParaRPr>
          </a:p>
          <a:p>
            <a:pPr latinLnBrk="0"/>
            <a:r>
              <a:rPr lang="en-US" altLang="ko-KR" sz="1500" dirty="0">
                <a:latin typeface="+mj-lt"/>
              </a:rPr>
              <a:t>BOM</a:t>
            </a:r>
            <a:r>
              <a:rPr lang="ko-KR" altLang="en-US" sz="1500" dirty="0">
                <a:latin typeface="+mj-lt"/>
              </a:rPr>
              <a:t>데이터 항목이 있는지 확인하고 항목이 있으면 항목별로 추출해 주세요</a:t>
            </a:r>
            <a:r>
              <a:rPr lang="en-US" altLang="ko-KR" sz="1500" dirty="0">
                <a:latin typeface="+mj-lt"/>
              </a:rPr>
              <a:t>.  </a:t>
            </a:r>
            <a:r>
              <a:rPr lang="ko-KR" altLang="en-US" sz="1500" dirty="0">
                <a:latin typeface="+mj-lt"/>
              </a:rPr>
              <a:t>결과는 </a:t>
            </a:r>
            <a:r>
              <a:rPr lang="en-US" altLang="ko-KR" sz="1500" dirty="0">
                <a:latin typeface="+mj-lt"/>
              </a:rPr>
              <a:t>markdown</a:t>
            </a:r>
            <a:r>
              <a:rPr lang="ko-KR" altLang="en-US" sz="1500" dirty="0">
                <a:latin typeface="+mj-lt"/>
              </a:rPr>
              <a:t>양식으로 저장해 주세요</a:t>
            </a:r>
            <a:r>
              <a:rPr lang="en-US" altLang="ko-KR" sz="1500" dirty="0">
                <a:latin typeface="+mj-lt"/>
              </a:rPr>
              <a:t>.  </a:t>
            </a:r>
            <a:r>
              <a:rPr lang="ko-KR" altLang="en-US" sz="1500" dirty="0">
                <a:latin typeface="+mj-lt"/>
              </a:rPr>
              <a:t>모두 하나의 표형식으로 통합해서 만들되</a:t>
            </a:r>
            <a:r>
              <a:rPr lang="en-US" altLang="ko-KR" sz="1500" dirty="0">
                <a:latin typeface="+mj-lt"/>
              </a:rPr>
              <a:t>, </a:t>
            </a:r>
            <a:r>
              <a:rPr lang="ko-KR" altLang="en-US" sz="1500" dirty="0">
                <a:latin typeface="+mj-lt"/>
              </a:rPr>
              <a:t>헤더는 한글명으로 해주세요</a:t>
            </a:r>
            <a:r>
              <a:rPr lang="en-US" altLang="ko-KR" sz="1500" dirty="0">
                <a:latin typeface="+mj-lt"/>
              </a:rPr>
              <a:t>.  </a:t>
            </a:r>
            <a:r>
              <a:rPr lang="ko-KR" altLang="en-US" sz="1500" dirty="0">
                <a:latin typeface="+mj-lt"/>
              </a:rPr>
              <a:t>만약 표준물질명이 없다면 향후 </a:t>
            </a:r>
            <a:r>
              <a:rPr lang="en-US" altLang="ko-KR" sz="1500" dirty="0">
                <a:latin typeface="+mj-lt"/>
              </a:rPr>
              <a:t>LCI DB</a:t>
            </a:r>
            <a:r>
              <a:rPr lang="ko-KR" altLang="en-US" sz="1500" dirty="0">
                <a:latin typeface="+mj-lt"/>
              </a:rPr>
              <a:t>매핑에 용이하도록 항목을 추가해서 넣어주세요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B04F2-0F41-505D-937E-B8BB2D9C16B6}"/>
              </a:ext>
            </a:extLst>
          </p:cNvPr>
          <p:cNvSpPr txBox="1"/>
          <p:nvPr/>
        </p:nvSpPr>
        <p:spPr>
          <a:xfrm>
            <a:off x="629803" y="2579182"/>
            <a:ext cx="10953173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j-lt"/>
              </a:rPr>
              <a:t>[ BOM </a:t>
            </a:r>
            <a:r>
              <a:rPr lang="ko-KR" altLang="en-US" sz="1600" b="1" dirty="0">
                <a:latin typeface="+mj-lt"/>
              </a:rPr>
              <a:t>샘플 테스트 결과</a:t>
            </a:r>
            <a:r>
              <a:rPr lang="en-US" altLang="ko-KR" sz="1600" b="1" dirty="0">
                <a:latin typeface="+mj-lt"/>
              </a:rPr>
              <a:t>]</a:t>
            </a:r>
          </a:p>
          <a:p>
            <a:endParaRPr lang="en-US" altLang="ko-KR" sz="1500" dirty="0">
              <a:latin typeface="+mj-lt"/>
            </a:endParaRPr>
          </a:p>
          <a:p>
            <a:pPr marL="355600" indent="-355600">
              <a:buAutoNum type="arabicParenBoth"/>
            </a:pPr>
            <a:r>
              <a:rPr lang="ko-KR" altLang="en-US" sz="1500" dirty="0">
                <a:latin typeface="+mj-lt"/>
              </a:rPr>
              <a:t>이미지의 경우</a:t>
            </a:r>
            <a:r>
              <a:rPr lang="en-US" altLang="ko-KR" sz="1500" dirty="0">
                <a:latin typeface="+mj-lt"/>
              </a:rPr>
              <a:t>, VLM</a:t>
            </a:r>
            <a:r>
              <a:rPr lang="ko-KR" altLang="en-US" sz="1500" dirty="0">
                <a:latin typeface="+mj-lt"/>
              </a:rPr>
              <a:t>모델을 활용하면 </a:t>
            </a:r>
            <a:r>
              <a:rPr lang="ko-KR" altLang="en-US" sz="1500" dirty="0" err="1">
                <a:latin typeface="+mj-lt"/>
              </a:rPr>
              <a:t>행렬데이터값을</a:t>
            </a:r>
            <a:r>
              <a:rPr lang="ko-KR" altLang="en-US" sz="1500" dirty="0">
                <a:latin typeface="+mj-lt"/>
              </a:rPr>
              <a:t> 정확하게 추출해서 </a:t>
            </a:r>
            <a:r>
              <a:rPr lang="en-US" altLang="ko-KR" sz="1500" dirty="0">
                <a:latin typeface="+mj-lt"/>
              </a:rPr>
              <a:t>Markdown</a:t>
            </a:r>
            <a:r>
              <a:rPr lang="ko-KR" altLang="en-US" sz="1500" dirty="0">
                <a:latin typeface="+mj-lt"/>
              </a:rPr>
              <a:t>형식</a:t>
            </a:r>
            <a:r>
              <a:rPr lang="en-US" altLang="ko-KR" sz="1500" dirty="0">
                <a:latin typeface="+mj-lt"/>
              </a:rPr>
              <a:t>(</a:t>
            </a:r>
            <a:r>
              <a:rPr lang="ko-KR" altLang="en-US" sz="1500" dirty="0">
                <a:latin typeface="+mj-lt"/>
              </a:rPr>
              <a:t>표</a:t>
            </a:r>
            <a:r>
              <a:rPr lang="en-US" altLang="ko-KR" sz="1500" dirty="0">
                <a:latin typeface="+mj-lt"/>
              </a:rPr>
              <a:t>)</a:t>
            </a:r>
            <a:r>
              <a:rPr lang="ko-KR" altLang="en-US" sz="1500" dirty="0">
                <a:latin typeface="+mj-lt"/>
              </a:rPr>
              <a:t>로</a:t>
            </a:r>
            <a:r>
              <a:rPr lang="en-US" altLang="ko-KR" sz="1500" dirty="0">
                <a:latin typeface="+mj-lt"/>
              </a:rPr>
              <a:t> </a:t>
            </a:r>
            <a:r>
              <a:rPr lang="ko-KR" altLang="en-US" sz="1500" dirty="0">
                <a:latin typeface="+mj-lt"/>
              </a:rPr>
              <a:t>추출</a:t>
            </a:r>
            <a:endParaRPr lang="en-US" altLang="ko-KR" sz="1500" dirty="0">
              <a:latin typeface="+mj-lt"/>
            </a:endParaRPr>
          </a:p>
          <a:p>
            <a:pPr marL="355600" indent="-355600"/>
            <a:r>
              <a:rPr lang="en-US" altLang="ko-KR" sz="1500" dirty="0">
                <a:latin typeface="+mj-lt"/>
              </a:rPr>
              <a:t>     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 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굳이 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VLM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모델을 설치하지 않고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외부 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API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를 사용하는 것 권장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(hugging face Qwen 3.8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로도 충분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)</a:t>
            </a:r>
            <a:endParaRPr lang="en-US" altLang="ko-KR" sz="1500" dirty="0">
              <a:latin typeface="+mj-lt"/>
            </a:endParaRPr>
          </a:p>
          <a:p>
            <a:pPr marL="355600" indent="-355600">
              <a:buAutoNum type="arabicParenBoth"/>
            </a:pPr>
            <a:endParaRPr lang="en-US" altLang="ko-KR" sz="1500" dirty="0">
              <a:latin typeface="+mj-lt"/>
            </a:endParaRPr>
          </a:p>
          <a:p>
            <a:pPr marL="355600" indent="-355600"/>
            <a:r>
              <a:rPr lang="en-US" altLang="ko-KR" sz="1500" dirty="0">
                <a:latin typeface="+mj-lt"/>
              </a:rPr>
              <a:t>(2) </a:t>
            </a:r>
            <a:r>
              <a:rPr lang="ko-KR" altLang="en-US" sz="1500" dirty="0">
                <a:latin typeface="+mj-lt"/>
              </a:rPr>
              <a:t>엑셀과 한글파일은 테스트 단계에는 </a:t>
            </a:r>
            <a:r>
              <a:rPr lang="ko-KR" altLang="en-US" sz="1500" dirty="0" err="1">
                <a:latin typeface="+mj-lt"/>
              </a:rPr>
              <a:t>파싱구현이</a:t>
            </a:r>
            <a:r>
              <a:rPr lang="ko-KR" altLang="en-US" sz="1500" dirty="0">
                <a:latin typeface="+mj-lt"/>
              </a:rPr>
              <a:t> 용이하지 않아서</a:t>
            </a:r>
            <a:r>
              <a:rPr lang="en-US" altLang="ko-KR" sz="1500" dirty="0">
                <a:latin typeface="+mj-lt"/>
              </a:rPr>
              <a:t>, </a:t>
            </a:r>
            <a:r>
              <a:rPr lang="ko-KR" altLang="en-US" sz="1500" dirty="0">
                <a:latin typeface="+mj-lt"/>
              </a:rPr>
              <a:t>화면을 긁어서 로컬 </a:t>
            </a:r>
            <a:r>
              <a:rPr lang="en-US" altLang="ko-KR" sz="1500" dirty="0">
                <a:latin typeface="+mj-lt"/>
              </a:rPr>
              <a:t>gpt-oss-120B</a:t>
            </a:r>
            <a:r>
              <a:rPr lang="ko-KR" altLang="en-US" sz="1500" dirty="0">
                <a:latin typeface="+mj-lt"/>
              </a:rPr>
              <a:t>로 테스트 한 결과 항목 추출</a:t>
            </a:r>
            <a:r>
              <a:rPr lang="en-US" altLang="ko-KR" sz="1500" dirty="0">
                <a:latin typeface="+mj-lt"/>
              </a:rPr>
              <a:t>, LCI</a:t>
            </a:r>
            <a:r>
              <a:rPr lang="ko-KR" altLang="en-US" sz="1500" dirty="0">
                <a:latin typeface="+mj-lt"/>
              </a:rPr>
              <a:t> </a:t>
            </a:r>
            <a:r>
              <a:rPr lang="en-US" altLang="ko-KR" sz="1500" dirty="0">
                <a:latin typeface="+mj-lt"/>
              </a:rPr>
              <a:t>DB</a:t>
            </a:r>
            <a:r>
              <a:rPr lang="ko-KR" altLang="en-US" sz="1500" dirty="0">
                <a:latin typeface="+mj-lt"/>
              </a:rPr>
              <a:t>를 고려한 </a:t>
            </a:r>
            <a:r>
              <a:rPr lang="ko-KR" altLang="en-US" sz="1500" dirty="0" err="1">
                <a:latin typeface="+mj-lt"/>
              </a:rPr>
              <a:t>물질명</a:t>
            </a:r>
            <a:r>
              <a:rPr lang="ko-KR" altLang="en-US" sz="1500" dirty="0">
                <a:latin typeface="+mj-lt"/>
              </a:rPr>
              <a:t> 추출을 잘해주고 있음  </a:t>
            </a:r>
            <a:r>
              <a:rPr lang="en-US" altLang="ko-KR" sz="1500" dirty="0">
                <a:latin typeface="+mj-lt"/>
              </a:rPr>
              <a:t>-</a:t>
            </a:r>
            <a:r>
              <a:rPr lang="ko-KR" altLang="en-US" sz="1500" dirty="0">
                <a:latin typeface="+mj-lt"/>
              </a:rPr>
              <a:t>   찾아준 물질명이 정확한지는 검증 필요</a:t>
            </a:r>
            <a:endParaRPr lang="en-US" altLang="ko-KR" sz="1500" dirty="0">
              <a:latin typeface="+mj-lt"/>
            </a:endParaRPr>
          </a:p>
          <a:p>
            <a:pPr marL="355600" indent="-355600" latinLnBrk="0">
              <a:buFont typeface="Wingdings" panose="05000000000000000000" pitchFamily="2" charset="2"/>
              <a:buChar char="è"/>
            </a:pP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향후 파싱을 한 후 지금 로컬에서 사용중인 모델에 표준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BOM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항목을 알려주고 현재 올린 파일 내용을 매핑해서 달라고 하면 수작업보다는 나을 것 같음</a:t>
            </a:r>
            <a:endParaRPr lang="en-US" altLang="ko-KR" sz="1500" dirty="0">
              <a:latin typeface="+mj-lt"/>
              <a:sym typeface="Wingdings" panose="05000000000000000000" pitchFamily="2" charset="2"/>
            </a:endParaRPr>
          </a:p>
          <a:p>
            <a:pPr marL="355600" indent="-355600">
              <a:buFont typeface="Wingdings" panose="05000000000000000000" pitchFamily="2" charset="2"/>
              <a:buChar char="è"/>
            </a:pP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그러나 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LCI DB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매칭 단계에서 하는 것보다는 그전에 표준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BOM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을 생성할 때 사용하는 기능으로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(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예를 들어 표준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BOM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등록 이라는 화면을 만들고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엑셀로 업로드 할 때 </a:t>
            </a:r>
            <a:r>
              <a:rPr lang="ko-KR" altLang="en-US" sz="1500" dirty="0" err="1">
                <a:latin typeface="+mj-lt"/>
                <a:sym typeface="Wingdings" panose="05000000000000000000" pitchFamily="2" charset="2"/>
              </a:rPr>
              <a:t>매핑되는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 것을 찾아서 넣게 하고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, 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없거나 안되는 것 등은 추천되는 값을 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LLM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을 통해 값을 찾아 넣게 한 후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(API 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및 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UI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개발 필요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), 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사용자가 최종 검토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/confirm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을 한 후 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LCI DB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매칭을 요청하게 하는 방안</a:t>
            </a:r>
            <a:endParaRPr lang="en-US" altLang="ko-KR" sz="1500" dirty="0">
              <a:latin typeface="+mj-lt"/>
              <a:sym typeface="Wingdings" panose="05000000000000000000" pitchFamily="2" charset="2"/>
            </a:endParaRPr>
          </a:p>
          <a:p>
            <a:pPr marL="355600" indent="-355600"/>
            <a:endParaRPr lang="en-US" altLang="ko-KR" sz="1500" dirty="0">
              <a:latin typeface="+mj-lt"/>
              <a:sym typeface="Wingdings" panose="05000000000000000000" pitchFamily="2" charset="2"/>
            </a:endParaRPr>
          </a:p>
          <a:p>
            <a:pPr marL="355600" indent="-355600"/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(3) 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한글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/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엑셀 </a:t>
            </a:r>
            <a:r>
              <a:rPr lang="ko-KR" altLang="en-US" sz="1500" dirty="0" err="1">
                <a:latin typeface="+mj-lt"/>
                <a:sym typeface="Wingdings" panose="05000000000000000000" pitchFamily="2" charset="2"/>
              </a:rPr>
              <a:t>파싱하는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 로직을 반영해야 되는데 구조정보나 메타정보가 필요하지 않으므로 개발자와 </a:t>
            </a:r>
            <a:r>
              <a:rPr lang="ko-KR" altLang="en-US" sz="1500" dirty="0" err="1">
                <a:latin typeface="+mj-lt"/>
                <a:sym typeface="Wingdings" panose="05000000000000000000" pitchFamily="2" charset="2"/>
              </a:rPr>
              <a:t>협의후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 진행여부 판단 예정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(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값을 보고 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LLM</a:t>
            </a:r>
            <a:r>
              <a:rPr lang="ko-KR" altLang="en-US" sz="1500" dirty="0">
                <a:latin typeface="+mj-lt"/>
                <a:sym typeface="Wingdings" panose="05000000000000000000" pitchFamily="2" charset="2"/>
              </a:rPr>
              <a:t>이 알아서 판단해줌</a:t>
            </a:r>
            <a:r>
              <a:rPr lang="en-US" altLang="ko-KR" sz="1500" dirty="0">
                <a:latin typeface="+mj-lt"/>
                <a:sym typeface="Wingdings" panose="05000000000000000000" pitchFamily="2" charset="2"/>
              </a:rPr>
              <a:t>)</a:t>
            </a:r>
            <a:endParaRPr lang="ko-KR" altLang="en-US" sz="1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853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02514-6C72-61D7-17BF-D9C70DFDA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3549F9-5D08-DDBF-C2F9-8B294BC406E4}"/>
              </a:ext>
            </a:extLst>
          </p:cNvPr>
          <p:cNvSpPr txBox="1"/>
          <p:nvPr/>
        </p:nvSpPr>
        <p:spPr>
          <a:xfrm>
            <a:off x="353290" y="935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KakaoTalk_20260521_161838677.png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E49087-3268-C2E6-FA46-F62C55D0E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35" y="879889"/>
            <a:ext cx="3596952" cy="50982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51C44F-055A-F06C-884F-14E6FE77318D}"/>
              </a:ext>
            </a:extLst>
          </p:cNvPr>
          <p:cNvSpPr txBox="1"/>
          <p:nvPr/>
        </p:nvSpPr>
        <p:spPr>
          <a:xfrm>
            <a:off x="353290" y="452643"/>
            <a:ext cx="4491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비공개유료서비스</a:t>
            </a:r>
            <a:r>
              <a:rPr lang="en-US" altLang="ko-KR" dirty="0"/>
              <a:t>: Claude Opus 5(VLM)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B59F7CF-62AD-EC14-5AF0-8ED17552ED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887"/>
          <a:stretch>
            <a:fillRect/>
          </a:stretch>
        </p:blipFill>
        <p:spPr>
          <a:xfrm>
            <a:off x="5143492" y="278213"/>
            <a:ext cx="6202695" cy="569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28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40BA7-0D98-0551-FC3D-909698135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C713FD-4E23-FCF4-2B21-BD293BE777CD}"/>
              </a:ext>
            </a:extLst>
          </p:cNvPr>
          <p:cNvSpPr txBox="1"/>
          <p:nvPr/>
        </p:nvSpPr>
        <p:spPr>
          <a:xfrm>
            <a:off x="353290" y="935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j-lt"/>
              </a:rPr>
              <a:t>KakaoTalk_20260521_161838677.png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7A5C11-1FD9-9D94-0B95-2AFDE0F70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35" y="958344"/>
            <a:ext cx="3596952" cy="50982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67B34D-24D6-CEBB-3B0F-3EF9ACCC19B9}"/>
              </a:ext>
            </a:extLst>
          </p:cNvPr>
          <p:cNvSpPr txBox="1"/>
          <p:nvPr/>
        </p:nvSpPr>
        <p:spPr>
          <a:xfrm>
            <a:off x="353290" y="452643"/>
            <a:ext cx="599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lt"/>
              </a:rPr>
              <a:t>(</a:t>
            </a:r>
            <a:r>
              <a:rPr lang="ko-KR" altLang="en-US" dirty="0">
                <a:latin typeface="+mj-lt"/>
              </a:rPr>
              <a:t>오픈소스 </a:t>
            </a:r>
            <a:r>
              <a:rPr lang="en-US" altLang="ko-KR" dirty="0">
                <a:latin typeface="+mj-lt"/>
              </a:rPr>
              <a:t>H/F Qwen3.8-27B (VLM) – </a:t>
            </a:r>
            <a:r>
              <a:rPr lang="en-US" altLang="ko-KR" b="1" dirty="0">
                <a:solidFill>
                  <a:srgbClr val="FF0000"/>
                </a:solidFill>
                <a:latin typeface="+mj-lt"/>
              </a:rPr>
              <a:t>thinking</a:t>
            </a:r>
            <a:r>
              <a:rPr lang="ko-KR" altLang="en-US" b="1" dirty="0">
                <a:solidFill>
                  <a:srgbClr val="FF0000"/>
                </a:solidFill>
                <a:latin typeface="+mj-lt"/>
              </a:rPr>
              <a:t>모드 체크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41774-55A7-7BF6-D4F0-713BD93E593B}"/>
              </a:ext>
            </a:extLst>
          </p:cNvPr>
          <p:cNvSpPr txBox="1"/>
          <p:nvPr/>
        </p:nvSpPr>
        <p:spPr>
          <a:xfrm>
            <a:off x="6316980" y="141225"/>
            <a:ext cx="52932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+mj-lt"/>
              </a:rPr>
              <a:t>첨부 이미지 파일의 텍스트를 추출하여 주세요.  결과를 </a:t>
            </a:r>
            <a:r>
              <a:rPr lang="ko-KR" altLang="en-US" sz="1100" dirty="0" err="1">
                <a:latin typeface="+mj-lt"/>
              </a:rPr>
              <a:t>markdown포맷으로</a:t>
            </a:r>
            <a:r>
              <a:rPr lang="ko-KR" altLang="en-US" sz="1100" dirty="0">
                <a:latin typeface="+mj-lt"/>
              </a:rPr>
              <a:t> 만들어 주세요. 항목을 </a:t>
            </a:r>
            <a:r>
              <a:rPr lang="ko-KR" altLang="en-US" sz="1100" dirty="0" err="1">
                <a:latin typeface="+mj-lt"/>
              </a:rPr>
              <a:t>BOM항목처럼</a:t>
            </a:r>
            <a:r>
              <a:rPr lang="ko-KR" altLang="en-US" sz="1100" dirty="0">
                <a:latin typeface="+mj-lt"/>
              </a:rPr>
              <a:t> 만들어 주되, 향후 LCI DB 매칭을 하려고 합니다.  표준 물질명을 </a:t>
            </a:r>
            <a:r>
              <a:rPr lang="ko-KR" altLang="en-US" sz="1100" dirty="0" err="1">
                <a:latin typeface="+mj-lt"/>
              </a:rPr>
              <a:t>알수</a:t>
            </a:r>
            <a:r>
              <a:rPr lang="ko-KR" altLang="en-US" sz="1100" dirty="0">
                <a:latin typeface="+mj-lt"/>
              </a:rPr>
              <a:t> 있으면 컬럼을 추가해 주세요.  그리고 </a:t>
            </a:r>
            <a:r>
              <a:rPr lang="ko-KR" altLang="en-US" sz="1100" dirty="0" err="1">
                <a:latin typeface="+mj-lt"/>
              </a:rPr>
              <a:t>여러개</a:t>
            </a:r>
            <a:r>
              <a:rPr lang="ko-KR" altLang="en-US" sz="1100" dirty="0">
                <a:latin typeface="+mj-lt"/>
              </a:rPr>
              <a:t> 표는 하나의 표로 통합해 주세요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5A79C4-C7A2-CAF5-FF9B-2F5B90458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660" y="1133393"/>
            <a:ext cx="4065962" cy="501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2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980EC-5807-35A4-B1F4-057F7967F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AFB602-F6F0-D19F-76C2-E66563FB4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90" y="1296899"/>
            <a:ext cx="8344623" cy="38789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E03299-F726-ACC5-A755-B95531903386}"/>
              </a:ext>
            </a:extLst>
          </p:cNvPr>
          <p:cNvSpPr txBox="1"/>
          <p:nvPr/>
        </p:nvSpPr>
        <p:spPr>
          <a:xfrm>
            <a:off x="353290" y="935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KakaoTalk_20260521_162007152.png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CA54B-1E21-A636-19FA-781413C99513}"/>
              </a:ext>
            </a:extLst>
          </p:cNvPr>
          <p:cNvSpPr txBox="1"/>
          <p:nvPr/>
        </p:nvSpPr>
        <p:spPr>
          <a:xfrm>
            <a:off x="353290" y="452643"/>
            <a:ext cx="599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오픈소스 </a:t>
            </a:r>
            <a:r>
              <a:rPr lang="en-US" altLang="ko-KR" dirty="0"/>
              <a:t>H/F Qwen3.8-27B (VLM) – </a:t>
            </a:r>
            <a:r>
              <a:rPr lang="en-US" altLang="ko-KR" b="1" dirty="0">
                <a:solidFill>
                  <a:srgbClr val="FF0000"/>
                </a:solidFill>
              </a:rPr>
              <a:t>thinking</a:t>
            </a:r>
            <a:r>
              <a:rPr lang="ko-KR" altLang="en-US" b="1" dirty="0">
                <a:solidFill>
                  <a:srgbClr val="FF0000"/>
                </a:solidFill>
              </a:rPr>
              <a:t>모드 체크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B7BA2C-D9E8-4BDB-11A8-A5D98E963F4F}"/>
              </a:ext>
            </a:extLst>
          </p:cNvPr>
          <p:cNvSpPr txBox="1"/>
          <p:nvPr/>
        </p:nvSpPr>
        <p:spPr>
          <a:xfrm>
            <a:off x="6316980" y="141225"/>
            <a:ext cx="529328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첨부 이미지 파일의 텍스트를 추출하여 주세요</a:t>
            </a:r>
            <a:r>
              <a:rPr lang="en-US" altLang="ko-KR" sz="1100" dirty="0"/>
              <a:t>.  </a:t>
            </a:r>
            <a:r>
              <a:rPr lang="ko-KR" altLang="en-US" sz="1100" dirty="0"/>
              <a:t>결과를 </a:t>
            </a:r>
            <a:r>
              <a:rPr lang="en-US" altLang="ko-KR" sz="1100" dirty="0"/>
              <a:t>markdown</a:t>
            </a:r>
            <a:r>
              <a:rPr lang="ko-KR" altLang="en-US" sz="1100" dirty="0"/>
              <a:t>포맷으로 만들어 주세요</a:t>
            </a:r>
            <a:r>
              <a:rPr lang="en-US" altLang="ko-KR" sz="1100" dirty="0"/>
              <a:t>. </a:t>
            </a:r>
            <a:r>
              <a:rPr lang="ko-KR" altLang="en-US" sz="1100" dirty="0"/>
              <a:t>항목을 </a:t>
            </a:r>
            <a:r>
              <a:rPr lang="en-US" altLang="ko-KR" sz="1100" dirty="0"/>
              <a:t>BOM</a:t>
            </a:r>
            <a:r>
              <a:rPr lang="ko-KR" altLang="en-US" sz="1100" dirty="0"/>
              <a:t>항목처럼 만들어 주되</a:t>
            </a:r>
            <a:r>
              <a:rPr lang="en-US" altLang="ko-KR" sz="1100" dirty="0"/>
              <a:t>, </a:t>
            </a:r>
            <a:r>
              <a:rPr lang="ko-KR" altLang="en-US" sz="1100" dirty="0"/>
              <a:t>향후 </a:t>
            </a:r>
            <a:r>
              <a:rPr lang="en-US" altLang="ko-KR" sz="1100" dirty="0"/>
              <a:t>LCI DB </a:t>
            </a:r>
            <a:r>
              <a:rPr lang="ko-KR" altLang="en-US" sz="1100" dirty="0"/>
              <a:t>매칭을 하려고 합니다</a:t>
            </a:r>
            <a:r>
              <a:rPr lang="en-US" altLang="ko-KR" sz="1100" dirty="0"/>
              <a:t>.  </a:t>
            </a:r>
            <a:r>
              <a:rPr lang="ko-KR" altLang="en-US" sz="1100" dirty="0"/>
              <a:t>표준 물질명을 </a:t>
            </a:r>
            <a:r>
              <a:rPr lang="ko-KR" altLang="en-US" sz="1100" dirty="0" err="1"/>
              <a:t>알수</a:t>
            </a:r>
            <a:r>
              <a:rPr lang="ko-KR" altLang="en-US" sz="1100" dirty="0"/>
              <a:t> 있으면 컬럼을 추가해 주세요</a:t>
            </a:r>
            <a:r>
              <a:rPr lang="en-US" altLang="ko-KR" sz="1100" dirty="0"/>
              <a:t>.  </a:t>
            </a:r>
            <a:r>
              <a:rPr lang="ko-KR" altLang="en-US" sz="1100" dirty="0"/>
              <a:t>그리고 </a:t>
            </a:r>
            <a:r>
              <a:rPr lang="ko-KR" altLang="en-US" sz="1100" dirty="0" err="1"/>
              <a:t>여러개</a:t>
            </a:r>
            <a:r>
              <a:rPr lang="ko-KR" altLang="en-US" sz="1100" dirty="0"/>
              <a:t> 표는 하나의 표로 통합해 주세요</a:t>
            </a:r>
            <a:r>
              <a:rPr lang="en-US" altLang="ko-KR" sz="1100" dirty="0"/>
              <a:t>.  LCI DB</a:t>
            </a:r>
            <a:r>
              <a:rPr lang="ko-KR" altLang="en-US" sz="1100" dirty="0"/>
              <a:t>매칭을 위해서 </a:t>
            </a:r>
            <a:r>
              <a:rPr lang="ko-KR" altLang="en-US" sz="1100" dirty="0" err="1"/>
              <a:t>물질명</a:t>
            </a:r>
            <a:r>
              <a:rPr lang="en-US" altLang="ko-KR" sz="1100" dirty="0"/>
              <a:t>, </a:t>
            </a:r>
            <a:r>
              <a:rPr lang="ko-KR" altLang="en-US" sz="1100" dirty="0"/>
              <a:t>설명</a:t>
            </a:r>
            <a:r>
              <a:rPr lang="en-US" altLang="ko-KR" sz="1100" dirty="0"/>
              <a:t>, </a:t>
            </a:r>
            <a:r>
              <a:rPr lang="ko-KR" altLang="en-US" sz="1100" dirty="0"/>
              <a:t>단위</a:t>
            </a:r>
            <a:r>
              <a:rPr lang="en-US" altLang="ko-KR" sz="1100" dirty="0"/>
              <a:t>, </a:t>
            </a:r>
            <a:r>
              <a:rPr lang="ko-KR" altLang="en-US" sz="1100" dirty="0"/>
              <a:t>지역</a:t>
            </a:r>
            <a:r>
              <a:rPr lang="en-US" altLang="ko-KR" sz="1100" dirty="0"/>
              <a:t>, </a:t>
            </a:r>
            <a:r>
              <a:rPr lang="ko-KR" altLang="en-US" sz="1100" dirty="0"/>
              <a:t>공정</a:t>
            </a:r>
            <a:r>
              <a:rPr lang="en-US" altLang="ko-KR" sz="1100" dirty="0"/>
              <a:t>, CAS</a:t>
            </a:r>
            <a:r>
              <a:rPr lang="ko-KR" altLang="en-US" sz="1100" dirty="0"/>
              <a:t>번호</a:t>
            </a:r>
            <a:r>
              <a:rPr lang="en-US" altLang="ko-KR" sz="1100" dirty="0"/>
              <a:t>, LCI DB</a:t>
            </a:r>
            <a:r>
              <a:rPr lang="ko-KR" altLang="en-US" sz="1100" dirty="0"/>
              <a:t>매칭을 위한 표준물질명 필요합니다</a:t>
            </a:r>
            <a:r>
              <a:rPr lang="en-US" altLang="ko-KR" sz="1100" dirty="0"/>
              <a:t>.  </a:t>
            </a:r>
            <a:r>
              <a:rPr lang="ko-KR" altLang="en-US" sz="1100" dirty="0"/>
              <a:t>이 항목에 매핑해서 만들어 주되</a:t>
            </a:r>
            <a:r>
              <a:rPr lang="en-US" altLang="ko-KR" sz="1100" dirty="0"/>
              <a:t>, </a:t>
            </a:r>
            <a:r>
              <a:rPr lang="ko-KR" altLang="en-US" sz="1100" dirty="0"/>
              <a:t>없는 값은 추가해 주되 </a:t>
            </a:r>
            <a:r>
              <a:rPr lang="ko-KR" altLang="en-US" sz="1100" dirty="0" err="1"/>
              <a:t>값뒤에</a:t>
            </a:r>
            <a:r>
              <a:rPr lang="ko-KR" altLang="en-US" sz="1100" dirty="0"/>
              <a:t> *를 넣어주세요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0322EF-AF84-DE0C-D9E0-537F15F9D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314" y="1560639"/>
            <a:ext cx="6728662" cy="683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92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C1183-FD66-BB95-312C-4CB1589A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69FE49-E3A4-7A96-9B98-1A917B9D4561}"/>
              </a:ext>
            </a:extLst>
          </p:cNvPr>
          <p:cNvSpPr txBox="1"/>
          <p:nvPr/>
        </p:nvSpPr>
        <p:spPr>
          <a:xfrm>
            <a:off x="353290" y="935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KakaoTalk_20260521_162020861.png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FE66D-1BD9-C8EF-849E-3C112077AF09}"/>
              </a:ext>
            </a:extLst>
          </p:cNvPr>
          <p:cNvSpPr txBox="1"/>
          <p:nvPr/>
        </p:nvSpPr>
        <p:spPr>
          <a:xfrm>
            <a:off x="353290" y="452643"/>
            <a:ext cx="599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오픈소스 </a:t>
            </a:r>
            <a:r>
              <a:rPr lang="en-US" altLang="ko-KR" dirty="0"/>
              <a:t>H/F Qwen3.8-27B (VLM) – </a:t>
            </a:r>
            <a:r>
              <a:rPr lang="en-US" altLang="ko-KR" b="1" dirty="0">
                <a:solidFill>
                  <a:srgbClr val="FF0000"/>
                </a:solidFill>
              </a:rPr>
              <a:t>thinking</a:t>
            </a:r>
            <a:r>
              <a:rPr lang="ko-KR" altLang="en-US" b="1" dirty="0">
                <a:solidFill>
                  <a:srgbClr val="FF0000"/>
                </a:solidFill>
              </a:rPr>
              <a:t>모드 체크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F2AA0-1400-127C-D76A-7D6C373D8A80}"/>
              </a:ext>
            </a:extLst>
          </p:cNvPr>
          <p:cNvSpPr txBox="1"/>
          <p:nvPr/>
        </p:nvSpPr>
        <p:spPr>
          <a:xfrm>
            <a:off x="6316980" y="141225"/>
            <a:ext cx="529328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첨부 이미지 파일의 텍스트를 추출하여 주세요</a:t>
            </a:r>
            <a:r>
              <a:rPr lang="en-US" altLang="ko-KR" sz="1100" dirty="0"/>
              <a:t>.  </a:t>
            </a:r>
            <a:r>
              <a:rPr lang="ko-KR" altLang="en-US" sz="1100" dirty="0"/>
              <a:t>결과를 </a:t>
            </a:r>
            <a:r>
              <a:rPr lang="en-US" altLang="ko-KR" sz="1100" dirty="0"/>
              <a:t>markdown</a:t>
            </a:r>
            <a:r>
              <a:rPr lang="ko-KR" altLang="en-US" sz="1100" dirty="0"/>
              <a:t>포맷으로 만들어 주세요</a:t>
            </a:r>
            <a:r>
              <a:rPr lang="en-US" altLang="ko-KR" sz="1100" dirty="0"/>
              <a:t>. </a:t>
            </a:r>
            <a:r>
              <a:rPr lang="ko-KR" altLang="en-US" sz="1100" dirty="0"/>
              <a:t>항목을 </a:t>
            </a:r>
            <a:r>
              <a:rPr lang="en-US" altLang="ko-KR" sz="1100" dirty="0"/>
              <a:t>BOM</a:t>
            </a:r>
            <a:r>
              <a:rPr lang="ko-KR" altLang="en-US" sz="1100" dirty="0"/>
              <a:t>항목처럼 만들어 주되</a:t>
            </a:r>
            <a:r>
              <a:rPr lang="en-US" altLang="ko-KR" sz="1100" dirty="0"/>
              <a:t>, </a:t>
            </a:r>
            <a:r>
              <a:rPr lang="ko-KR" altLang="en-US" sz="1100" dirty="0"/>
              <a:t>향후 </a:t>
            </a:r>
            <a:r>
              <a:rPr lang="en-US" altLang="ko-KR" sz="1100" dirty="0"/>
              <a:t>LCI DB </a:t>
            </a:r>
            <a:r>
              <a:rPr lang="ko-KR" altLang="en-US" sz="1100" dirty="0"/>
              <a:t>매칭을 하려고 합니다</a:t>
            </a:r>
            <a:r>
              <a:rPr lang="en-US" altLang="ko-KR" sz="1100" dirty="0"/>
              <a:t>.  </a:t>
            </a:r>
            <a:r>
              <a:rPr lang="ko-KR" altLang="en-US" sz="1100" dirty="0"/>
              <a:t>표준 물질명을 </a:t>
            </a:r>
            <a:r>
              <a:rPr lang="ko-KR" altLang="en-US" sz="1100" dirty="0" err="1"/>
              <a:t>알수</a:t>
            </a:r>
            <a:r>
              <a:rPr lang="ko-KR" altLang="en-US" sz="1100" dirty="0"/>
              <a:t> 있으면 컬럼을 추가해 주세요</a:t>
            </a:r>
            <a:r>
              <a:rPr lang="en-US" altLang="ko-KR" sz="1100" dirty="0"/>
              <a:t>.  </a:t>
            </a:r>
            <a:r>
              <a:rPr lang="ko-KR" altLang="en-US" sz="1100" dirty="0"/>
              <a:t>그리고 </a:t>
            </a:r>
            <a:r>
              <a:rPr lang="ko-KR" altLang="en-US" sz="1100" dirty="0" err="1"/>
              <a:t>여러개</a:t>
            </a:r>
            <a:r>
              <a:rPr lang="ko-KR" altLang="en-US" sz="1100" dirty="0"/>
              <a:t> 표는 하나의 표로 통합해 주세요</a:t>
            </a:r>
            <a:r>
              <a:rPr lang="en-US" altLang="ko-KR" sz="1100" dirty="0"/>
              <a:t>.  LCI DB</a:t>
            </a:r>
            <a:r>
              <a:rPr lang="ko-KR" altLang="en-US" sz="1100" dirty="0"/>
              <a:t>매칭을 위해서 </a:t>
            </a:r>
            <a:r>
              <a:rPr lang="ko-KR" altLang="en-US" sz="1100" dirty="0" err="1"/>
              <a:t>물질명</a:t>
            </a:r>
            <a:r>
              <a:rPr lang="en-US" altLang="ko-KR" sz="1100" dirty="0"/>
              <a:t>, </a:t>
            </a:r>
            <a:r>
              <a:rPr lang="ko-KR" altLang="en-US" sz="1100" dirty="0"/>
              <a:t>설명</a:t>
            </a:r>
            <a:r>
              <a:rPr lang="en-US" altLang="ko-KR" sz="1100" dirty="0"/>
              <a:t>, </a:t>
            </a:r>
            <a:r>
              <a:rPr lang="ko-KR" altLang="en-US" sz="1100" dirty="0"/>
              <a:t>단위</a:t>
            </a:r>
            <a:r>
              <a:rPr lang="en-US" altLang="ko-KR" sz="1100" dirty="0"/>
              <a:t>, </a:t>
            </a:r>
            <a:r>
              <a:rPr lang="ko-KR" altLang="en-US" sz="1100" dirty="0"/>
              <a:t>지역</a:t>
            </a:r>
            <a:r>
              <a:rPr lang="en-US" altLang="ko-KR" sz="1100" dirty="0"/>
              <a:t>, </a:t>
            </a:r>
            <a:r>
              <a:rPr lang="ko-KR" altLang="en-US" sz="1100" dirty="0"/>
              <a:t>공정</a:t>
            </a:r>
            <a:r>
              <a:rPr lang="en-US" altLang="ko-KR" sz="1100" dirty="0"/>
              <a:t>, CAS</a:t>
            </a:r>
            <a:r>
              <a:rPr lang="ko-KR" altLang="en-US" sz="1100" dirty="0"/>
              <a:t>번호</a:t>
            </a:r>
            <a:r>
              <a:rPr lang="en-US" altLang="ko-KR" sz="1100" dirty="0"/>
              <a:t>, LCI DB</a:t>
            </a:r>
            <a:r>
              <a:rPr lang="ko-KR" altLang="en-US" sz="1100" dirty="0"/>
              <a:t>매칭을 위한 표준물질명 필요합니다</a:t>
            </a:r>
            <a:r>
              <a:rPr lang="en-US" altLang="ko-KR" sz="1100" dirty="0"/>
              <a:t>.  </a:t>
            </a:r>
            <a:r>
              <a:rPr lang="ko-KR" altLang="en-US" sz="1100" dirty="0"/>
              <a:t>이 항목에 매핑해서 만들어 주되</a:t>
            </a:r>
            <a:r>
              <a:rPr lang="en-US" altLang="ko-KR" sz="1100" dirty="0"/>
              <a:t>, </a:t>
            </a:r>
            <a:r>
              <a:rPr lang="ko-KR" altLang="en-US" sz="1100" dirty="0"/>
              <a:t>없는 값은 추가해 주되 </a:t>
            </a:r>
            <a:r>
              <a:rPr lang="ko-KR" altLang="en-US" sz="1100" dirty="0" err="1"/>
              <a:t>값뒤에</a:t>
            </a:r>
            <a:r>
              <a:rPr lang="ko-KR" altLang="en-US" sz="1100" dirty="0"/>
              <a:t> *를 넣어주세요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5C861D-E430-95EF-0820-316121849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90" y="1296899"/>
            <a:ext cx="11088061" cy="38408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E855640-2ECE-FEA6-7813-652A4EAAE7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62"/>
          <a:stretch>
            <a:fillRect/>
          </a:stretch>
        </p:blipFill>
        <p:spPr>
          <a:xfrm>
            <a:off x="5562550" y="1724145"/>
            <a:ext cx="6802143" cy="491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02F8-3A33-394B-C0E7-FE3EC9FE9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2977032-7BB5-27F0-1EB4-72A2A05FE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16" y="826077"/>
            <a:ext cx="5900584" cy="447068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3718EF-14F5-95A7-3F2D-9E51A31B3761}"/>
              </a:ext>
            </a:extLst>
          </p:cNvPr>
          <p:cNvSpPr txBox="1"/>
          <p:nvPr/>
        </p:nvSpPr>
        <p:spPr>
          <a:xfrm>
            <a:off x="353290" y="935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240223_TPAA103 </a:t>
            </a:r>
            <a:r>
              <a:rPr lang="ko-KR" altLang="en-US" dirty="0"/>
              <a:t>자재투입현황</a:t>
            </a:r>
            <a:r>
              <a:rPr lang="en-US" altLang="ko-KR" dirty="0"/>
              <a:t>.xlsx</a:t>
            </a:r>
          </a:p>
          <a:p>
            <a:r>
              <a:rPr lang="en-US" altLang="ko-KR" dirty="0"/>
              <a:t>gpt-oss-120b</a:t>
            </a:r>
            <a:r>
              <a:rPr lang="en-US" altLang="ko-KR" b="1" dirty="0">
                <a:solidFill>
                  <a:srgbClr val="FF0000"/>
                </a:solidFill>
              </a:rPr>
              <a:t> thinking</a:t>
            </a:r>
            <a:r>
              <a:rPr lang="ko-KR" altLang="en-US" b="1" dirty="0">
                <a:solidFill>
                  <a:srgbClr val="FF0000"/>
                </a:solidFill>
              </a:rPr>
              <a:t> 체크</a:t>
            </a:r>
            <a:r>
              <a:rPr lang="en-US" altLang="ko-KR" b="1" dirty="0">
                <a:solidFill>
                  <a:srgbClr val="FF0000"/>
                </a:solidFill>
              </a:rPr>
              <a:t>, reason effort </a:t>
            </a:r>
            <a:r>
              <a:rPr lang="ko-KR" altLang="en-US" b="1" dirty="0">
                <a:solidFill>
                  <a:srgbClr val="FF0000"/>
                </a:solidFill>
              </a:rPr>
              <a:t>는 </a:t>
            </a:r>
            <a:r>
              <a:rPr lang="en-US" altLang="ko-KR" b="1" dirty="0">
                <a:solidFill>
                  <a:srgbClr val="FF0000"/>
                </a:solidFill>
              </a:rPr>
              <a:t>high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8FB706-D3A0-A9A1-FD40-BF2A43DC0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420" y="1820644"/>
            <a:ext cx="7191290" cy="429747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0F87CC4-F92F-505B-8ADE-184E9921D1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0724" b="2948"/>
          <a:stretch>
            <a:fillRect/>
          </a:stretch>
        </p:blipFill>
        <p:spPr>
          <a:xfrm>
            <a:off x="1078923" y="2015834"/>
            <a:ext cx="2665323" cy="44706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768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9606-4522-86CF-6E89-8977F2FA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5CE207B-D26C-D602-713F-7E913712C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90" y="850474"/>
            <a:ext cx="5920510" cy="41822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0C2430-8F17-A76B-317A-8B299D7D1220}"/>
              </a:ext>
            </a:extLst>
          </p:cNvPr>
          <p:cNvSpPr txBox="1"/>
          <p:nvPr/>
        </p:nvSpPr>
        <p:spPr>
          <a:xfrm>
            <a:off x="353290" y="935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240223_TPAA103 </a:t>
            </a:r>
            <a:r>
              <a:rPr lang="ko-KR" altLang="en-US" dirty="0"/>
              <a:t>자재투입현황</a:t>
            </a:r>
            <a:r>
              <a:rPr lang="en-US" altLang="ko-KR" dirty="0"/>
              <a:t>.xlsx</a:t>
            </a:r>
          </a:p>
          <a:p>
            <a:r>
              <a:rPr lang="en-US" altLang="ko-KR" dirty="0"/>
              <a:t>gpt-oss-120b </a:t>
            </a:r>
            <a:r>
              <a:rPr lang="en-US" altLang="ko-KR" b="1" dirty="0">
                <a:solidFill>
                  <a:srgbClr val="FF0000"/>
                </a:solidFill>
              </a:rPr>
              <a:t>thinking</a:t>
            </a:r>
            <a:r>
              <a:rPr lang="ko-KR" altLang="en-US" b="1" dirty="0">
                <a:solidFill>
                  <a:srgbClr val="FF0000"/>
                </a:solidFill>
              </a:rPr>
              <a:t> 체크</a:t>
            </a:r>
            <a:r>
              <a:rPr lang="en-US" altLang="ko-KR" b="1" dirty="0">
                <a:solidFill>
                  <a:srgbClr val="FF0000"/>
                </a:solidFill>
              </a:rPr>
              <a:t>, reason effort </a:t>
            </a:r>
            <a:r>
              <a:rPr lang="ko-KR" altLang="en-US" b="1" dirty="0">
                <a:solidFill>
                  <a:srgbClr val="FF0000"/>
                </a:solidFill>
              </a:rPr>
              <a:t>는 </a:t>
            </a:r>
            <a:r>
              <a:rPr lang="en-US" altLang="ko-KR" b="1" dirty="0">
                <a:solidFill>
                  <a:srgbClr val="FF0000"/>
                </a:solidFill>
              </a:rPr>
              <a:t>high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34E9B4-F58D-9825-D460-5A6D85144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600" y="2407302"/>
            <a:ext cx="6445938" cy="396338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3F6FAAE-4793-9530-B4A7-4EADFFE10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90" y="3633024"/>
            <a:ext cx="3791637" cy="226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3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77530-E9B1-CA9B-0E27-AC90D4DC2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E7B41B4-0CF5-E40D-E4FB-1162F85E9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98" y="739878"/>
            <a:ext cx="7057077" cy="30989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385A70-833A-5943-5D9C-68593BE1ED39}"/>
              </a:ext>
            </a:extLst>
          </p:cNvPr>
          <p:cNvSpPr txBox="1"/>
          <p:nvPr/>
        </p:nvSpPr>
        <p:spPr>
          <a:xfrm>
            <a:off x="353290" y="935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TSJ-020-02[</a:t>
            </a:r>
            <a:r>
              <a:rPr lang="ko-KR" altLang="en-US" dirty="0"/>
              <a:t>자재목록표</a:t>
            </a:r>
            <a:r>
              <a:rPr lang="en-US" altLang="ko-KR" dirty="0"/>
              <a:t>].</a:t>
            </a:r>
            <a:r>
              <a:rPr lang="en-US" altLang="ko-KR" dirty="0" err="1"/>
              <a:t>hwp</a:t>
            </a:r>
            <a:endParaRPr lang="en-US" altLang="ko-KR" dirty="0"/>
          </a:p>
          <a:p>
            <a:r>
              <a:rPr lang="en-US" altLang="ko-KR" dirty="0"/>
              <a:t>gpt-oss-120b </a:t>
            </a:r>
            <a:r>
              <a:rPr lang="en-US" altLang="ko-KR" b="1" dirty="0">
                <a:solidFill>
                  <a:srgbClr val="FF0000"/>
                </a:solidFill>
              </a:rPr>
              <a:t>thinking</a:t>
            </a:r>
            <a:r>
              <a:rPr lang="ko-KR" altLang="en-US" b="1" dirty="0">
                <a:solidFill>
                  <a:srgbClr val="FF0000"/>
                </a:solidFill>
              </a:rPr>
              <a:t> 체크</a:t>
            </a:r>
            <a:r>
              <a:rPr lang="en-US" altLang="ko-KR" b="1" dirty="0">
                <a:solidFill>
                  <a:srgbClr val="FF0000"/>
                </a:solidFill>
              </a:rPr>
              <a:t>, reason effort </a:t>
            </a:r>
            <a:r>
              <a:rPr lang="ko-KR" altLang="en-US" b="1" dirty="0">
                <a:solidFill>
                  <a:srgbClr val="FF0000"/>
                </a:solidFill>
              </a:rPr>
              <a:t>는 </a:t>
            </a:r>
            <a:r>
              <a:rPr lang="en-US" altLang="ko-KR" b="1" dirty="0">
                <a:solidFill>
                  <a:srgbClr val="FF0000"/>
                </a:solidFill>
              </a:rPr>
              <a:t>high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4AD656F-C6CB-ABB4-042B-61F0D5E41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32" y="2128889"/>
            <a:ext cx="7758386" cy="36797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53F3D2-03C5-B36B-407C-B1D9EFA69874}"/>
              </a:ext>
            </a:extLst>
          </p:cNvPr>
          <p:cNvSpPr txBox="1"/>
          <p:nvPr/>
        </p:nvSpPr>
        <p:spPr>
          <a:xfrm>
            <a:off x="7686675" y="232047"/>
            <a:ext cx="43624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아래내용을 기준으로 결과를 </a:t>
            </a:r>
            <a:r>
              <a:rPr lang="ko-KR" altLang="en-US" sz="1200" dirty="0" err="1"/>
              <a:t>markdown포맷으로</a:t>
            </a:r>
            <a:r>
              <a:rPr lang="ko-KR" altLang="en-US" sz="1200" dirty="0"/>
              <a:t> 만들어 주세요. 항목을 </a:t>
            </a:r>
            <a:r>
              <a:rPr lang="ko-KR" altLang="en-US" sz="1200" dirty="0" err="1"/>
              <a:t>BOM항목처럼</a:t>
            </a:r>
            <a:r>
              <a:rPr lang="ko-KR" altLang="en-US" sz="1200" dirty="0"/>
              <a:t> 만들어 주되, 향후 LCI DB 매칭을 하려고 합니다.  표준 물질명을 </a:t>
            </a:r>
            <a:r>
              <a:rPr lang="ko-KR" altLang="en-US" sz="1200" dirty="0" err="1"/>
              <a:t>알수</a:t>
            </a:r>
            <a:r>
              <a:rPr lang="ko-KR" altLang="en-US" sz="1200" dirty="0"/>
              <a:t> 있으면 컬럼을 추가해 주세요.  그리고 </a:t>
            </a:r>
            <a:r>
              <a:rPr lang="ko-KR" altLang="en-US" sz="1200" dirty="0" err="1"/>
              <a:t>여러개</a:t>
            </a:r>
            <a:r>
              <a:rPr lang="ko-KR" altLang="en-US" sz="1200" dirty="0"/>
              <a:t> 표는 하나의 표로 통합해 주세요.  LCI </a:t>
            </a:r>
            <a:r>
              <a:rPr lang="ko-KR" altLang="en-US" sz="1200" dirty="0" err="1"/>
              <a:t>DB매칭을</a:t>
            </a:r>
            <a:r>
              <a:rPr lang="ko-KR" altLang="en-US" sz="1200" dirty="0"/>
              <a:t> 위해서 </a:t>
            </a:r>
            <a:r>
              <a:rPr lang="ko-KR" altLang="en-US" sz="1200" dirty="0" err="1"/>
              <a:t>물질명</a:t>
            </a:r>
            <a:r>
              <a:rPr lang="ko-KR" altLang="en-US" sz="1200" dirty="0"/>
              <a:t>, 설명, 단위, 지역, 년도, 공정, </a:t>
            </a:r>
            <a:r>
              <a:rPr lang="ko-KR" altLang="en-US" sz="1200" dirty="0" err="1"/>
              <a:t>CAS번호</a:t>
            </a:r>
            <a:r>
              <a:rPr lang="ko-KR" altLang="en-US" sz="1200" dirty="0"/>
              <a:t>, LCI </a:t>
            </a:r>
            <a:r>
              <a:rPr lang="ko-KR" altLang="en-US" sz="1200" dirty="0" err="1"/>
              <a:t>DB매칭을</a:t>
            </a:r>
            <a:r>
              <a:rPr lang="ko-KR" altLang="en-US" sz="1200" dirty="0"/>
              <a:t> 위한 표준물질명 필요합니다.  이 항목에 매핑해서 만들어 주되, 없는 값은 추가해 주되 </a:t>
            </a:r>
            <a:r>
              <a:rPr lang="ko-KR" altLang="en-US" sz="1200" dirty="0" err="1"/>
              <a:t>값뒤에</a:t>
            </a:r>
            <a:r>
              <a:rPr lang="ko-KR" altLang="en-US" sz="1200" dirty="0"/>
              <a:t> *를 넣어주세요.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0946206-0C80-13BA-F2A3-BCB4FB1D2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05" y="1801707"/>
            <a:ext cx="3818007" cy="470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1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A622B-1A6A-34F1-CF8F-DE31C7E3D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373366-F51F-005B-4AAE-C29373D73170}"/>
              </a:ext>
            </a:extLst>
          </p:cNvPr>
          <p:cNvSpPr txBox="1"/>
          <p:nvPr/>
        </p:nvSpPr>
        <p:spPr>
          <a:xfrm>
            <a:off x="353290" y="935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TSJ-020-02[</a:t>
            </a:r>
            <a:r>
              <a:rPr lang="ko-KR" altLang="en-US" dirty="0"/>
              <a:t>자재목록표</a:t>
            </a:r>
            <a:r>
              <a:rPr lang="en-US" altLang="ko-KR" dirty="0"/>
              <a:t>].</a:t>
            </a:r>
            <a:r>
              <a:rPr lang="en-US" altLang="ko-KR" dirty="0" err="1"/>
              <a:t>hwp</a:t>
            </a:r>
            <a:endParaRPr lang="en-US" altLang="ko-KR" dirty="0"/>
          </a:p>
          <a:p>
            <a:r>
              <a:rPr lang="en-US" altLang="ko-KR" dirty="0"/>
              <a:t>gpt-oss-120b low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D96CA-1A11-7321-EFD8-73B0E68443F4}"/>
              </a:ext>
            </a:extLst>
          </p:cNvPr>
          <p:cNvSpPr txBox="1"/>
          <p:nvPr/>
        </p:nvSpPr>
        <p:spPr>
          <a:xfrm>
            <a:off x="3221831" y="232047"/>
            <a:ext cx="88272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첨부  파일의 텍스트를 추출하여 주세요</a:t>
            </a:r>
            <a:r>
              <a:rPr lang="en-US" altLang="ko-KR" sz="1200" dirty="0"/>
              <a:t>.  </a:t>
            </a:r>
            <a:r>
              <a:rPr lang="ko-KR" altLang="en-US" sz="1200" dirty="0"/>
              <a:t>결과를 </a:t>
            </a:r>
            <a:r>
              <a:rPr lang="en-US" altLang="ko-KR" sz="1200" dirty="0"/>
              <a:t>markdown</a:t>
            </a:r>
            <a:r>
              <a:rPr lang="ko-KR" altLang="en-US" sz="1200" dirty="0"/>
              <a:t>포맷으로 만들어 주세요</a:t>
            </a:r>
            <a:r>
              <a:rPr lang="en-US" altLang="ko-KR" sz="1200" dirty="0"/>
              <a:t>. </a:t>
            </a:r>
            <a:r>
              <a:rPr lang="ko-KR" altLang="en-US" sz="1200" dirty="0"/>
              <a:t>항목을 </a:t>
            </a:r>
            <a:r>
              <a:rPr lang="en-US" altLang="ko-KR" sz="1200" dirty="0"/>
              <a:t>BOM</a:t>
            </a:r>
            <a:r>
              <a:rPr lang="ko-KR" altLang="en-US" sz="1200" dirty="0"/>
              <a:t>항목처럼 만들어 주되</a:t>
            </a:r>
            <a:r>
              <a:rPr lang="en-US" altLang="ko-KR" sz="1200" dirty="0"/>
              <a:t>, </a:t>
            </a:r>
            <a:r>
              <a:rPr lang="ko-KR" altLang="en-US" sz="1200" dirty="0"/>
              <a:t>향후 </a:t>
            </a:r>
            <a:r>
              <a:rPr lang="en-US" altLang="ko-KR" sz="1200" dirty="0"/>
              <a:t>LCI DB </a:t>
            </a:r>
            <a:r>
              <a:rPr lang="ko-KR" altLang="en-US" sz="1200" dirty="0"/>
              <a:t>매칭을 하려고 합니다</a:t>
            </a:r>
            <a:r>
              <a:rPr lang="en-US" altLang="ko-KR" sz="1200" dirty="0"/>
              <a:t>.  </a:t>
            </a:r>
            <a:r>
              <a:rPr lang="ko-KR" altLang="en-US" sz="1200" dirty="0"/>
              <a:t>표준 물질명을 </a:t>
            </a:r>
            <a:r>
              <a:rPr lang="ko-KR" altLang="en-US" sz="1200" dirty="0" err="1"/>
              <a:t>알수</a:t>
            </a:r>
            <a:r>
              <a:rPr lang="ko-KR" altLang="en-US" sz="1200" dirty="0"/>
              <a:t> 있으면 컬럼을 추가해 주세요</a:t>
            </a:r>
            <a:r>
              <a:rPr lang="en-US" altLang="ko-KR" sz="1200" dirty="0"/>
              <a:t>.  </a:t>
            </a:r>
            <a:r>
              <a:rPr lang="ko-KR" altLang="en-US" sz="1200" dirty="0"/>
              <a:t>그리고 </a:t>
            </a:r>
            <a:r>
              <a:rPr lang="ko-KR" altLang="en-US" sz="1200" dirty="0" err="1"/>
              <a:t>여러개</a:t>
            </a:r>
            <a:r>
              <a:rPr lang="ko-KR" altLang="en-US" sz="1200" dirty="0"/>
              <a:t> 표는 하나의 표로 통합해 주세요</a:t>
            </a:r>
            <a:r>
              <a:rPr lang="en-US" altLang="ko-KR" sz="1200" dirty="0"/>
              <a:t>.  LCI DB</a:t>
            </a:r>
            <a:r>
              <a:rPr lang="ko-KR" altLang="en-US" sz="1200" dirty="0"/>
              <a:t>매칭을 위해서 </a:t>
            </a:r>
            <a:r>
              <a:rPr lang="ko-KR" altLang="en-US" sz="1200" dirty="0" err="1"/>
              <a:t>물질명</a:t>
            </a:r>
            <a:r>
              <a:rPr lang="en-US" altLang="ko-KR" sz="1200" dirty="0"/>
              <a:t>, </a:t>
            </a:r>
            <a:r>
              <a:rPr lang="ko-KR" altLang="en-US" sz="1200" dirty="0"/>
              <a:t>설명</a:t>
            </a:r>
            <a:r>
              <a:rPr lang="en-US" altLang="ko-KR" sz="1200" dirty="0"/>
              <a:t>, </a:t>
            </a:r>
            <a:r>
              <a:rPr lang="ko-KR" altLang="en-US" sz="1200" dirty="0"/>
              <a:t>단위</a:t>
            </a:r>
            <a:r>
              <a:rPr lang="en-US" altLang="ko-KR" sz="1200" dirty="0"/>
              <a:t>, </a:t>
            </a:r>
            <a:r>
              <a:rPr lang="ko-KR" altLang="en-US" sz="1200" dirty="0"/>
              <a:t>지역</a:t>
            </a:r>
            <a:r>
              <a:rPr lang="en-US" altLang="ko-KR" sz="1200" dirty="0"/>
              <a:t>, </a:t>
            </a:r>
            <a:r>
              <a:rPr lang="ko-KR" altLang="en-US" sz="1200" dirty="0"/>
              <a:t>공정</a:t>
            </a:r>
            <a:r>
              <a:rPr lang="en-US" altLang="ko-KR" sz="1200" dirty="0"/>
              <a:t>, CAS</a:t>
            </a:r>
            <a:r>
              <a:rPr lang="ko-KR" altLang="en-US" sz="1200" dirty="0"/>
              <a:t>번호</a:t>
            </a:r>
            <a:r>
              <a:rPr lang="en-US" altLang="ko-KR" sz="1200" dirty="0"/>
              <a:t>, LCI DB</a:t>
            </a:r>
            <a:r>
              <a:rPr lang="ko-KR" altLang="en-US" sz="1200" dirty="0"/>
              <a:t>매칭을 위한 표준물질명 필요합니다</a:t>
            </a:r>
            <a:r>
              <a:rPr lang="en-US" altLang="ko-KR" sz="1200" dirty="0"/>
              <a:t>.  </a:t>
            </a:r>
            <a:r>
              <a:rPr lang="ko-KR" altLang="en-US" sz="1200" dirty="0"/>
              <a:t>이 항목에 매핑해서 만들어 주되</a:t>
            </a:r>
            <a:r>
              <a:rPr lang="en-US" altLang="ko-KR" sz="1200" dirty="0"/>
              <a:t>, </a:t>
            </a:r>
            <a:r>
              <a:rPr lang="ko-KR" altLang="en-US" sz="1200" dirty="0"/>
              <a:t>없는 값은 추가해 주되 </a:t>
            </a:r>
            <a:r>
              <a:rPr lang="ko-KR" altLang="en-US" sz="1200" dirty="0" err="1"/>
              <a:t>값뒤에</a:t>
            </a:r>
            <a:r>
              <a:rPr lang="ko-KR" altLang="en-US" sz="1200" dirty="0"/>
              <a:t> *를 넣어주세요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E28B21-B600-0529-8313-3F62731BE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9" y="1976734"/>
            <a:ext cx="7758386" cy="367972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D36E387-2A9D-4F39-5221-E115917D2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60" y="1201544"/>
            <a:ext cx="4696155" cy="551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77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6433C-F4F2-2D60-5DED-D37A667BF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F33EC6-E902-22CE-2539-1A2D588AF5A6}"/>
              </a:ext>
            </a:extLst>
          </p:cNvPr>
          <p:cNvSpPr txBox="1"/>
          <p:nvPr/>
        </p:nvSpPr>
        <p:spPr>
          <a:xfrm>
            <a:off x="353290" y="935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240223_TPAA103 </a:t>
            </a:r>
            <a:r>
              <a:rPr lang="ko-KR" altLang="en-US" dirty="0"/>
              <a:t>자재투입현황</a:t>
            </a:r>
            <a:r>
              <a:rPr lang="en-US" altLang="ko-KR" dirty="0"/>
              <a:t>.xlsx</a:t>
            </a:r>
          </a:p>
          <a:p>
            <a:r>
              <a:rPr lang="en-US" altLang="ko-KR" dirty="0"/>
              <a:t>gpt-oss-120b low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44273-3A76-42F5-BE6D-1A9595536139}"/>
              </a:ext>
            </a:extLst>
          </p:cNvPr>
          <p:cNvSpPr txBox="1"/>
          <p:nvPr/>
        </p:nvSpPr>
        <p:spPr>
          <a:xfrm>
            <a:off x="2973008" y="530380"/>
            <a:ext cx="88272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첨부  파일의 텍스트를 추출하여 주세요</a:t>
            </a:r>
            <a:r>
              <a:rPr lang="en-US" altLang="ko-KR" sz="1200" dirty="0"/>
              <a:t>.  </a:t>
            </a:r>
            <a:r>
              <a:rPr lang="ko-KR" altLang="en-US" sz="1200" dirty="0"/>
              <a:t>결과를 </a:t>
            </a:r>
            <a:r>
              <a:rPr lang="en-US" altLang="ko-KR" sz="1200" dirty="0"/>
              <a:t>markdown</a:t>
            </a:r>
            <a:r>
              <a:rPr lang="ko-KR" altLang="en-US" sz="1200" dirty="0"/>
              <a:t>포맷으로 만들어 주세요</a:t>
            </a:r>
            <a:r>
              <a:rPr lang="en-US" altLang="ko-KR" sz="1200" dirty="0"/>
              <a:t>. </a:t>
            </a:r>
            <a:r>
              <a:rPr lang="ko-KR" altLang="en-US" sz="1200" dirty="0"/>
              <a:t>항목을 </a:t>
            </a:r>
            <a:r>
              <a:rPr lang="en-US" altLang="ko-KR" sz="1200" dirty="0"/>
              <a:t>BOM</a:t>
            </a:r>
            <a:r>
              <a:rPr lang="ko-KR" altLang="en-US" sz="1200" dirty="0"/>
              <a:t>항목처럼 만들어 주되</a:t>
            </a:r>
            <a:r>
              <a:rPr lang="en-US" altLang="ko-KR" sz="1200" dirty="0"/>
              <a:t>, </a:t>
            </a:r>
            <a:r>
              <a:rPr lang="ko-KR" altLang="en-US" sz="1200" dirty="0"/>
              <a:t>향후 </a:t>
            </a:r>
            <a:r>
              <a:rPr lang="en-US" altLang="ko-KR" sz="1200" dirty="0"/>
              <a:t>LCI DB </a:t>
            </a:r>
            <a:r>
              <a:rPr lang="ko-KR" altLang="en-US" sz="1200" dirty="0"/>
              <a:t>매칭을 하려고 합니다</a:t>
            </a:r>
            <a:r>
              <a:rPr lang="en-US" altLang="ko-KR" sz="1200" dirty="0"/>
              <a:t>.  </a:t>
            </a:r>
            <a:r>
              <a:rPr lang="ko-KR" altLang="en-US" sz="1200" dirty="0"/>
              <a:t>표준 물질명을 </a:t>
            </a:r>
            <a:r>
              <a:rPr lang="ko-KR" altLang="en-US" sz="1200" dirty="0" err="1"/>
              <a:t>알수</a:t>
            </a:r>
            <a:r>
              <a:rPr lang="ko-KR" altLang="en-US" sz="1200" dirty="0"/>
              <a:t> 있으면 컬럼을 추가해 주세요</a:t>
            </a:r>
            <a:r>
              <a:rPr lang="en-US" altLang="ko-KR" sz="1200" dirty="0"/>
              <a:t>.  </a:t>
            </a:r>
            <a:r>
              <a:rPr lang="ko-KR" altLang="en-US" sz="1200" dirty="0"/>
              <a:t>그리고 </a:t>
            </a:r>
            <a:r>
              <a:rPr lang="ko-KR" altLang="en-US" sz="1200" dirty="0" err="1"/>
              <a:t>여러개</a:t>
            </a:r>
            <a:r>
              <a:rPr lang="ko-KR" altLang="en-US" sz="1200" dirty="0"/>
              <a:t> 표는 하나의 표로 통합해 주세요</a:t>
            </a:r>
            <a:r>
              <a:rPr lang="en-US" altLang="ko-KR" sz="1200" dirty="0"/>
              <a:t>.  LCI DB</a:t>
            </a:r>
            <a:r>
              <a:rPr lang="ko-KR" altLang="en-US" sz="1200" dirty="0"/>
              <a:t>매칭을 위해서 </a:t>
            </a:r>
            <a:r>
              <a:rPr lang="ko-KR" altLang="en-US" sz="1200" dirty="0" err="1"/>
              <a:t>물질명</a:t>
            </a:r>
            <a:r>
              <a:rPr lang="en-US" altLang="ko-KR" sz="1200" dirty="0"/>
              <a:t>, </a:t>
            </a:r>
            <a:r>
              <a:rPr lang="ko-KR" altLang="en-US" sz="1200" dirty="0"/>
              <a:t>설명</a:t>
            </a:r>
            <a:r>
              <a:rPr lang="en-US" altLang="ko-KR" sz="1200" dirty="0"/>
              <a:t>, </a:t>
            </a:r>
            <a:r>
              <a:rPr lang="ko-KR" altLang="en-US" sz="1200" dirty="0"/>
              <a:t>단위</a:t>
            </a:r>
            <a:r>
              <a:rPr lang="en-US" altLang="ko-KR" sz="1200" dirty="0"/>
              <a:t>, </a:t>
            </a:r>
            <a:r>
              <a:rPr lang="ko-KR" altLang="en-US" sz="1200" dirty="0"/>
              <a:t>지역</a:t>
            </a:r>
            <a:r>
              <a:rPr lang="en-US" altLang="ko-KR" sz="1200" dirty="0"/>
              <a:t>, </a:t>
            </a:r>
            <a:r>
              <a:rPr lang="ko-KR" altLang="en-US" sz="1200" dirty="0"/>
              <a:t>공정</a:t>
            </a:r>
            <a:r>
              <a:rPr lang="en-US" altLang="ko-KR" sz="1200" dirty="0"/>
              <a:t>, CAS</a:t>
            </a:r>
            <a:r>
              <a:rPr lang="ko-KR" altLang="en-US" sz="1200" dirty="0"/>
              <a:t>번호</a:t>
            </a:r>
            <a:r>
              <a:rPr lang="en-US" altLang="ko-KR" sz="1200" dirty="0"/>
              <a:t>, LCI DB</a:t>
            </a:r>
            <a:r>
              <a:rPr lang="ko-KR" altLang="en-US" sz="1200" dirty="0"/>
              <a:t>매칭을 위한 표준물질명 필요합니다</a:t>
            </a:r>
            <a:r>
              <a:rPr lang="en-US" altLang="ko-KR" sz="1200" dirty="0"/>
              <a:t>.  </a:t>
            </a:r>
            <a:r>
              <a:rPr lang="ko-KR" altLang="en-US" sz="1200" dirty="0"/>
              <a:t>이 항목에 매핑해서 만들어 주되</a:t>
            </a:r>
            <a:r>
              <a:rPr lang="en-US" altLang="ko-KR" sz="1200" dirty="0"/>
              <a:t>, </a:t>
            </a:r>
            <a:r>
              <a:rPr lang="ko-KR" altLang="en-US" sz="1200" dirty="0"/>
              <a:t>없는 값은 추가해 주되 </a:t>
            </a:r>
            <a:r>
              <a:rPr lang="ko-KR" altLang="en-US" sz="1200" dirty="0" err="1"/>
              <a:t>값뒤에</a:t>
            </a:r>
            <a:r>
              <a:rPr lang="ko-KR" altLang="en-US" sz="1200" dirty="0"/>
              <a:t> *를 넣어주세요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4DF1C0-CA26-0059-C4C2-0C7EA71DF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795" y="1453207"/>
            <a:ext cx="4488505" cy="53112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0D824B-DF76-260C-2C2D-2E22BB78E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90" y="2813874"/>
            <a:ext cx="3791637" cy="226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080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EAE71-8B0C-A753-FB06-BE8E10C74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76A2DE-7131-749F-2114-EA87CC9B1BAD}"/>
              </a:ext>
            </a:extLst>
          </p:cNvPr>
          <p:cNvSpPr txBox="1"/>
          <p:nvPr/>
        </p:nvSpPr>
        <p:spPr>
          <a:xfrm>
            <a:off x="353290" y="935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NDB BOM_24.06.18.xlsx</a:t>
            </a:r>
          </a:p>
          <a:p>
            <a:r>
              <a:rPr lang="en-US" altLang="ko-KR" dirty="0"/>
              <a:t>gpt-oss-120b low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B4A782-DF3C-9670-F385-9C2A94ACB7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0724" b="2948"/>
          <a:stretch>
            <a:fillRect/>
          </a:stretch>
        </p:blipFill>
        <p:spPr>
          <a:xfrm>
            <a:off x="735967" y="1387184"/>
            <a:ext cx="2665323" cy="44706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FCE614-7E4F-1C93-A090-D4F1F5F88EA9}"/>
              </a:ext>
            </a:extLst>
          </p:cNvPr>
          <p:cNvSpPr txBox="1"/>
          <p:nvPr/>
        </p:nvSpPr>
        <p:spPr>
          <a:xfrm>
            <a:off x="3047999" y="93547"/>
            <a:ext cx="89058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200"/>
            </a:lvl1pPr>
          </a:lstStyle>
          <a:p>
            <a:r>
              <a:rPr lang="ko-KR" altLang="en-US" dirty="0"/>
              <a:t>첨부  파일의 텍스트를 추출하여 주세요</a:t>
            </a:r>
            <a:r>
              <a:rPr lang="en-US" altLang="ko-KR" dirty="0"/>
              <a:t>.  </a:t>
            </a:r>
            <a:r>
              <a:rPr lang="ko-KR" altLang="en-US" dirty="0"/>
              <a:t>결과를 </a:t>
            </a:r>
            <a:r>
              <a:rPr lang="en-US" altLang="ko-KR" dirty="0"/>
              <a:t>markdown</a:t>
            </a:r>
            <a:r>
              <a:rPr lang="ko-KR" altLang="en-US" dirty="0"/>
              <a:t>포맷으로 만들어 주세요</a:t>
            </a:r>
            <a:r>
              <a:rPr lang="en-US" altLang="ko-KR" dirty="0"/>
              <a:t>. </a:t>
            </a:r>
            <a:r>
              <a:rPr lang="ko-KR" altLang="en-US" dirty="0"/>
              <a:t>항목을 </a:t>
            </a:r>
            <a:r>
              <a:rPr lang="en-US" altLang="ko-KR" dirty="0"/>
              <a:t>BOM</a:t>
            </a:r>
            <a:r>
              <a:rPr lang="ko-KR" altLang="en-US" dirty="0"/>
              <a:t>항목처럼 만들어 주되</a:t>
            </a:r>
            <a:r>
              <a:rPr lang="en-US" altLang="ko-KR" dirty="0"/>
              <a:t>, </a:t>
            </a:r>
            <a:r>
              <a:rPr lang="ko-KR" altLang="en-US" dirty="0"/>
              <a:t>향후 </a:t>
            </a:r>
            <a:r>
              <a:rPr lang="en-US" altLang="ko-KR" dirty="0"/>
              <a:t>LCI DB </a:t>
            </a:r>
            <a:r>
              <a:rPr lang="ko-KR" altLang="en-US" dirty="0"/>
              <a:t>매칭을 하려고 합니다</a:t>
            </a:r>
            <a:r>
              <a:rPr lang="en-US" altLang="ko-KR" dirty="0"/>
              <a:t>.  </a:t>
            </a:r>
            <a:r>
              <a:rPr lang="ko-KR" altLang="en-US" dirty="0"/>
              <a:t>표준 물질명을 </a:t>
            </a:r>
            <a:r>
              <a:rPr lang="ko-KR" altLang="en-US" dirty="0" err="1"/>
              <a:t>알수</a:t>
            </a:r>
            <a:r>
              <a:rPr lang="ko-KR" altLang="en-US" dirty="0"/>
              <a:t> 있으면 컬럼을 추가해 주세요</a:t>
            </a:r>
            <a:r>
              <a:rPr lang="en-US" altLang="ko-KR" dirty="0"/>
              <a:t>.  </a:t>
            </a:r>
            <a:r>
              <a:rPr lang="ko-KR" altLang="en-US" dirty="0"/>
              <a:t>그리고 </a:t>
            </a:r>
            <a:r>
              <a:rPr lang="ko-KR" altLang="en-US" dirty="0" err="1"/>
              <a:t>여러개</a:t>
            </a:r>
            <a:r>
              <a:rPr lang="ko-KR" altLang="en-US" dirty="0"/>
              <a:t> 표는 하나의 표로 통합해 주세요</a:t>
            </a:r>
            <a:r>
              <a:rPr lang="en-US" altLang="ko-KR" dirty="0"/>
              <a:t>.  LCI DB</a:t>
            </a:r>
            <a:r>
              <a:rPr lang="ko-KR" altLang="en-US" dirty="0"/>
              <a:t>매칭을 위해서 </a:t>
            </a:r>
            <a:r>
              <a:rPr lang="ko-KR" altLang="en-US" dirty="0" err="1"/>
              <a:t>물질명</a:t>
            </a:r>
            <a:r>
              <a:rPr lang="en-US" altLang="ko-KR" dirty="0"/>
              <a:t>, </a:t>
            </a:r>
            <a:r>
              <a:rPr lang="ko-KR" altLang="en-US" dirty="0"/>
              <a:t>설명</a:t>
            </a:r>
            <a:r>
              <a:rPr lang="en-US" altLang="ko-KR" dirty="0"/>
              <a:t>, </a:t>
            </a:r>
            <a:r>
              <a:rPr lang="ko-KR" altLang="en-US" dirty="0"/>
              <a:t>단위</a:t>
            </a:r>
            <a:r>
              <a:rPr lang="en-US" altLang="ko-KR" dirty="0"/>
              <a:t>, </a:t>
            </a:r>
            <a:r>
              <a:rPr lang="ko-KR" altLang="en-US" dirty="0"/>
              <a:t>지역</a:t>
            </a:r>
            <a:r>
              <a:rPr lang="en-US" altLang="ko-KR" dirty="0"/>
              <a:t>, </a:t>
            </a:r>
            <a:r>
              <a:rPr lang="ko-KR" altLang="en-US" dirty="0"/>
              <a:t>공정</a:t>
            </a:r>
            <a:r>
              <a:rPr lang="en-US" altLang="ko-KR" dirty="0"/>
              <a:t>, </a:t>
            </a:r>
            <a:r>
              <a:rPr lang="ko-KR" altLang="en-US" dirty="0"/>
              <a:t>연도</a:t>
            </a:r>
            <a:r>
              <a:rPr lang="en-US" altLang="ko-KR" dirty="0"/>
              <a:t>, CAS</a:t>
            </a:r>
            <a:r>
              <a:rPr lang="ko-KR" altLang="en-US" dirty="0"/>
              <a:t>번호</a:t>
            </a:r>
            <a:r>
              <a:rPr lang="en-US" altLang="ko-KR" dirty="0"/>
              <a:t>, LCI DB</a:t>
            </a:r>
            <a:r>
              <a:rPr lang="ko-KR" altLang="en-US" dirty="0"/>
              <a:t>매칭을 위한 표준물질명 필요합니다</a:t>
            </a:r>
            <a:r>
              <a:rPr lang="en-US" altLang="ko-KR" dirty="0"/>
              <a:t>.  </a:t>
            </a:r>
            <a:r>
              <a:rPr lang="ko-KR" altLang="en-US" dirty="0"/>
              <a:t>이 항목에 매핑해서 만들어 주되</a:t>
            </a:r>
            <a:r>
              <a:rPr lang="en-US" altLang="ko-KR" dirty="0"/>
              <a:t>, </a:t>
            </a:r>
            <a:r>
              <a:rPr lang="ko-KR" altLang="en-US" dirty="0"/>
              <a:t>없는 값은 최대한 찾아서 추가해 주되 </a:t>
            </a:r>
            <a:r>
              <a:rPr lang="ko-KR" altLang="en-US" dirty="0" err="1"/>
              <a:t>값뒤에</a:t>
            </a:r>
            <a:r>
              <a:rPr lang="ko-KR" altLang="en-US" dirty="0"/>
              <a:t> *를 넣어주세요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685820F-FC5E-1EB5-617F-7E82BF52B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845" y="1295400"/>
            <a:ext cx="59302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73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918</Words>
  <Application>Microsoft Office PowerPoint</Application>
  <PresentationFormat>와이드스크린</PresentationFormat>
  <Paragraphs>42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 민경</dc:creator>
  <cp:lastModifiedBy>오 민경</cp:lastModifiedBy>
  <cp:revision>70</cp:revision>
  <dcterms:created xsi:type="dcterms:W3CDTF">2026-09-11T03:04:51Z</dcterms:created>
  <dcterms:modified xsi:type="dcterms:W3CDTF">2026-09-11T06:25:20Z</dcterms:modified>
</cp:coreProperties>
</file>